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13716000" cx="24384000"/>
  <p:notesSz cx="6858000" cy="9144000"/>
  <p:embeddedFontLst>
    <p:embeddedFont>
      <p:font typeface="Helvetica Neue"/>
      <p:regular r:id="rId55"/>
      <p:bold r:id="rId56"/>
      <p:italic r:id="rId57"/>
      <p:boldItalic r:id="rId58"/>
    </p:embeddedFont>
    <p:embeddedFont>
      <p:font typeface="Noto Sans Symbols"/>
      <p:regular r:id="rId59"/>
      <p:bold r:id="rId60"/>
    </p:embeddedFont>
    <p:embeddedFont>
      <p:font typeface="Helvetica Neue Light"/>
      <p:regular r:id="rId61"/>
      <p:bold r:id="rId62"/>
      <p:italic r:id="rId63"/>
      <p:boldItalic r:id="rId64"/>
    </p:embeddedFont>
    <p:embeddedFont>
      <p:font typeface="Open Sans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9" roundtripDataSignature="AMtx7mhsjUTX09nnrAUhedRlfWKfqXi2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HelveticaNeueLight-bold.fntdata"/><Relationship Id="rId61" Type="http://schemas.openxmlformats.org/officeDocument/2006/relationships/font" Target="fonts/HelveticaNeueLight-regular.fntdata"/><Relationship Id="rId20" Type="http://schemas.openxmlformats.org/officeDocument/2006/relationships/slide" Target="slides/slide16.xml"/><Relationship Id="rId64" Type="http://schemas.openxmlformats.org/officeDocument/2006/relationships/font" Target="fonts/HelveticaNeueLight-boldItalic.fntdata"/><Relationship Id="rId63" Type="http://schemas.openxmlformats.org/officeDocument/2006/relationships/font" Target="fonts/HelveticaNeueLight-italic.fntdata"/><Relationship Id="rId22" Type="http://schemas.openxmlformats.org/officeDocument/2006/relationships/slide" Target="slides/slide18.xml"/><Relationship Id="rId66" Type="http://schemas.openxmlformats.org/officeDocument/2006/relationships/font" Target="fonts/OpenSans-bold.fntdata"/><Relationship Id="rId21" Type="http://schemas.openxmlformats.org/officeDocument/2006/relationships/slide" Target="slides/slide17.xml"/><Relationship Id="rId65" Type="http://schemas.openxmlformats.org/officeDocument/2006/relationships/font" Target="fonts/OpenSans-regular.fntdata"/><Relationship Id="rId24" Type="http://schemas.openxmlformats.org/officeDocument/2006/relationships/slide" Target="slides/slide20.xml"/><Relationship Id="rId68" Type="http://schemas.openxmlformats.org/officeDocument/2006/relationships/font" Target="fonts/OpenSans-boldItalic.fntdata"/><Relationship Id="rId23" Type="http://schemas.openxmlformats.org/officeDocument/2006/relationships/slide" Target="slides/slide19.xml"/><Relationship Id="rId67" Type="http://schemas.openxmlformats.org/officeDocument/2006/relationships/font" Target="fonts/OpenSans-italic.fntdata"/><Relationship Id="rId60" Type="http://schemas.openxmlformats.org/officeDocument/2006/relationships/font" Target="fonts/NotoSansSymbol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8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11.xml"/><Relationship Id="rId59" Type="http://schemas.openxmlformats.org/officeDocument/2006/relationships/font" Target="fonts/NotoSansSymbols-regular.fntdata"/><Relationship Id="rId14" Type="http://schemas.openxmlformats.org/officeDocument/2006/relationships/slide" Target="slides/slide10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3D reconstruction -&gt; epipolar motion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Representation learning. 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What representations are learned by deep nets?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Transfer learning: How you can transfer a representation from one task to another?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Finally: how can you learn representations?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327b6948d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327b6948d_0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327b6948d_0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327b6948d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A:  u and v are unknown, 1 equation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Iterative refinement: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Estimate velocity at each pixel using one iteration of Lucas and Kanade estimation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Warp one image toward the other using the estimated flow field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Refine estimate by repeating the process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\sum_{x, y}[I(x, y, t-1) - I(x, u(x, y)), y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\in W(x), y' \in W(y)}[I(x',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= x - N}^{x + N} \sum_{y' = y - N}^{y + N}[I(x',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\sum_p[I_1(p) - I_2(p)]^2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u_{i+1} = u_i + \Delta u, v_{i+1} = v_i + \Delta v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\Delta u, \Delta v = \min_{\Delta u, \Delta v} \mathcal{L}(u_i + \Delta u, v_i + \Delta v)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\sum_{x, y}[I(x, y, t-1) - I(x, u(x, y)), y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\in W(x), y' \in W(y)}[I(x',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= x - N}^{x + N} \sum_{y' = y - N}^{y + N}[I(x',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\sum_p[I_1(p) - I_2(p)]^2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\Delta u, \Delta v = \min_{\Delta u, \Delta v} \mathcal{L}(u_i + \Delta u, v_i + \Delta v)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\sum_{x, y}[I(x, y, t-1) - I(u(x), v(y), t)]^2 + \sum_{p} \sum_{p' \in \mathcal{N}} (u(p) - u(p'))^2 + (v(p) - v(p'))^2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\sum_{x, y}[I(x, y, t-1) - I(x, u(x, y)), y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\in W(x), y' \in W(y)}[I(x',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\mathcal{L}(u, v) = \sum_{x, y}\sum_{x' = x - N}^{x + N} \sum_{y' = y - N}^{y + N}[I(x', y', t-1) - I(x' + u(x, y), y' + v(x, y), t)]^2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\sum_p[I_1(p) - I_2(p)]^2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\Delta u, \Delta v = \min_{\Delta u, \Delta v} \mathcal{L}(u_i + \Delta u, v_i + \Delta v)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\sum_{x, y}[I(x, y, t-1) - I(u(x), v(y), t)]^2 + \sum_{p} \sum_{p' \in \mathcal{N}} (u(p) - u(p'))^2 + (v(p) - v(p'))^2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327b6948d_0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8327b6948d_0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8327b6948d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8327b6948d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5" name="Google Shape;705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always been fond of this original approach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optical flow already solves so much of this problem, is there some way to make use of this?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9" name="Google Shape;719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9" name="Google Shape;749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7" name="Google Shape;807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" name="Google Shape;838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4" name="Google Shape;874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7" name="Google Shape;907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One of the things that makes this exciting is that you can get very high quality stereo sound from consumer videos like iPhones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So we can show this here. Our method can track the location of sound sources. The y axis here is the time delay which is really close to angle.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Useful sound is also maybe a bit more ubiquitous than you’d think.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Here, We show qualitative examples from two iPhone videos.  Y axis denotes the time delay which corresponds to angle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3" name="Google Shape;943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generate video by magnifying every frame with respect to the first frame in the video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0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sz="1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90"/>
          <p:cNvSpPr txBox="1"/>
          <p:nvPr>
            <p:ph idx="1" type="body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2" name="Google Shape;12;p90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cture slide">
  <p:cSld name="Lectur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1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  <a:defRPr b="0" sz="9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91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92"/>
          <p:cNvCxnSpPr/>
          <p:nvPr/>
        </p:nvCxnSpPr>
        <p:spPr>
          <a:xfrm>
            <a:off x="4419600" y="1676400"/>
            <a:ext cx="15544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92"/>
          <p:cNvSpPr txBox="1"/>
          <p:nvPr>
            <p:ph type="title"/>
          </p:nvPr>
        </p:nvSpPr>
        <p:spPr>
          <a:xfrm>
            <a:off x="4419600" y="152400"/>
            <a:ext cx="15544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b="0" sz="6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92"/>
          <p:cNvSpPr txBox="1"/>
          <p:nvPr>
            <p:ph idx="1" type="body"/>
          </p:nvPr>
        </p:nvSpPr>
        <p:spPr>
          <a:xfrm>
            <a:off x="4419600" y="1828800"/>
            <a:ext cx="155448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indent="-584200" lvl="1" marL="9144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indent="-584200" lvl="2" marL="1371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–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indent="-584200" lvl="3" marL="18288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indent="-584200" lvl="4" marL="22860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0" name="Google Shape;20;p92"/>
          <p:cNvSpPr txBox="1"/>
          <p:nvPr>
            <p:ph idx="12" type="sldNum"/>
          </p:nvPr>
        </p:nvSpPr>
        <p:spPr>
          <a:xfrm>
            <a:off x="1941322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3"/>
          <p:cNvSpPr txBox="1"/>
          <p:nvPr>
            <p:ph type="title"/>
          </p:nvPr>
        </p:nvSpPr>
        <p:spPr>
          <a:xfrm>
            <a:off x="6673453" y="3442394"/>
            <a:ext cx="11037095" cy="3482579"/>
          </a:xfrm>
          <a:prstGeom prst="rect">
            <a:avLst/>
          </a:prstGeom>
          <a:noFill/>
          <a:ln>
            <a:noFill/>
          </a:ln>
        </p:spPr>
        <p:txBody>
          <a:bodyPr anchorCtr="0" anchor="b" bIns="53575" lIns="53575" spcFirstLastPara="1" rIns="53575" wrap="square" tIns="53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Helvetica Neue"/>
              <a:buNone/>
              <a:defRPr b="0" sz="10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93"/>
          <p:cNvSpPr txBox="1"/>
          <p:nvPr>
            <p:ph idx="1" type="body"/>
          </p:nvPr>
        </p:nvSpPr>
        <p:spPr>
          <a:xfrm>
            <a:off x="6673453" y="7032128"/>
            <a:ext cx="11037095" cy="1192115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  <a:defRPr sz="5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  <a:defRPr sz="5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  <a:defRPr sz="5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  <a:defRPr sz="5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  <a:defRPr sz="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4" name="Google Shape;24;p93"/>
          <p:cNvSpPr txBox="1"/>
          <p:nvPr>
            <p:ph idx="12" type="sldNum"/>
          </p:nvPr>
        </p:nvSpPr>
        <p:spPr>
          <a:xfrm>
            <a:off x="12001398" y="11519296"/>
            <a:ext cx="374060" cy="379927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4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 b="0" sz="1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94"/>
          <p:cNvSpPr txBox="1"/>
          <p:nvPr>
            <p:ph idx="1" type="body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8" name="Google Shape;28;p94"/>
          <p:cNvSpPr txBox="1"/>
          <p:nvPr>
            <p:ph idx="12" type="sldNum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5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Open Sans"/>
              <a:buNone/>
              <a:defRPr sz="8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95"/>
          <p:cNvSpPr txBox="1"/>
          <p:nvPr>
            <p:ph idx="1" type="body"/>
          </p:nvPr>
        </p:nvSpPr>
        <p:spPr>
          <a:xfrm>
            <a:off x="1219200" y="3200401"/>
            <a:ext cx="21945600" cy="90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Open Sans"/>
                <a:ea typeface="Open Sans"/>
                <a:cs typeface="Open Sans"/>
                <a:sym typeface="Open Sans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Open Sans"/>
                <a:ea typeface="Open Sans"/>
                <a:cs typeface="Open Sans"/>
                <a:sym typeface="Open Sans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Open Sans"/>
                <a:ea typeface="Open Sans"/>
                <a:cs typeface="Open Sans"/>
                <a:sym typeface="Open Sans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Open Sans"/>
                <a:ea typeface="Open Sans"/>
                <a:cs typeface="Open Sans"/>
                <a:sym typeface="Open Sans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Open Sans"/>
                <a:ea typeface="Open Sans"/>
                <a:cs typeface="Open Sans"/>
                <a:sym typeface="Open Sans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2" name="Google Shape;32;p95"/>
          <p:cNvSpPr txBox="1"/>
          <p:nvPr>
            <p:ph idx="12" type="sldNum"/>
          </p:nvPr>
        </p:nvSpPr>
        <p:spPr>
          <a:xfrm>
            <a:off x="22630189" y="12802238"/>
            <a:ext cx="534611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 sz="24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5" name="Google Shape;35;p96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96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7" name="Google Shape;37;p9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>
  <p:cSld name="Title &amp; Phot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7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97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97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2" name="Google Shape;42;p97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3" name="Google Shape;43;p9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8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98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98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8" name="Google Shape;48;p98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9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2" name="Google Shape;52;p99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3" name="Google Shape;53;p9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0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6" name="Google Shape;56;p10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1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9" name="Google Shape;59;p101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0" name="Google Shape;60;p101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1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10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2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102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3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03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9" name="Google Shape;69;p10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4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04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3" name="Google Shape;73;p104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4" name="Google Shape;74;p10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7" name="Google Shape;77;p10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6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80" name="Google Shape;80;p106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81" name="Google Shape;81;p10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7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84" name="Google Shape;84;p107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85" name="Google Shape;85;p10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8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8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8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9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0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3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111"/>
          <p:cNvCxnSpPr/>
          <p:nvPr/>
        </p:nvCxnSpPr>
        <p:spPr>
          <a:xfrm>
            <a:off x="1828800" y="1676400"/>
            <a:ext cx="2072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11"/>
          <p:cNvSpPr txBox="1"/>
          <p:nvPr>
            <p:ph type="title"/>
          </p:nvPr>
        </p:nvSpPr>
        <p:spPr>
          <a:xfrm>
            <a:off x="1828800" y="152400"/>
            <a:ext cx="20726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b="0" sz="6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111"/>
          <p:cNvSpPr txBox="1"/>
          <p:nvPr>
            <p:ph idx="1" type="body"/>
          </p:nvPr>
        </p:nvSpPr>
        <p:spPr>
          <a:xfrm>
            <a:off x="1828800" y="1828800"/>
            <a:ext cx="207264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indent="-584200" lvl="1" marL="9144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indent="-584200" lvl="2" marL="1371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–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indent="-584200" lvl="3" marL="18288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indent="-584200" lvl="4" marL="22860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00" name="Google Shape;100;p111"/>
          <p:cNvSpPr txBox="1"/>
          <p:nvPr>
            <p:ph idx="12" type="sldNum"/>
          </p:nvPr>
        </p:nvSpPr>
        <p:spPr>
          <a:xfrm>
            <a:off x="2200402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89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3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8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.eecs.umich.edu/~justincj/slides/eecs442/winter2020/442_WI2020_lecture09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6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arijitkar98.github.io/2018/05/28/weeks-1-and-2.html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help.commonvisionblox.com/OpticalFlow/introduction.ht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02.png"/><Relationship Id="rId7" Type="http://schemas.openxmlformats.org/officeDocument/2006/relationships/image" Target="../media/image9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gif"/><Relationship Id="rId4" Type="http://schemas.openxmlformats.org/officeDocument/2006/relationships/hyperlink" Target="http://en.wikipedia.org/wiki/Barberpole_illusio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gif"/><Relationship Id="rId4" Type="http://schemas.openxmlformats.org/officeDocument/2006/relationships/hyperlink" Target="http://en.wikipedia.org/wiki/Barberpole_illusio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hyperlink" Target="https://www.mathworks.com/matlabcentral/fileexchange/48744-lucas-kanade-tutorial-example-1" TargetMode="External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7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gif"/><Relationship Id="rId4" Type="http://schemas.openxmlformats.org/officeDocument/2006/relationships/image" Target="../media/image44.gif"/><Relationship Id="rId5" Type="http://schemas.openxmlformats.org/officeDocument/2006/relationships/image" Target="../media/image38.gif"/><Relationship Id="rId6" Type="http://schemas.openxmlformats.org/officeDocument/2006/relationships/image" Target="../media/image40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gif"/><Relationship Id="rId4" Type="http://schemas.openxmlformats.org/officeDocument/2006/relationships/image" Target="../media/image43.jpg"/><Relationship Id="rId9" Type="http://schemas.openxmlformats.org/officeDocument/2006/relationships/image" Target="../media/image65.gif"/><Relationship Id="rId5" Type="http://schemas.openxmlformats.org/officeDocument/2006/relationships/image" Target="../media/image46.gif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118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119.png"/><Relationship Id="rId7" Type="http://schemas.openxmlformats.org/officeDocument/2006/relationships/image" Target="../media/image35.png"/><Relationship Id="rId8" Type="http://schemas.openxmlformats.org/officeDocument/2006/relationships/image" Target="../media/image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gif"/><Relationship Id="rId4" Type="http://schemas.openxmlformats.org/officeDocument/2006/relationships/image" Target="../media/image41.png"/><Relationship Id="rId9" Type="http://schemas.openxmlformats.org/officeDocument/2006/relationships/image" Target="../media/image71.gif"/><Relationship Id="rId5" Type="http://schemas.openxmlformats.org/officeDocument/2006/relationships/image" Target="../media/image42.png"/><Relationship Id="rId6" Type="http://schemas.openxmlformats.org/officeDocument/2006/relationships/image" Target="../media/image64.jpg"/><Relationship Id="rId7" Type="http://schemas.openxmlformats.org/officeDocument/2006/relationships/image" Target="../media/image65.gif"/><Relationship Id="rId8" Type="http://schemas.openxmlformats.org/officeDocument/2006/relationships/image" Target="../media/image6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jpg"/><Relationship Id="rId4" Type="http://schemas.openxmlformats.org/officeDocument/2006/relationships/image" Target="../media/image46.gif"/><Relationship Id="rId9" Type="http://schemas.openxmlformats.org/officeDocument/2006/relationships/image" Target="../media/image69.png"/><Relationship Id="rId5" Type="http://schemas.openxmlformats.org/officeDocument/2006/relationships/image" Target="../media/image76.png"/><Relationship Id="rId6" Type="http://schemas.openxmlformats.org/officeDocument/2006/relationships/image" Target="../media/image94.png"/><Relationship Id="rId7" Type="http://schemas.openxmlformats.org/officeDocument/2006/relationships/image" Target="../media/image45.gif"/><Relationship Id="rId8" Type="http://schemas.openxmlformats.org/officeDocument/2006/relationships/image" Target="../media/image1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3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119.png"/><Relationship Id="rId7" Type="http://schemas.openxmlformats.org/officeDocument/2006/relationships/image" Target="../media/image35.png"/><Relationship Id="rId8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drive.google.com/file/d/1PITnWVI9dJVIsLQllHsXCWpGOD4zhLWD/view" TargetMode="External"/><Relationship Id="rId4" Type="http://schemas.openxmlformats.org/officeDocument/2006/relationships/image" Target="../media/image7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2.png"/><Relationship Id="rId6" Type="http://schemas.openxmlformats.org/officeDocument/2006/relationships/image" Target="../media/image93.png"/><Relationship Id="rId7" Type="http://schemas.openxmlformats.org/officeDocument/2006/relationships/hyperlink" Target="https://dangeng.github.io/flowmag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0.png"/><Relationship Id="rId4" Type="http://schemas.openxmlformats.org/officeDocument/2006/relationships/image" Target="../media/image86.png"/><Relationship Id="rId5" Type="http://schemas.openxmlformats.org/officeDocument/2006/relationships/image" Target="../media/image83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Relationship Id="rId5" Type="http://schemas.openxmlformats.org/officeDocument/2006/relationships/image" Target="../media/image92.png"/><Relationship Id="rId6" Type="http://schemas.openxmlformats.org/officeDocument/2006/relationships/image" Target="../media/image83.png"/><Relationship Id="rId7" Type="http://schemas.openxmlformats.org/officeDocument/2006/relationships/image" Target="../media/image97.png"/><Relationship Id="rId8" Type="http://schemas.openxmlformats.org/officeDocument/2006/relationships/image" Target="../media/image89.png"/></Relationships>
</file>

<file path=ppt/slides/_rels/slide40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7.png"/><Relationship Id="rId4" Type="http://schemas.openxmlformats.org/officeDocument/2006/relationships/image" Target="../media/image90.png"/><Relationship Id="rId9" Type="http://schemas.openxmlformats.org/officeDocument/2006/relationships/image" Target="../media/image99.png"/><Relationship Id="rId5" Type="http://schemas.openxmlformats.org/officeDocument/2006/relationships/image" Target="../media/image80.png"/><Relationship Id="rId6" Type="http://schemas.openxmlformats.org/officeDocument/2006/relationships/image" Target="../media/image86.png"/><Relationship Id="rId7" Type="http://schemas.openxmlformats.org/officeDocument/2006/relationships/image" Target="../media/image92.png"/><Relationship Id="rId8" Type="http://schemas.openxmlformats.org/officeDocument/2006/relationships/image" Target="../media/image83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6.png"/><Relationship Id="rId4" Type="http://schemas.openxmlformats.org/officeDocument/2006/relationships/image" Target="../media/image97.png"/><Relationship Id="rId9" Type="http://schemas.openxmlformats.org/officeDocument/2006/relationships/image" Target="../media/image104.png"/><Relationship Id="rId5" Type="http://schemas.openxmlformats.org/officeDocument/2006/relationships/image" Target="../media/image90.png"/><Relationship Id="rId6" Type="http://schemas.openxmlformats.org/officeDocument/2006/relationships/image" Target="../media/image80.png"/><Relationship Id="rId7" Type="http://schemas.openxmlformats.org/officeDocument/2006/relationships/image" Target="../media/image92.png"/><Relationship Id="rId8" Type="http://schemas.openxmlformats.org/officeDocument/2006/relationships/image" Target="../media/image83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9" Type="http://schemas.openxmlformats.org/officeDocument/2006/relationships/image" Target="../media/image97.png"/><Relationship Id="rId5" Type="http://schemas.openxmlformats.org/officeDocument/2006/relationships/image" Target="../media/image90.png"/><Relationship Id="rId6" Type="http://schemas.openxmlformats.org/officeDocument/2006/relationships/image" Target="../media/image80.png"/><Relationship Id="rId7" Type="http://schemas.openxmlformats.org/officeDocument/2006/relationships/image" Target="../media/image92.png"/><Relationship Id="rId8" Type="http://schemas.openxmlformats.org/officeDocument/2006/relationships/image" Target="../media/image83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4.png"/><Relationship Id="rId10" Type="http://schemas.openxmlformats.org/officeDocument/2006/relationships/image" Target="../media/image97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9" Type="http://schemas.openxmlformats.org/officeDocument/2006/relationships/image" Target="../media/image105.png"/><Relationship Id="rId5" Type="http://schemas.openxmlformats.org/officeDocument/2006/relationships/image" Target="../media/image90.png"/><Relationship Id="rId6" Type="http://schemas.openxmlformats.org/officeDocument/2006/relationships/image" Target="../media/image80.png"/><Relationship Id="rId7" Type="http://schemas.openxmlformats.org/officeDocument/2006/relationships/image" Target="../media/image92.png"/><Relationship Id="rId8" Type="http://schemas.openxmlformats.org/officeDocument/2006/relationships/image" Target="../media/image83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97.png"/><Relationship Id="rId5" Type="http://schemas.openxmlformats.org/officeDocument/2006/relationships/image" Target="../media/image83.png"/><Relationship Id="rId6" Type="http://schemas.openxmlformats.org/officeDocument/2006/relationships/image" Target="../media/image86.png"/><Relationship Id="rId7" Type="http://schemas.openxmlformats.org/officeDocument/2006/relationships/image" Target="../media/image89.png"/><Relationship Id="rId8" Type="http://schemas.openxmlformats.org/officeDocument/2006/relationships/image" Target="../media/image105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105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109.png"/><Relationship Id="rId5" Type="http://schemas.openxmlformats.org/officeDocument/2006/relationships/image" Target="../media/image86.png"/><Relationship Id="rId6" Type="http://schemas.openxmlformats.org/officeDocument/2006/relationships/image" Target="../media/image83.png"/><Relationship Id="rId7" Type="http://schemas.openxmlformats.org/officeDocument/2006/relationships/image" Target="../media/image89.png"/><Relationship Id="rId8" Type="http://schemas.openxmlformats.org/officeDocument/2006/relationships/image" Target="../media/image10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0.png"/><Relationship Id="rId4" Type="http://schemas.openxmlformats.org/officeDocument/2006/relationships/image" Target="../media/image107.png"/><Relationship Id="rId5" Type="http://schemas.openxmlformats.org/officeDocument/2006/relationships/image" Target="../media/image113.png"/><Relationship Id="rId6" Type="http://schemas.openxmlformats.org/officeDocument/2006/relationships/image" Target="../media/image1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2.png"/><Relationship Id="rId4" Type="http://schemas.openxmlformats.org/officeDocument/2006/relationships/image" Target="../media/image120.png"/><Relationship Id="rId5" Type="http://schemas.openxmlformats.org/officeDocument/2006/relationships/image" Target="../media/image115.png"/><Relationship Id="rId6" Type="http://schemas.openxmlformats.org/officeDocument/2006/relationships/hyperlink" Target="http://www.eecs.berkeley.edu/~yang/courses/cs294-6/papers/TomasiC_Shape%20and%20motion%20from%20image%20streams%20under%20orthography.pdf" TargetMode="External"/><Relationship Id="rId7" Type="http://schemas.openxmlformats.org/officeDocument/2006/relationships/hyperlink" Target="http://www.eecs.berkeley.edu/~yang/courses/cs294-6/papers/TomasiC_Shape%20and%20motion%20from%20image%20streams%20under%20orthography.pdf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2.png"/><Relationship Id="rId4" Type="http://schemas.openxmlformats.org/officeDocument/2006/relationships/image" Target="../media/image1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6.png"/><Relationship Id="rId4" Type="http://schemas.openxmlformats.org/officeDocument/2006/relationships/hyperlink" Target="http://www.ces.clemson.edu/~stb/klt/shi-tomasi-good-features-cvpr199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"/>
          <p:cNvSpPr txBox="1"/>
          <p:nvPr>
            <p:ph type="title"/>
          </p:nvPr>
        </p:nvSpPr>
        <p:spPr>
          <a:xfrm>
            <a:off x="4237099" y="6059093"/>
            <a:ext cx="15909802" cy="159781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 sz="9477"/>
              <a:t>Lecture 9: </a:t>
            </a: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Motion estimation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2133187" y="12649200"/>
            <a:ext cx="19319304" cy="703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 Light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Most slides from S. Lazebnik, which are based on other slides from S. Seitz, R. Szeliski, M. Pollefeys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3" name="Google Shape;113;p2"/>
          <p:cNvSpPr txBox="1"/>
          <p:nvPr>
            <p:ph type="title"/>
          </p:nvPr>
        </p:nvSpPr>
        <p:spPr>
          <a:xfrm>
            <a:off x="7392403" y="490910"/>
            <a:ext cx="15909802" cy="159781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28"/>
              <a:buFont typeface="Helvetica Neue"/>
              <a:buNone/>
            </a:pPr>
            <a:r>
              <a:rPr lang="en-US" sz="9828"/>
              <a:t>Announcements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803400" y="3556990"/>
            <a:ext cx="20510203" cy="90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914398" lvl="0" marL="91439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64"/>
              <a:buFont typeface="Helvetica Neue Light"/>
              <a:buChar char="•"/>
            </a:pPr>
            <a:r>
              <a:rPr lang="en-US" sz="6800">
                <a:latin typeface="Helvetica Neue Light"/>
                <a:ea typeface="Helvetica Neue Light"/>
                <a:cs typeface="Helvetica Neue Light"/>
                <a:sym typeface="Helvetica Neue Light"/>
              </a:rPr>
              <a:t>Please note the Piazza post is to clarify that you do not need to email me for extensions unless there is an extreme circumstance where you need support</a:t>
            </a:r>
            <a:endParaRPr sz="68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815084" lvl="0" marL="91439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Helvetica Neue Light"/>
              <a:buChar char="•"/>
            </a:pPr>
            <a:r>
              <a:rPr lang="en-US" sz="6800">
                <a:latin typeface="Helvetica Neue Light"/>
                <a:ea typeface="Helvetica Neue Light"/>
                <a:cs typeface="Helvetica Neue Light"/>
                <a:sym typeface="Helvetica Neue Light"/>
              </a:rPr>
              <a:t>No homework due this week - next week panoramas due</a:t>
            </a:r>
            <a:endParaRPr sz="68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815085" lvl="0" marL="9143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Helvetica Neue Light"/>
              <a:buChar char="•"/>
            </a:pPr>
            <a:r>
              <a:rPr lang="en-US" sz="6800">
                <a:latin typeface="Helvetica Neue Light"/>
                <a:ea typeface="Helvetica Neue Light"/>
                <a:cs typeface="Helvetica Neue Light"/>
                <a:sym typeface="Helvetica Neue Light"/>
              </a:rPr>
              <a:t>Proposal info out this week for the project</a:t>
            </a:r>
            <a:endParaRPr sz="6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27b6948d_0_97"/>
          <p:cNvSpPr txBox="1"/>
          <p:nvPr>
            <p:ph type="title"/>
          </p:nvPr>
        </p:nvSpPr>
        <p:spPr>
          <a:xfrm>
            <a:off x="1778000" y="2298700"/>
            <a:ext cx="20828100" cy="46482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Corners</a:t>
            </a:r>
            <a:endParaRPr/>
          </a:p>
        </p:txBody>
      </p:sp>
      <p:sp>
        <p:nvSpPr>
          <p:cNvPr id="120" name="Google Shape;120;g38327b6948d_0_97"/>
          <p:cNvSpPr txBox="1"/>
          <p:nvPr>
            <p:ph idx="1" type="body"/>
          </p:nvPr>
        </p:nvSpPr>
        <p:spPr>
          <a:xfrm>
            <a:off x="1778000" y="7073900"/>
            <a:ext cx="20828100" cy="15876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https://web.eecs.umich.edu/~justincj/slides/eecs442/winter2020/442_WI2020_lecture09.pdf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Slides 43-61 for eigenvalue intuition, through 71 for Harris Detection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27b6948d_0_92"/>
          <p:cNvSpPr txBox="1"/>
          <p:nvPr>
            <p:ph type="title"/>
          </p:nvPr>
        </p:nvSpPr>
        <p:spPr>
          <a:xfrm>
            <a:off x="1778000" y="2298700"/>
            <a:ext cx="20828100" cy="46482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Motion</a:t>
            </a:r>
            <a:endParaRPr/>
          </a:p>
        </p:txBody>
      </p:sp>
      <p:sp>
        <p:nvSpPr>
          <p:cNvPr id="126" name="Google Shape;126;g38327b6948d_0_92"/>
          <p:cNvSpPr txBox="1"/>
          <p:nvPr>
            <p:ph idx="1" type="body"/>
          </p:nvPr>
        </p:nvSpPr>
        <p:spPr>
          <a:xfrm>
            <a:off x="1778000" y="7073900"/>
            <a:ext cx="20828100" cy="15876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2043" r="1282" t="0"/>
          <a:stretch/>
        </p:blipFill>
        <p:spPr>
          <a:xfrm>
            <a:off x="20794617" y="16458855"/>
            <a:ext cx="13976340" cy="906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4677765" y="131318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1935126" y="21388948"/>
            <a:ext cx="19150483" cy="113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 Light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Yuwen Xiong, Mengye Ren, Wenyuan Zeng, Raquel Urtasun. </a:t>
            </a:r>
            <a:r>
              <a:rPr b="0" i="0" lang="en-US" sz="3400" u="sng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Self-Supervised Representation Learning from Flow Equivariance</a:t>
            </a:r>
            <a:r>
              <a:rPr b="0" i="0" lang="en-US" sz="3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 arXiv 2021.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981353" y="12752507"/>
            <a:ext cx="18213554" cy="684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[Yang et al., “Self-supervised Video Object Segmentation by Motion Grouping”, 2021]</a:t>
            </a:r>
            <a:endParaRPr/>
          </a:p>
        </p:txBody>
      </p:sp>
      <p:pic>
        <p:nvPicPr>
          <p:cNvPr descr="flatfish_1.mp4"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2984500"/>
            <a:ext cx="54102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chute.mp4"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6266" y="2984500"/>
            <a:ext cx="5410201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now_leopard_2.mp4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7533" y="2984500"/>
            <a:ext cx="5410201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ider_tailed_horned_viper_3.mp4"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38800" y="2984500"/>
            <a:ext cx="54102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Motion is a powerful perceptual cue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Motion is a powerful perceptual cue</a:t>
            </a:r>
            <a:endParaRPr/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7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6400" y="2590800"/>
            <a:ext cx="6750050" cy="94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3444240" y="12147550"/>
            <a:ext cx="17495520" cy="1234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Johansson, “Visual Perception of Biological Motion and a Model For Its Analysis",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Perception and Psychophysics 14, 201-211, 1973.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Optical flow</a:t>
            </a:r>
            <a:endParaRPr/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3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5282" y="5943600"/>
            <a:ext cx="9296401" cy="69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9634721" y="12942907"/>
            <a:ext cx="2350017" cy="577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 source</a:t>
            </a:r>
            <a:endParaRPr/>
          </a:p>
        </p:txBody>
      </p:sp>
      <p:pic>
        <p:nvPicPr>
          <p:cNvPr descr="Picture 5" id="157" name="Google Shape;15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5518" y="5943600"/>
            <a:ext cx="9507682" cy="69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8254882" y="12915900"/>
            <a:ext cx="2350017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 source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2471142" y="2419669"/>
            <a:ext cx="19441717" cy="327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Optical flow</a:t>
            </a:r>
            <a:r>
              <a:rPr b="0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b="0" i="1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apparent motion </a:t>
            </a:r>
            <a:r>
              <a:rPr b="0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brightness patterns in the image</a:t>
            </a:r>
            <a:endParaRPr/>
          </a:p>
          <a:p>
            <a:pPr indent="-914400" lvl="1" marL="131445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caused by camera motion, object motion, or changes of lighting in the scene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Estimating optical flow</a:t>
            </a:r>
            <a:endParaRPr/>
          </a:p>
        </p:txBody>
      </p:sp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6553200" y="24384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7620000" y="3505200"/>
            <a:ext cx="152400" cy="152400"/>
          </a:xfrm>
          <a:prstGeom prst="ellipse">
            <a:avLst/>
          </a:prstGeom>
          <a:solidFill>
            <a:srgbClr val="0000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448800" y="3505200"/>
            <a:ext cx="152400" cy="152400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7620000" y="4572000"/>
            <a:ext cx="152400" cy="152400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9448800" y="4572000"/>
            <a:ext cx="152400" cy="152400"/>
          </a:xfrm>
          <a:prstGeom prst="ellipse">
            <a:avLst/>
          </a:prstGeom>
          <a:solidFill>
            <a:srgbClr val="0000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7772400" y="3200399"/>
            <a:ext cx="2133601" cy="1936751"/>
            <a:chOff x="0" y="-1"/>
            <a:chExt cx="2133600" cy="1936750"/>
          </a:xfrm>
        </p:grpSpPr>
        <p:cxnSp>
          <p:nvCxnSpPr>
            <p:cNvPr id="173" name="Google Shape;173;p15"/>
            <p:cNvCxnSpPr/>
            <p:nvPr/>
          </p:nvCxnSpPr>
          <p:spPr>
            <a:xfrm flipH="1" rot="10800000">
              <a:off x="0" y="-1"/>
              <a:ext cx="304801" cy="30480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0" y="1438275"/>
              <a:ext cx="4572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1825625" y="457200"/>
              <a:ext cx="307975" cy="3048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1764665" y="1546224"/>
              <a:ext cx="1" cy="3905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77" name="Google Shape;177;p15"/>
          <p:cNvSpPr/>
          <p:nvPr/>
        </p:nvSpPr>
        <p:spPr>
          <a:xfrm>
            <a:off x="13258800" y="24384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14782800" y="3124200"/>
            <a:ext cx="152400" cy="152400"/>
          </a:xfrm>
          <a:prstGeom prst="ellipse">
            <a:avLst/>
          </a:prstGeom>
          <a:solidFill>
            <a:srgbClr val="0000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16611600" y="3886200"/>
            <a:ext cx="152400" cy="152400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14935200" y="4562476"/>
            <a:ext cx="152400" cy="152401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6306800" y="4962526"/>
            <a:ext cx="152400" cy="152401"/>
          </a:xfrm>
          <a:prstGeom prst="ellipse">
            <a:avLst/>
          </a:prstGeom>
          <a:solidFill>
            <a:srgbClr val="0000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2739925" y="8483600"/>
            <a:ext cx="16276321" cy="38613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can we estimate it? Some assumptions:</a:t>
            </a:r>
            <a:endParaRPr/>
          </a:p>
          <a:p>
            <a:pPr indent="-571500" lvl="1" marL="1028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b="1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Brightness constancy: 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projection of the same point looks the same in every frame</a:t>
            </a:r>
            <a:endParaRPr/>
          </a:p>
          <a:p>
            <a:pPr indent="-571500" lvl="1" marL="1028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b="1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motion:</a:t>
            </a:r>
            <a:r>
              <a:rPr b="0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points do not move very far</a:t>
            </a:r>
            <a:endParaRPr/>
          </a:p>
          <a:p>
            <a:pPr indent="-571500" lvl="1" marL="1028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b="1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Spatial coherence:</a:t>
            </a:r>
            <a:r>
              <a:rPr b="0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points move like their neighbors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7711440" y="5791200"/>
            <a:ext cx="2429491" cy="855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–1)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5026639" y="5791200"/>
            <a:ext cx="1819891" cy="855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85" name="Google Shape;185;p15"/>
          <p:cNvSpPr txBox="1"/>
          <p:nvPr>
            <p:ph idx="4294967295" type="body"/>
          </p:nvPr>
        </p:nvSpPr>
        <p:spPr>
          <a:xfrm>
            <a:off x="2739925" y="6919734"/>
            <a:ext cx="18904150" cy="146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15819" lvl="0" marL="5158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70"/>
              <a:buFont typeface="Helvetica Neue"/>
              <a:buChar char="•"/>
            </a:pPr>
            <a:r>
              <a:rPr lang="en-US" sz="4536"/>
              <a:t>Given two consecutive frames, estimate the motion field u(x,y) and v(x,y) between them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rPr lang="en-US" sz="8000"/>
              <a:t>The brightness constancy constraint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6553200" y="19812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7620000" y="2743200"/>
            <a:ext cx="152400" cy="152400"/>
          </a:xfrm>
          <a:prstGeom prst="ellipse">
            <a:avLst/>
          </a:prstGeom>
          <a:solidFill>
            <a:srgbClr val="80808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4" name="Google Shape;194;p17"/>
          <p:cNvCxnSpPr/>
          <p:nvPr/>
        </p:nvCxnSpPr>
        <p:spPr>
          <a:xfrm>
            <a:off x="7769226" y="2895600"/>
            <a:ext cx="612775" cy="533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17"/>
          <p:cNvSpPr/>
          <p:nvPr/>
        </p:nvSpPr>
        <p:spPr>
          <a:xfrm>
            <a:off x="13258800" y="19812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5087600" y="3352800"/>
            <a:ext cx="152400" cy="152400"/>
          </a:xfrm>
          <a:prstGeom prst="ellipse">
            <a:avLst/>
          </a:prstGeom>
          <a:solidFill>
            <a:srgbClr val="80808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8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0375" y="3578226"/>
            <a:ext cx="248602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9"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2346325"/>
            <a:ext cx="927100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0" id="199" name="Google Shape;19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6126" y="2743200"/>
            <a:ext cx="4130675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8473440" y="4422776"/>
            <a:ext cx="2429491" cy="855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–1)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5788639" y="4422776"/>
            <a:ext cx="1819891" cy="855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pic>
        <p:nvPicPr>
          <p:cNvPr descr="sum_x,_y_I(x,_y,.pdf" id="202" name="Google Shape;20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0978" y="14513123"/>
            <a:ext cx="16282044" cy="18066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>
            <p:ph idx="4294967295" type="body"/>
          </p:nvPr>
        </p:nvSpPr>
        <p:spPr>
          <a:xfrm>
            <a:off x="2661194" y="6142831"/>
            <a:ext cx="19061612" cy="1360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Helvetica Neue Light"/>
              <a:buNone/>
            </a:pPr>
            <a:r>
              <a:rPr lang="en-US" sz="4900">
                <a:latin typeface="Helvetica Neue Light"/>
                <a:ea typeface="Helvetica Neue Light"/>
                <a:cs typeface="Helvetica Neue Light"/>
                <a:sym typeface="Helvetica Neue Light"/>
              </a:rPr>
              <a:t>Simple loss function [Lucas &amp; Kanade 1981]. Find flow that minimizes:</a:t>
            </a:r>
            <a:endParaRPr/>
          </a:p>
        </p:txBody>
      </p:sp>
      <p:pic>
        <p:nvPicPr>
          <p:cNvPr descr="mathcal_L_(u,_v).pdf" id="204" name="Google Shape;20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9063" y="7917072"/>
            <a:ext cx="17565874" cy="158093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ject 4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7010400"/>
            <a:ext cx="12531726" cy="1063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7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525" y="9607550"/>
            <a:ext cx="14605001" cy="12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1952128" y="8432800"/>
            <a:ext cx="17051021" cy="9014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Helvetica Neue Light"/>
              <a:buNone/>
            </a:pPr>
            <a:r>
              <a:rPr b="0" i="0" lang="en-US" sz="4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Linearizing the right side using Taylor expansion:</a:t>
            </a:r>
            <a:endParaRPr/>
          </a:p>
        </p:txBody>
      </p:sp>
      <p:pic>
        <p:nvPicPr>
          <p:cNvPr descr="Object 9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92025" y="8801100"/>
            <a:ext cx="228601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rPr lang="en-US" sz="8000"/>
              <a:t>The brightness constancy constraint</a:t>
            </a:r>
            <a:endParaRPr/>
          </a:p>
        </p:txBody>
      </p:sp>
      <p:sp>
        <p:nvSpPr>
          <p:cNvPr id="215" name="Google Shape;215;p18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553200" y="19812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620000" y="2743200"/>
            <a:ext cx="152400" cy="152400"/>
          </a:xfrm>
          <a:prstGeom prst="ellipse">
            <a:avLst/>
          </a:prstGeom>
          <a:solidFill>
            <a:srgbClr val="80808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8" name="Google Shape;218;p18"/>
          <p:cNvCxnSpPr/>
          <p:nvPr/>
        </p:nvCxnSpPr>
        <p:spPr>
          <a:xfrm>
            <a:off x="7769226" y="2895600"/>
            <a:ext cx="612775" cy="533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18"/>
          <p:cNvSpPr/>
          <p:nvPr/>
        </p:nvSpPr>
        <p:spPr>
          <a:xfrm>
            <a:off x="13258800" y="1981200"/>
            <a:ext cx="441960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15087600" y="3352800"/>
            <a:ext cx="152400" cy="152400"/>
          </a:xfrm>
          <a:prstGeom prst="ellipse">
            <a:avLst/>
          </a:prstGeom>
          <a:solidFill>
            <a:srgbClr val="80808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8" id="221" name="Google Shape;22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30375" y="3578226"/>
            <a:ext cx="248602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9" id="222" name="Google Shape;22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50" y="2346325"/>
            <a:ext cx="927100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0" id="223" name="Google Shape;2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6126" y="2743200"/>
            <a:ext cx="4130675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8473440" y="4422776"/>
            <a:ext cx="2429491" cy="855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–1)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5788639" y="4422776"/>
            <a:ext cx="1819891" cy="855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1952128" y="12071350"/>
            <a:ext cx="8782688" cy="1263650"/>
            <a:chOff x="0" y="0"/>
            <a:chExt cx="8782687" cy="1263650"/>
          </a:xfrm>
        </p:grpSpPr>
        <p:pic>
          <p:nvPicPr>
            <p:cNvPr descr="Object 24" id="227" name="Google Shape;227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956560" y="0"/>
              <a:ext cx="5826127" cy="126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8"/>
            <p:cNvSpPr txBox="1"/>
            <p:nvPr/>
          </p:nvSpPr>
          <p:spPr>
            <a:xfrm>
              <a:off x="0" y="193674"/>
              <a:ext cx="2839416" cy="889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Helvetica Neue Light"/>
                <a:buNone/>
              </a:pPr>
              <a:r>
                <a:rPr b="0" i="0" lang="en-US" sz="48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Therefore:</a:t>
              </a:r>
              <a:endParaRPr/>
            </a:p>
          </p:txBody>
        </p:sp>
      </p:grpSp>
      <p:sp>
        <p:nvSpPr>
          <p:cNvPr id="229" name="Google Shape;229;p18"/>
          <p:cNvSpPr txBox="1"/>
          <p:nvPr>
            <p:ph idx="4294967295" type="body"/>
          </p:nvPr>
        </p:nvSpPr>
        <p:spPr>
          <a:xfrm>
            <a:off x="1952128" y="5888831"/>
            <a:ext cx="15739470" cy="1360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Helvetica Neue Light"/>
              <a:buNone/>
            </a:pPr>
            <a:r>
              <a:rPr lang="en-US" sz="4900">
                <a:latin typeface="Helvetica Neue Light"/>
                <a:ea typeface="Helvetica Neue Light"/>
                <a:cs typeface="Helvetica Neue Light"/>
                <a:sym typeface="Helvetica Neue Light"/>
              </a:rPr>
              <a:t>Brightness Constancy Equation:</a:t>
            </a:r>
            <a:endParaRPr/>
          </a:p>
        </p:txBody>
      </p:sp>
      <p:grpSp>
        <p:nvGrpSpPr>
          <p:cNvPr id="230" name="Google Shape;230;p18"/>
          <p:cNvGrpSpPr/>
          <p:nvPr/>
        </p:nvGrpSpPr>
        <p:grpSpPr>
          <a:xfrm>
            <a:off x="16804118" y="8513119"/>
            <a:ext cx="3186859" cy="1296220"/>
            <a:chOff x="-1" y="354582"/>
            <a:chExt cx="3186857" cy="1296218"/>
          </a:xfrm>
        </p:grpSpPr>
        <p:cxnSp>
          <p:nvCxnSpPr>
            <p:cNvPr id="231" name="Google Shape;231;p18"/>
            <p:cNvCxnSpPr/>
            <p:nvPr/>
          </p:nvCxnSpPr>
          <p:spPr>
            <a:xfrm flipH="1">
              <a:off x="-1" y="711886"/>
              <a:ext cx="3186857" cy="938914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miter lim="400000"/>
              <a:headEnd len="sm" w="sm" type="none"/>
              <a:tailEnd len="med" w="med" type="triangle"/>
            </a:ln>
          </p:spPr>
        </p:cxnSp>
        <p:cxnSp>
          <p:nvCxnSpPr>
            <p:cNvPr id="232" name="Google Shape;232;p18"/>
            <p:cNvCxnSpPr/>
            <p:nvPr/>
          </p:nvCxnSpPr>
          <p:spPr>
            <a:xfrm>
              <a:off x="661219" y="354582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sp>
        <p:nvSpPr>
          <p:cNvPr id="233" name="Google Shape;233;p18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  <p:grpSp>
        <p:nvGrpSpPr>
          <p:cNvPr id="234" name="Google Shape;234;p18"/>
          <p:cNvGrpSpPr/>
          <p:nvPr/>
        </p:nvGrpSpPr>
        <p:grpSpPr>
          <a:xfrm>
            <a:off x="9377303" y="11211832"/>
            <a:ext cx="1764586" cy="1270002"/>
            <a:chOff x="-1" y="419374"/>
            <a:chExt cx="1764584" cy="1270001"/>
          </a:xfrm>
        </p:grpSpPr>
        <p:cxnSp>
          <p:nvCxnSpPr>
            <p:cNvPr id="235" name="Google Shape;235;p18"/>
            <p:cNvCxnSpPr/>
            <p:nvPr/>
          </p:nvCxnSpPr>
          <p:spPr>
            <a:xfrm flipH="1">
              <a:off x="-1" y="834499"/>
              <a:ext cx="1764584" cy="496593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miter lim="400000"/>
              <a:headEnd len="sm" w="sm" type="none"/>
              <a:tailEnd len="med" w="med" type="triangle"/>
            </a:ln>
          </p:spPr>
        </p:cxnSp>
        <p:cxnSp>
          <p:nvCxnSpPr>
            <p:cNvPr id="236" name="Google Shape;236;p18"/>
            <p:cNvCxnSpPr/>
            <p:nvPr/>
          </p:nvCxnSpPr>
          <p:spPr>
            <a:xfrm>
              <a:off x="468185" y="419374"/>
              <a:ext cx="1270001" cy="1270001"/>
            </a:xfrm>
            <a:prstGeom prst="straightConnector1">
              <a:avLst/>
            </a:prstGeom>
            <a:blipFill rotWithShape="1">
              <a:blip r:embed="rId10">
                <a:alphaModFix/>
              </a:blip>
              <a:stretch>
                <a:fillRect b="0" l="-23750" r="-713700" t="-32352"/>
              </a:stretch>
            </a:blipFill>
            <a:ln>
              <a:noFill/>
            </a:ln>
          </p:spPr>
        </p:cxnSp>
      </p:grpSp>
      <p:sp>
        <p:nvSpPr>
          <p:cNvPr id="237" name="Google Shape;237;p18"/>
          <p:cNvSpPr txBox="1"/>
          <p:nvPr/>
        </p:nvSpPr>
        <p:spPr>
          <a:xfrm>
            <a:off x="18784625" y="7275780"/>
            <a:ext cx="562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Derivative in y direction</a:t>
            </a:r>
            <a:endParaRPr sz="4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10972800" y="10784675"/>
            <a:ext cx="939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Derivative in time: </a:t>
            </a:r>
            <a:endParaRPr sz="4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9" name="Google Shape;239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004101" y="10808124"/>
            <a:ext cx="6821068" cy="10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rPr lang="en-US" sz="8000"/>
              <a:t>The brightness constancy constraint</a:t>
            </a:r>
            <a:endParaRPr/>
          </a:p>
        </p:txBody>
      </p:sp>
      <p:sp>
        <p:nvSpPr>
          <p:cNvPr id="245" name="Google Shape;245;p19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46" name="Google Shape;246;p19"/>
          <p:cNvSpPr txBox="1"/>
          <p:nvPr>
            <p:ph idx="4294967295" type="body"/>
          </p:nvPr>
        </p:nvSpPr>
        <p:spPr>
          <a:xfrm>
            <a:off x="1651438" y="3425527"/>
            <a:ext cx="17372907" cy="1984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lang="en-US" sz="5600"/>
              <a:t>How many equations and unknowns per pixel?</a:t>
            </a:r>
            <a:endParaRPr/>
          </a:p>
          <a:p>
            <a:pPr indent="-571500" lvl="1" marL="1028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/>
              <a:t>One equation, two unknowns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1651439" y="5522576"/>
            <a:ext cx="19470249" cy="1043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Under-constrained. Let’s rewrite it: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651438" y="7905019"/>
            <a:ext cx="21081124" cy="2415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component of the flow perpendicular to the image gradient (i.e., parallel to the edge) is unknown!</a:t>
            </a:r>
            <a:endParaRPr/>
          </a:p>
        </p:txBody>
      </p:sp>
      <p:pic>
        <p:nvPicPr>
          <p:cNvPr descr="Object 10"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3545" y="1955800"/>
            <a:ext cx="7546012" cy="1636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15" id="250" name="Google Shape;2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4411" y="6621031"/>
            <a:ext cx="6895178" cy="14497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19"/>
          <p:cNvGrpSpPr/>
          <p:nvPr/>
        </p:nvGrpSpPr>
        <p:grpSpPr>
          <a:xfrm>
            <a:off x="4307839" y="9518650"/>
            <a:ext cx="15422833" cy="4054124"/>
            <a:chOff x="0" y="0"/>
            <a:chExt cx="15422831" cy="4054123"/>
          </a:xfrm>
        </p:grpSpPr>
        <p:pic>
          <p:nvPicPr>
            <p:cNvPr descr="Object 8" id="252" name="Google Shape;25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04559" y="1987550"/>
              <a:ext cx="3505201" cy="774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3" name="Google Shape;253;p19"/>
            <p:cNvCxnSpPr/>
            <p:nvPr/>
          </p:nvCxnSpPr>
          <p:spPr>
            <a:xfrm>
              <a:off x="9662159" y="920750"/>
              <a:ext cx="2743201" cy="2743200"/>
            </a:xfrm>
            <a:prstGeom prst="straightConnector1">
              <a:avLst/>
            </a:prstGeom>
            <a:noFill/>
            <a:ln cap="flat" cmpd="sng" w="508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19"/>
            <p:cNvCxnSpPr/>
            <p:nvPr/>
          </p:nvCxnSpPr>
          <p:spPr>
            <a:xfrm flipH="1" rot="10800000">
              <a:off x="11186159" y="768350"/>
              <a:ext cx="1371601" cy="13716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5" name="Google Shape;255;p19"/>
            <p:cNvCxnSpPr/>
            <p:nvPr/>
          </p:nvCxnSpPr>
          <p:spPr>
            <a:xfrm>
              <a:off x="11186159" y="2139950"/>
              <a:ext cx="2895601" cy="3048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6" name="Google Shape;256;p19"/>
            <p:cNvSpPr txBox="1"/>
            <p:nvPr/>
          </p:nvSpPr>
          <p:spPr>
            <a:xfrm>
              <a:off x="12649199" y="3352800"/>
              <a:ext cx="1212672" cy="701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edge</a:t>
              </a: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13258800" y="762000"/>
              <a:ext cx="1109980" cy="701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cxnSp>
          <p:nvCxnSpPr>
            <p:cNvPr id="258" name="Google Shape;258;p19"/>
            <p:cNvCxnSpPr/>
            <p:nvPr/>
          </p:nvCxnSpPr>
          <p:spPr>
            <a:xfrm>
              <a:off x="13319759" y="1530349"/>
              <a:ext cx="762001" cy="91440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9" name="Google Shape;259;p19"/>
            <p:cNvSpPr txBox="1"/>
            <p:nvPr/>
          </p:nvSpPr>
          <p:spPr>
            <a:xfrm>
              <a:off x="14109700" y="1981200"/>
              <a:ext cx="1313131" cy="701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’,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’)</a:t>
              </a:r>
              <a:endParaRPr/>
            </a:p>
          </p:txBody>
        </p:sp>
        <p:cxnSp>
          <p:nvCxnSpPr>
            <p:cNvPr id="260" name="Google Shape;260;p19"/>
            <p:cNvCxnSpPr/>
            <p:nvPr/>
          </p:nvCxnSpPr>
          <p:spPr>
            <a:xfrm flipH="1" rot="10800000">
              <a:off x="11186159" y="1530350"/>
              <a:ext cx="2133601" cy="6096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1" name="Google Shape;261;p19"/>
            <p:cNvSpPr txBox="1"/>
            <p:nvPr/>
          </p:nvSpPr>
          <p:spPr>
            <a:xfrm>
              <a:off x="11277599" y="0"/>
              <a:ext cx="1847796" cy="701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gradient</a:t>
              </a:r>
              <a:endParaRPr/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12344399" y="2473325"/>
              <a:ext cx="2329999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’,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0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’)</a:t>
              </a:r>
              <a:endParaRPr/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0" y="1308100"/>
              <a:ext cx="7429421" cy="130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45720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If (</a:t>
              </a:r>
              <a:r>
                <a:rPr b="0" i="1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0" i="1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 satisfies the equation, </a:t>
              </a:r>
              <a:b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 does (</a:t>
              </a:r>
              <a:r>
                <a:rPr b="0" i="1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u+u’</a:t>
              </a: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0" i="1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v+v’</a:t>
              </a: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 if</a:t>
              </a:r>
              <a:r>
                <a:rPr b="1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sp>
        <p:nvSpPr>
          <p:cNvPr id="264" name="Google Shape;264;p19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The aperture problem</a:t>
            </a:r>
            <a:endParaRPr/>
          </a:p>
        </p:txBody>
      </p:sp>
      <p:sp>
        <p:nvSpPr>
          <p:cNvPr id="270" name="Google Shape;270;p2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cxnSp>
        <p:nvCxnSpPr>
          <p:cNvPr id="271" name="Google Shape;271;p24"/>
          <p:cNvCxnSpPr/>
          <p:nvPr/>
        </p:nvCxnSpPr>
        <p:spPr>
          <a:xfrm>
            <a:off x="10429874" y="5626100"/>
            <a:ext cx="1577976" cy="427990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4"/>
          <p:cNvCxnSpPr/>
          <p:nvPr/>
        </p:nvCxnSpPr>
        <p:spPr>
          <a:xfrm>
            <a:off x="12344399" y="4724400"/>
            <a:ext cx="1730378" cy="4505327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4"/>
          <p:cNvSpPr/>
          <p:nvPr/>
        </p:nvSpPr>
        <p:spPr>
          <a:xfrm>
            <a:off x="9753600" y="4724400"/>
            <a:ext cx="5181600" cy="5181600"/>
          </a:xfrm>
          <a:prstGeom prst="ellipse">
            <a:avLst/>
          </a:prstGeom>
          <a:noFill/>
          <a:ln cap="flat" cmpd="sng" w="127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4" name="Google Shape;274;p24"/>
          <p:cNvCxnSpPr/>
          <p:nvPr/>
        </p:nvCxnSpPr>
        <p:spPr>
          <a:xfrm flipH="1" rot="10800000">
            <a:off x="12344399" y="10820400"/>
            <a:ext cx="3048002" cy="1219200"/>
          </a:xfrm>
          <a:prstGeom prst="straightConnector1">
            <a:avLst/>
          </a:prstGeom>
          <a:noFill/>
          <a:ln cap="flat" cmpd="sng" w="1270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5" name="Google Shape;275;p24"/>
          <p:cNvSpPr txBox="1"/>
          <p:nvPr/>
        </p:nvSpPr>
        <p:spPr>
          <a:xfrm>
            <a:off x="13997939" y="11734800"/>
            <a:ext cx="5277168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Perceived motion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The aperture problem</a:t>
            </a:r>
            <a:endParaRPr/>
          </a:p>
        </p:txBody>
      </p:sp>
      <p:sp>
        <p:nvSpPr>
          <p:cNvPr id="282" name="Google Shape;282;p25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cxnSp>
        <p:nvCxnSpPr>
          <p:cNvPr id="283" name="Google Shape;283;p25"/>
          <p:cNvCxnSpPr/>
          <p:nvPr/>
        </p:nvCxnSpPr>
        <p:spPr>
          <a:xfrm>
            <a:off x="9448800" y="3200399"/>
            <a:ext cx="3048000" cy="7924802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5"/>
          <p:cNvCxnSpPr/>
          <p:nvPr/>
        </p:nvCxnSpPr>
        <p:spPr>
          <a:xfrm>
            <a:off x="12039599" y="3810000"/>
            <a:ext cx="3048003" cy="807720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5"/>
          <p:cNvSpPr/>
          <p:nvPr/>
        </p:nvSpPr>
        <p:spPr>
          <a:xfrm>
            <a:off x="9753600" y="4724400"/>
            <a:ext cx="5181600" cy="5181600"/>
          </a:xfrm>
          <a:prstGeom prst="ellipse">
            <a:avLst/>
          </a:prstGeom>
          <a:noFill/>
          <a:ln cap="flat" cmpd="sng" w="127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6" name="Google Shape;286;p25"/>
          <p:cNvCxnSpPr/>
          <p:nvPr/>
        </p:nvCxnSpPr>
        <p:spPr>
          <a:xfrm>
            <a:off x="12192000" y="11734800"/>
            <a:ext cx="3657601" cy="1371600"/>
          </a:xfrm>
          <a:prstGeom prst="straightConnector1">
            <a:avLst/>
          </a:prstGeom>
          <a:noFill/>
          <a:ln cap="flat" cmpd="sng" w="1270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7" name="Google Shape;287;p25"/>
          <p:cNvSpPr txBox="1"/>
          <p:nvPr/>
        </p:nvSpPr>
        <p:spPr>
          <a:xfrm>
            <a:off x="15979139" y="11582400"/>
            <a:ext cx="4259482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motion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1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657600"/>
            <a:ext cx="88392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The barber pole illusion</a:t>
            </a:r>
            <a:endParaRPr/>
          </a:p>
        </p:txBody>
      </p:sp>
      <p:sp>
        <p:nvSpPr>
          <p:cNvPr id="295" name="Google Shape;295;p26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5676265" y="12496800"/>
            <a:ext cx="12665295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800"/>
              <a:buFont typeface="Arial"/>
              <a:buNone/>
            </a:pPr>
            <a:r>
              <a:rPr b="0" i="0" lang="en-US" sz="4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http://en.wikipedia.org/wiki/Barberpole_illusion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The barber pole illusion</a:t>
            </a:r>
            <a:endParaRPr/>
          </a:p>
        </p:txBody>
      </p:sp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4"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657600"/>
            <a:ext cx="88392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5676265" y="12496800"/>
            <a:ext cx="12665295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800"/>
              <a:buFont typeface="Arial"/>
              <a:buNone/>
            </a:pPr>
            <a:r>
              <a:rPr b="0" i="0" lang="en-US" sz="4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http://en.wikipedia.org/wiki/Barberpole_illusion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idx="4294967295" type="body"/>
          </p:nvPr>
        </p:nvSpPr>
        <p:spPr>
          <a:xfrm>
            <a:off x="4419600" y="2463800"/>
            <a:ext cx="155448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get more equations for a pixel?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Char char="•"/>
            </a:pPr>
            <a:r>
              <a:rPr b="1" lang="en-US"/>
              <a:t>Spatial coherence constraint:</a:t>
            </a:r>
            <a:r>
              <a:rPr b="0" lang="en-US"/>
              <a:t>  assume the pixel’s neighbors have the same (u,v)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•"/>
            </a:pPr>
            <a:r>
              <a:rPr lang="en-US" sz="3600"/>
              <a:t>E.g., if we use a 5x5 window, that gives us 25 equations per pixel</a:t>
            </a:r>
            <a:endParaRPr/>
          </a:p>
        </p:txBody>
      </p:sp>
      <p:sp>
        <p:nvSpPr>
          <p:cNvPr id="312" name="Google Shape;312;p28"/>
          <p:cNvSpPr txBox="1"/>
          <p:nvPr>
            <p:ph type="title"/>
          </p:nvPr>
        </p:nvSpPr>
        <p:spPr>
          <a:xfrm>
            <a:off x="1689100" y="-279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Solving the aperture problem</a:t>
            </a:r>
            <a:endParaRPr/>
          </a:p>
        </p:txBody>
      </p:sp>
      <p:sp>
        <p:nvSpPr>
          <p:cNvPr id="313" name="Google Shape;313;p28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Object 1" id="314" name="Google Shape;3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2450" y="5664200"/>
            <a:ext cx="80391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2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3083" y="7198018"/>
            <a:ext cx="10720517" cy="4866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28"/>
          <p:cNvGrpSpPr/>
          <p:nvPr/>
        </p:nvGrpSpPr>
        <p:grpSpPr>
          <a:xfrm>
            <a:off x="7416799" y="9709149"/>
            <a:ext cx="9353354" cy="894506"/>
            <a:chOff x="-1" y="0"/>
            <a:chExt cx="9353353" cy="894505"/>
          </a:xfrm>
        </p:grpSpPr>
        <p:sp>
          <p:nvSpPr>
            <p:cNvPr id="317" name="Google Shape;317;p28"/>
            <p:cNvSpPr/>
            <p:nvPr/>
          </p:nvSpPr>
          <p:spPr>
            <a:xfrm rot="-5400000">
              <a:off x="279723" y="-279724"/>
              <a:ext cx="894505" cy="14539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Helvetica Neue"/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…</a:t>
              </a: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 rot="-5400000">
              <a:off x="3099123" y="-279724"/>
              <a:ext cx="894505" cy="14539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Helvetica Neue"/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…</a:t>
              </a: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 rot="-5400000">
              <a:off x="8179124" y="-279724"/>
              <a:ext cx="894505" cy="14539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Helvetica Neue"/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…</a:t>
              </a:r>
              <a:endParaRPr/>
            </a:p>
          </p:txBody>
        </p:sp>
      </p:grpSp>
      <p:sp>
        <p:nvSpPr>
          <p:cNvPr id="320" name="Google Shape;320;p28"/>
          <p:cNvSpPr txBox="1"/>
          <p:nvPr/>
        </p:nvSpPr>
        <p:spPr>
          <a:xfrm>
            <a:off x="166242" y="12746572"/>
            <a:ext cx="6119115" cy="79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 Light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[Lucas &amp; Kanade 1981]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Lucas-Kanade flow</a:t>
            </a:r>
            <a:endParaRPr/>
          </a:p>
        </p:txBody>
      </p:sp>
      <p:sp>
        <p:nvSpPr>
          <p:cNvPr id="327" name="Google Shape;327;p30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4511040" y="7112000"/>
            <a:ext cx="15361920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is this system solvable?</a:t>
            </a:r>
            <a:endParaRPr/>
          </a:p>
        </p:txBody>
      </p:sp>
      <p:pic>
        <p:nvPicPr>
          <p:cNvPr descr="Object 1"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8009" y="3312462"/>
            <a:ext cx="7619999" cy="345912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 txBox="1"/>
          <p:nvPr/>
        </p:nvSpPr>
        <p:spPr>
          <a:xfrm>
            <a:off x="166242" y="12746572"/>
            <a:ext cx="6119115" cy="79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 Light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[Lucas &amp; Kanade 1981]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4511040" y="2413000"/>
            <a:ext cx="15361920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Least squares problem:</a:t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 rot="-5400000">
            <a:off x="6650397" y="4633552"/>
            <a:ext cx="976586" cy="147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 rot="-5400000">
            <a:off x="8711419" y="4845830"/>
            <a:ext cx="976585" cy="1051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 rot="-5400000">
            <a:off x="12553695" y="5004900"/>
            <a:ext cx="620139" cy="9371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Lucas-Kanade optical flow</a:t>
            </a:r>
            <a:endParaRPr/>
          </a:p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4053840" y="10210800"/>
            <a:ext cx="6370321" cy="1234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14300" lvl="1" marL="5715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(summations are over all pixels in the window)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4511040" y="6604000"/>
            <a:ext cx="5560101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given by</a:t>
            </a:r>
            <a:endParaRPr/>
          </a:p>
        </p:txBody>
      </p:sp>
      <p:pic>
        <p:nvPicPr>
          <p:cNvPr descr="Object 1" id="344" name="Google Shape;3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8009" y="2804461"/>
            <a:ext cx="7619999" cy="345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3" id="345" name="Google Shape;3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5581" y="3352800"/>
            <a:ext cx="4478819" cy="2010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4" id="346" name="Google Shape;34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0" y="6553200"/>
            <a:ext cx="4220108" cy="1012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5" id="347" name="Google Shape;34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598" y="7873706"/>
            <a:ext cx="9448803" cy="218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/>
          <p:nvPr/>
        </p:nvSpPr>
        <p:spPr>
          <a:xfrm>
            <a:off x="15153639" y="8445141"/>
            <a:ext cx="7619999" cy="29569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1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1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“second moment” matrix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(also Gauss-Newton approximation to Hessian)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166242" y="12746572"/>
            <a:ext cx="6119115" cy="79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 Light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[Lucas &amp; Kanade 1981]</a:t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 rot="-5400000">
            <a:off x="6802797" y="4125552"/>
            <a:ext cx="976586" cy="147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51" name="Google Shape;351;p31"/>
          <p:cNvSpPr/>
          <p:nvPr/>
        </p:nvSpPr>
        <p:spPr>
          <a:xfrm rot="-5400000">
            <a:off x="8556142" y="4264507"/>
            <a:ext cx="976585" cy="1197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 rot="-5400000">
            <a:off x="12267419" y="4337830"/>
            <a:ext cx="976585" cy="1051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/>
          <p:nvPr/>
        </p:nvSpPr>
        <p:spPr>
          <a:xfrm>
            <a:off x="4724400" y="10820400"/>
            <a:ext cx="6248400" cy="106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6343" y="0"/>
                </a:lnTo>
                <a:lnTo>
                  <a:pt x="16343" y="8100"/>
                </a:lnTo>
                <a:lnTo>
                  <a:pt x="18095" y="8100"/>
                </a:lnTo>
                <a:lnTo>
                  <a:pt x="18095" y="5596"/>
                </a:lnTo>
                <a:lnTo>
                  <a:pt x="21600" y="10800"/>
                </a:lnTo>
                <a:lnTo>
                  <a:pt x="18095" y="16004"/>
                </a:lnTo>
                <a:lnTo>
                  <a:pt x="18095" y="13500"/>
                </a:lnTo>
                <a:lnTo>
                  <a:pt x="16343" y="13500"/>
                </a:lnTo>
                <a:lnTo>
                  <a:pt x="1634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0C0C0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32"/>
          <p:cNvSpPr txBox="1"/>
          <p:nvPr>
            <p:ph type="title"/>
          </p:nvPr>
        </p:nvSpPr>
        <p:spPr>
          <a:xfrm>
            <a:off x="1689100" y="-279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Analyzing the second moment matrix</a:t>
            </a:r>
            <a:endParaRPr/>
          </a:p>
        </p:txBody>
      </p:sp>
      <p:sp>
        <p:nvSpPr>
          <p:cNvPr id="360" name="Google Shape;360;p32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361" name="Google Shape;361;p32"/>
          <p:cNvSpPr/>
          <p:nvPr/>
        </p:nvSpPr>
        <p:spPr>
          <a:xfrm>
            <a:off x="11125200" y="4114800"/>
            <a:ext cx="8686800" cy="8686800"/>
          </a:xfrm>
          <a:prstGeom prst="rect">
            <a:avLst/>
          </a:prstGeom>
          <a:solidFill>
            <a:srgbClr val="F38F67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18684239" y="12801600"/>
            <a:ext cx="1341121" cy="9133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9387840" y="4267200"/>
            <a:ext cx="1950721" cy="9133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64" name="Google Shape;364;p32"/>
          <p:cNvSpPr/>
          <p:nvPr/>
        </p:nvSpPr>
        <p:spPr>
          <a:xfrm>
            <a:off x="12039600" y="4114800"/>
            <a:ext cx="7772400" cy="7874000"/>
          </a:xfrm>
          <a:custGeom>
            <a:rect b="b" l="l" r="r" t="t"/>
            <a:pathLst>
              <a:path extrusionOk="0" h="21600" w="21600">
                <a:moveTo>
                  <a:pt x="0" y="16723"/>
                </a:moveTo>
                <a:lnTo>
                  <a:pt x="5929" y="0"/>
                </a:lnTo>
                <a:lnTo>
                  <a:pt x="21600" y="0"/>
                </a:lnTo>
                <a:lnTo>
                  <a:pt x="21600" y="16305"/>
                </a:lnTo>
                <a:lnTo>
                  <a:pt x="4897" y="21600"/>
                </a:lnTo>
                <a:lnTo>
                  <a:pt x="0" y="16723"/>
                </a:lnTo>
                <a:close/>
              </a:path>
            </a:pathLst>
          </a:custGeom>
          <a:solidFill>
            <a:srgbClr val="00CC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11125200" y="9296400"/>
            <a:ext cx="3498850" cy="35052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14264639" y="5334000"/>
            <a:ext cx="5151121" cy="23683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“Corner”</a:t>
            </a:r>
            <a:b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large,</a:t>
            </a:r>
            <a:b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4968240" y="10820400"/>
            <a:ext cx="4541521" cy="9133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small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17465039" y="10820400"/>
            <a:ext cx="2407921" cy="1611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“Edge” </a:t>
            </a:r>
            <a:b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&gt;&gt;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11369040" y="4419600"/>
            <a:ext cx="2407921" cy="1611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“Edge” </a:t>
            </a:r>
            <a:b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&gt;&gt;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11064240" y="10972800"/>
            <a:ext cx="2255521" cy="15539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“Flat” region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4206240" y="1981200"/>
            <a:ext cx="15819120" cy="18894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Estimation of optical flow is well-conditioned precisely for regions with high “cornerness”:</a:t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16916400" y="4876800"/>
            <a:ext cx="1219200" cy="1276353"/>
          </a:xfrm>
          <a:prstGeom prst="ellipse">
            <a:avLst/>
          </a:prstGeom>
          <a:solidFill>
            <a:srgbClr val="0000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11417300" y="4267200"/>
            <a:ext cx="1854200" cy="250829"/>
          </a:xfrm>
          <a:prstGeom prst="ellipse">
            <a:avLst/>
          </a:prstGeom>
          <a:solidFill>
            <a:srgbClr val="0000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11582400" y="10515600"/>
            <a:ext cx="304800" cy="304800"/>
          </a:xfrm>
          <a:prstGeom prst="ellipse">
            <a:avLst/>
          </a:prstGeom>
          <a:solidFill>
            <a:srgbClr val="0000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32"/>
          <p:cNvSpPr/>
          <p:nvPr/>
        </p:nvSpPr>
        <p:spPr>
          <a:xfrm rot="5542000">
            <a:off x="16349662" y="11723685"/>
            <a:ext cx="1854201" cy="250829"/>
          </a:xfrm>
          <a:prstGeom prst="ellipse">
            <a:avLst/>
          </a:prstGeom>
          <a:solidFill>
            <a:srgbClr val="0000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32"/>
          <p:cNvSpPr txBox="1"/>
          <p:nvPr/>
        </p:nvSpPr>
        <p:spPr>
          <a:xfrm>
            <a:off x="19996784" y="7241859"/>
            <a:ext cx="3525521" cy="1619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Eigenvalues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of </a:t>
            </a:r>
            <a:r>
              <a:rPr b="1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Conditions for solvability</a:t>
            </a:r>
            <a:endParaRPr/>
          </a:p>
        </p:txBody>
      </p:sp>
      <p:sp>
        <p:nvSpPr>
          <p:cNvPr id="383" name="Google Shape;383;p33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aperture1.mov" id="384" name="Google Shape;3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3657600"/>
            <a:ext cx="11379200" cy="85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3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7312914" y="2322941"/>
            <a:ext cx="9758173" cy="944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Bad case: single, straight edge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Conditions for solvability</a:t>
            </a:r>
            <a:endParaRPr/>
          </a:p>
        </p:txBody>
      </p:sp>
      <p:sp>
        <p:nvSpPr>
          <p:cNvPr id="392" name="Google Shape;392;p3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perture2.mov" id="393" name="Google Shape;3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3657600"/>
            <a:ext cx="11379200" cy="85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10499038" y="2322941"/>
            <a:ext cx="3487523" cy="944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Good case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0" name="Google Shape;400;p35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35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Lucas-Kanade flow example</a:t>
            </a:r>
            <a:endParaRPr/>
          </a:p>
        </p:txBody>
      </p:sp>
      <p:sp>
        <p:nvSpPr>
          <p:cNvPr id="402" name="Google Shape;402;p35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13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10767" r="8872" t="0"/>
          <a:stretch/>
        </p:blipFill>
        <p:spPr>
          <a:xfrm>
            <a:off x="12344399" y="3962400"/>
            <a:ext cx="9017691" cy="6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5730240" y="3505200"/>
            <a:ext cx="3583802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frames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15636239" y="3496269"/>
            <a:ext cx="2025572" cy="861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406" name="Google Shape;406;p35"/>
          <p:cNvSpPr txBox="1"/>
          <p:nvPr/>
        </p:nvSpPr>
        <p:spPr>
          <a:xfrm>
            <a:off x="8168639" y="12801600"/>
            <a:ext cx="8318694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3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MATLAB Central File Exchange</a:t>
            </a:r>
            <a:endParaRPr/>
          </a:p>
        </p:txBody>
      </p:sp>
      <p:pic>
        <p:nvPicPr>
          <p:cNvPr descr="Picture 2" id="407" name="Google Shape;40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4390332"/>
            <a:ext cx="8901228" cy="505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408" name="Google Shape;40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0400" y="4407408"/>
            <a:ext cx="8887969" cy="499512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5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Fixing the errors in Lucas-Kanade</a:t>
            </a:r>
            <a:endParaRPr/>
          </a:p>
        </p:txBody>
      </p:sp>
      <p:sp>
        <p:nvSpPr>
          <p:cNvPr id="415" name="Google Shape;415;p37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37"/>
          <p:cNvSpPr txBox="1"/>
          <p:nvPr>
            <p:ph idx="4294967295" type="body"/>
          </p:nvPr>
        </p:nvSpPr>
        <p:spPr>
          <a:xfrm>
            <a:off x="3188245" y="3200400"/>
            <a:ext cx="1800751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799" lvl="0" marL="685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Helvetica Neue"/>
              <a:buChar char="•"/>
            </a:pPr>
            <a:r>
              <a:rPr lang="en-US" sz="6300"/>
              <a:t>The motion is large (larger than a pixel)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Char char="•"/>
            </a:pPr>
            <a:r>
              <a:rPr lang="en-US" sz="4700"/>
              <a:t>Iterative refinement 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Char char="•"/>
            </a:pPr>
            <a:r>
              <a:rPr lang="en-US" sz="4700"/>
              <a:t>Multi-resolution (coarse-to-fine) estimation</a:t>
            </a:r>
            <a:br>
              <a:rPr lang="en-US" sz="4700"/>
            </a:br>
            <a:endParaRPr/>
          </a:p>
          <a:p>
            <a:pPr indent="-685799" lvl="0" marL="685799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Helvetica Neue"/>
              <a:buChar char="•"/>
            </a:pPr>
            <a:r>
              <a:rPr lang="en-US" sz="6300"/>
              <a:t>Local ambiguity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Helvetica Neue"/>
              <a:buChar char="•"/>
            </a:pPr>
            <a:r>
              <a:rPr lang="en-US" sz="4700"/>
              <a:t>Smooth using graphical model refinement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20819617" y="13037654"/>
            <a:ext cx="3403855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S. Lazebnik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" name="Google Shape;422;p38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icture 2" id="423" name="Google Shape;4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2590800"/>
            <a:ext cx="12065000" cy="822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Large motions</a:t>
            </a:r>
            <a:endParaRPr/>
          </a:p>
        </p:txBody>
      </p:sp>
      <p:sp>
        <p:nvSpPr>
          <p:cNvPr id="425" name="Google Shape;425;p38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426" name="Google Shape;426;p38"/>
          <p:cNvSpPr txBox="1"/>
          <p:nvPr/>
        </p:nvSpPr>
        <p:spPr>
          <a:xfrm>
            <a:off x="15750361" y="12973050"/>
            <a:ext cx="8255442" cy="478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Khurram Hassan-Shafique CAP5415 Computer Vision 2003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/>
          <p:nvPr/>
        </p:nvSpPr>
        <p:spPr>
          <a:xfrm>
            <a:off x="2123333" y="6993222"/>
            <a:ext cx="18591531" cy="5783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Initialize flow: u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v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0</a:t>
            </a:r>
            <a:endParaRPr/>
          </a:p>
          <a:p>
            <a:pPr indent="0" lvl="4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 each iteration </a:t>
            </a:r>
            <a:r>
              <a:rPr b="0" i="1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</a:t>
            </a:r>
            <a:endParaRPr/>
          </a:p>
          <a:p>
            <a:pPr indent="-317500" lvl="6" marL="990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AutoNum type="arabicPeriod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Linearize around current solution. Find an update for problem:</a:t>
            </a: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by solving linear least squares problem for each pixel:</a:t>
            </a:r>
            <a:endParaRPr/>
          </a:p>
          <a:p>
            <a:pPr indent="-317500" lvl="6" marL="990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AutoNum type="arabicPeriod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Apply updates:                                and</a:t>
            </a:r>
            <a:endParaRPr/>
          </a:p>
        </p:txBody>
      </p:sp>
      <p:cxnSp>
        <p:nvCxnSpPr>
          <p:cNvPr id="432" name="Google Shape;432;p40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40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Idea #1: iterative estimation</a:t>
            </a:r>
            <a:endParaRPr/>
          </a:p>
        </p:txBody>
      </p:sp>
      <p:sp>
        <p:nvSpPr>
          <p:cNvPr id="434" name="Google Shape;434;p40"/>
          <p:cNvSpPr txBox="1"/>
          <p:nvPr/>
        </p:nvSpPr>
        <p:spPr>
          <a:xfrm>
            <a:off x="2074659" y="2019951"/>
            <a:ext cx="8323581" cy="845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Goal: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minimize matching error</a:t>
            </a:r>
            <a:endParaRPr/>
          </a:p>
        </p:txBody>
      </p:sp>
      <p:sp>
        <p:nvSpPr>
          <p:cNvPr id="435" name="Google Shape;435;p40"/>
          <p:cNvSpPr txBox="1"/>
          <p:nvPr/>
        </p:nvSpPr>
        <p:spPr>
          <a:xfrm>
            <a:off x="2100059" y="6071607"/>
            <a:ext cx="5593640" cy="870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Iterative algorithm:</a:t>
            </a:r>
            <a:endParaRPr/>
          </a:p>
        </p:txBody>
      </p:sp>
      <p:pic>
        <p:nvPicPr>
          <p:cNvPr descr="mathcal_L_(u,_v).pdf" id="436" name="Google Shape;4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4883" y="3003253"/>
            <a:ext cx="16814234" cy="161703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0"/>
          <p:cNvSpPr txBox="1"/>
          <p:nvPr/>
        </p:nvSpPr>
        <p:spPr>
          <a:xfrm>
            <a:off x="2212511" y="4648885"/>
            <a:ext cx="10951846" cy="84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where the window width/height is 2N+1</a:t>
            </a:r>
            <a:endParaRPr/>
          </a:p>
        </p:txBody>
      </p:sp>
      <p:grpSp>
        <p:nvGrpSpPr>
          <p:cNvPr id="438" name="Google Shape;438;p40"/>
          <p:cNvGrpSpPr/>
          <p:nvPr/>
        </p:nvGrpSpPr>
        <p:grpSpPr>
          <a:xfrm>
            <a:off x="4898269" y="9844703"/>
            <a:ext cx="7875766" cy="1184876"/>
            <a:chOff x="0" y="0"/>
            <a:chExt cx="7875765" cy="1184874"/>
          </a:xfrm>
        </p:grpSpPr>
        <p:pic>
          <p:nvPicPr>
            <p:cNvPr descr="Delta_u,_Delta_v.pdf" id="439" name="Google Shape;439;p40"/>
            <p:cNvPicPr preferRelativeResize="0"/>
            <p:nvPr/>
          </p:nvPicPr>
          <p:blipFill rotWithShape="1">
            <a:blip r:embed="rId4">
              <a:alphaModFix/>
            </a:blip>
            <a:srcRect b="0" l="27129" r="53707" t="58932"/>
            <a:stretch/>
          </p:blipFill>
          <p:spPr>
            <a:xfrm>
              <a:off x="136018" y="598278"/>
              <a:ext cx="1934701" cy="40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box_argmin.pdf" id="440" name="Google Shape;440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934079" cy="585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elta_u,_Delta_v.pdf" id="441" name="Google Shape;441;p40"/>
            <p:cNvPicPr preferRelativeResize="0"/>
            <p:nvPr/>
          </p:nvPicPr>
          <p:blipFill rotWithShape="1">
            <a:blip r:embed="rId4">
              <a:alphaModFix/>
            </a:blip>
            <a:srcRect b="0" l="44340" r="0" t="0"/>
            <a:stretch/>
          </p:blipFill>
          <p:spPr>
            <a:xfrm>
              <a:off x="2256250" y="191218"/>
              <a:ext cx="5619515" cy="9936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d_=_b.pdf" id="442" name="Google Shape;442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53997" y="11195835"/>
            <a:ext cx="2475921" cy="61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443" name="Google Shape;443;p40"/>
          <p:cNvPicPr preferRelativeResize="0"/>
          <p:nvPr/>
        </p:nvPicPr>
        <p:blipFill rotWithShape="1">
          <a:blip r:embed="rId7">
            <a:alphaModFix/>
          </a:blip>
          <a:srcRect b="0" l="51583" r="0" t="0"/>
          <a:stretch/>
        </p:blipFill>
        <p:spPr>
          <a:xfrm>
            <a:off x="15070984" y="12061881"/>
            <a:ext cx="4243957" cy="622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444" name="Google Shape;444;p40"/>
          <p:cNvPicPr preferRelativeResize="0"/>
          <p:nvPr/>
        </p:nvPicPr>
        <p:blipFill rotWithShape="1">
          <a:blip r:embed="rId7">
            <a:alphaModFix/>
          </a:blip>
          <a:srcRect b="0" l="0" r="50388" t="0"/>
          <a:stretch/>
        </p:blipFill>
        <p:spPr>
          <a:xfrm>
            <a:off x="8369948" y="12063469"/>
            <a:ext cx="4327811" cy="61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Google Shape;449;p42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42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Idea #2: Multi-scale estimation</a:t>
            </a:r>
            <a:endParaRPr/>
          </a:p>
        </p:txBody>
      </p:sp>
      <p:sp>
        <p:nvSpPr>
          <p:cNvPr id="451" name="Google Shape;451;p42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3" id="452" name="Google Shape;4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1450" y="7318375"/>
            <a:ext cx="7312026" cy="548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453" name="Google Shape;45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0650" y="1981200"/>
            <a:ext cx="7312026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454" name="Google Shape;45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9650" y="1981200"/>
            <a:ext cx="7312026" cy="5483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455" name="Google Shape;45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5050" y="7191375"/>
            <a:ext cx="7312026" cy="548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2"/>
          <p:cNvSpPr txBox="1"/>
          <p:nvPr/>
        </p:nvSpPr>
        <p:spPr>
          <a:xfrm>
            <a:off x="15750361" y="12973050"/>
            <a:ext cx="8255442" cy="478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Khurram Hassan-Shafique CAP5415 Computer Vision 2003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/>
        </p:nvSpPr>
        <p:spPr>
          <a:xfrm>
            <a:off x="2555133" y="5789262"/>
            <a:ext cx="18591531" cy="6667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8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 each iteration </a:t>
            </a:r>
            <a:r>
              <a:rPr b="0" i="1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</a:t>
            </a:r>
            <a:endParaRPr/>
          </a:p>
          <a:p>
            <a:pPr indent="-317500" lvl="6" marL="990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AutoNum type="arabicPeriod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Linearize around current solution. Find an update for problem:</a:t>
            </a: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b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by solving linear least squares problem for each pixel:</a:t>
            </a:r>
            <a:endParaRPr/>
          </a:p>
          <a:p>
            <a:pPr indent="-317500" lvl="6" marL="990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AutoNum type="arabicPeriod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Apply updates:                              and</a:t>
            </a:r>
            <a:endParaRPr/>
          </a:p>
        </p:txBody>
      </p:sp>
      <p:cxnSp>
        <p:nvCxnSpPr>
          <p:cNvPr id="462" name="Google Shape;462;p43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43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Idea #2: Multi-scale estimation</a:t>
            </a:r>
            <a:endParaRPr/>
          </a:p>
        </p:txBody>
      </p:sp>
      <p:sp>
        <p:nvSpPr>
          <p:cNvPr id="464" name="Google Shape;464;p43"/>
          <p:cNvSpPr txBox="1"/>
          <p:nvPr/>
        </p:nvSpPr>
        <p:spPr>
          <a:xfrm>
            <a:off x="3613785" y="18085960"/>
            <a:ext cx="1784986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Solve:</a:t>
            </a:r>
            <a:endParaRPr/>
          </a:p>
        </p:txBody>
      </p:sp>
      <p:grpSp>
        <p:nvGrpSpPr>
          <p:cNvPr id="465" name="Google Shape;465;p43"/>
          <p:cNvGrpSpPr/>
          <p:nvPr/>
        </p:nvGrpSpPr>
        <p:grpSpPr>
          <a:xfrm>
            <a:off x="5330069" y="8663603"/>
            <a:ext cx="7875766" cy="1184876"/>
            <a:chOff x="0" y="0"/>
            <a:chExt cx="7875765" cy="1184874"/>
          </a:xfrm>
        </p:grpSpPr>
        <p:pic>
          <p:nvPicPr>
            <p:cNvPr descr="Delta_u,_Delta_v.pdf" id="466" name="Google Shape;466;p43"/>
            <p:cNvPicPr preferRelativeResize="0"/>
            <p:nvPr/>
          </p:nvPicPr>
          <p:blipFill rotWithShape="1">
            <a:blip r:embed="rId3">
              <a:alphaModFix/>
            </a:blip>
            <a:srcRect b="0" l="27129" r="53707" t="58932"/>
            <a:stretch/>
          </p:blipFill>
          <p:spPr>
            <a:xfrm>
              <a:off x="136018" y="598278"/>
              <a:ext cx="1934701" cy="40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box_argmin.pdf" id="467" name="Google Shape;467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934079" cy="585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elta_u,_Delta_v.pdf" id="468" name="Google Shape;468;p43"/>
            <p:cNvPicPr preferRelativeResize="0"/>
            <p:nvPr/>
          </p:nvPicPr>
          <p:blipFill rotWithShape="1">
            <a:blip r:embed="rId3">
              <a:alphaModFix/>
            </a:blip>
            <a:srcRect b="0" l="44340" r="0" t="0"/>
            <a:stretch/>
          </p:blipFill>
          <p:spPr>
            <a:xfrm>
              <a:off x="2256250" y="191218"/>
              <a:ext cx="5619515" cy="9936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d_=_b.pdf" id="469" name="Google Shape;46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84197" y="9976635"/>
            <a:ext cx="2475921" cy="61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470" name="Google Shape;470;p43"/>
          <p:cNvPicPr preferRelativeResize="0"/>
          <p:nvPr/>
        </p:nvPicPr>
        <p:blipFill rotWithShape="1">
          <a:blip r:embed="rId6">
            <a:alphaModFix/>
          </a:blip>
          <a:srcRect b="0" l="51583" r="0" t="0"/>
          <a:stretch/>
        </p:blipFill>
        <p:spPr>
          <a:xfrm>
            <a:off x="15375784" y="10918881"/>
            <a:ext cx="4243957" cy="622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471" name="Google Shape;471;p43"/>
          <p:cNvPicPr preferRelativeResize="0"/>
          <p:nvPr/>
        </p:nvPicPr>
        <p:blipFill rotWithShape="1">
          <a:blip r:embed="rId6">
            <a:alphaModFix/>
          </a:blip>
          <a:srcRect b="0" l="0" r="50388" t="0"/>
          <a:stretch/>
        </p:blipFill>
        <p:spPr>
          <a:xfrm>
            <a:off x="8547748" y="10920469"/>
            <a:ext cx="4327811" cy="61931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3"/>
          <p:cNvSpPr txBox="1"/>
          <p:nvPr/>
        </p:nvSpPr>
        <p:spPr>
          <a:xfrm>
            <a:off x="1869333" y="4014789"/>
            <a:ext cx="13773151" cy="263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Initialize flow: u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v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scale </a:t>
            </a:r>
            <a:r>
              <a:rPr b="1" i="1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1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Gaussian pyramid: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Initialize flow from previous (coarser) scale</a:t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18084800" y="2565400"/>
            <a:ext cx="1270000" cy="1270000"/>
          </a:xfrm>
          <a:prstGeom prst="rect">
            <a:avLst/>
          </a:prstGeom>
          <a:solidFill>
            <a:srgbClr val="E7E7E7"/>
          </a:solidFill>
          <a:ln cap="flat" cmpd="sng" w="381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43"/>
          <p:cNvSpPr/>
          <p:nvPr/>
        </p:nvSpPr>
        <p:spPr>
          <a:xfrm>
            <a:off x="17483038" y="4247796"/>
            <a:ext cx="2540001" cy="2540001"/>
          </a:xfrm>
          <a:prstGeom prst="rect">
            <a:avLst/>
          </a:prstGeom>
          <a:solidFill>
            <a:srgbClr val="E7E7E7"/>
          </a:solidFill>
          <a:ln cap="flat" cmpd="sng" w="381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5" name="Google Shape;475;p43"/>
          <p:cNvCxnSpPr/>
          <p:nvPr/>
        </p:nvCxnSpPr>
        <p:spPr>
          <a:xfrm flipH="1" rot="10800000">
            <a:off x="18579390" y="2994150"/>
            <a:ext cx="349730" cy="34389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cxnSp>
        <p:nvCxnSpPr>
          <p:cNvPr id="476" name="Google Shape;476;p43"/>
          <p:cNvCxnSpPr/>
          <p:nvPr/>
        </p:nvCxnSpPr>
        <p:spPr>
          <a:xfrm flipH="1" rot="10800000">
            <a:off x="18610545" y="4876800"/>
            <a:ext cx="731556" cy="776598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477" name="Google Shape;477;p43"/>
          <p:cNvSpPr/>
          <p:nvPr/>
        </p:nvSpPr>
        <p:spPr>
          <a:xfrm>
            <a:off x="19429412" y="2978378"/>
            <a:ext cx="1165874" cy="1841297"/>
          </a:xfrm>
          <a:custGeom>
            <a:rect b="b" l="l" r="r" t="t"/>
            <a:pathLst>
              <a:path extrusionOk="0" h="21109" w="19717">
                <a:moveTo>
                  <a:pt x="0" y="92"/>
                </a:moveTo>
                <a:cubicBezTo>
                  <a:pt x="6891" y="-491"/>
                  <a:pt x="13637" y="1745"/>
                  <a:pt x="17191" y="5789"/>
                </a:cubicBezTo>
                <a:cubicBezTo>
                  <a:pt x="21600" y="10806"/>
                  <a:pt x="20120" y="17240"/>
                  <a:pt x="13668" y="21109"/>
                </a:cubicBezTo>
              </a:path>
            </a:pathLst>
          </a:custGeom>
          <a:noFill/>
          <a:ln cap="flat" cmpd="sng" w="254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2500947" y="11642409"/>
            <a:ext cx="18560628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317500" lvl="6" marL="990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AutoNum type="arabicPeriod" startAt="3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Extra trick for smoother flow: apply median filter to u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i+1 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and v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i+1</a:t>
            </a:r>
            <a:endParaRPr/>
          </a:p>
        </p:txBody>
      </p:sp>
      <p:sp>
        <p:nvSpPr>
          <p:cNvPr id="479" name="Google Shape;479;p43"/>
          <p:cNvSpPr txBox="1"/>
          <p:nvPr/>
        </p:nvSpPr>
        <p:spPr>
          <a:xfrm>
            <a:off x="14586300" y="5243922"/>
            <a:ext cx="3422262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2x scale</a:t>
            </a:r>
            <a:endParaRPr/>
          </a:p>
        </p:txBody>
      </p:sp>
      <p:sp>
        <p:nvSpPr>
          <p:cNvPr id="480" name="Google Shape;480;p43"/>
          <p:cNvSpPr txBox="1"/>
          <p:nvPr/>
        </p:nvSpPr>
        <p:spPr>
          <a:xfrm>
            <a:off x="20606100" y="3253052"/>
            <a:ext cx="3422262" cy="5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2x flow magnitude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Example</a:t>
            </a:r>
            <a:endParaRPr/>
          </a:p>
        </p:txBody>
      </p:sp>
      <p:sp>
        <p:nvSpPr>
          <p:cNvPr id="486" name="Google Shape;486;p4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2" id="487" name="Google Shape;4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398" y="2590800"/>
            <a:ext cx="5283199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488" name="Google Shape;48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7772402"/>
            <a:ext cx="5283199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489" name="Google Shape;48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4800" y="7772400"/>
            <a:ext cx="5283197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490" name="Google Shape;490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2398" y="8606097"/>
            <a:ext cx="2295001" cy="2295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491" name="Google Shape;49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5600" y="8606097"/>
            <a:ext cx="2286000" cy="2295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4"/>
          <p:cNvSpPr txBox="1"/>
          <p:nvPr/>
        </p:nvSpPr>
        <p:spPr>
          <a:xfrm>
            <a:off x="4665264" y="10996135"/>
            <a:ext cx="3911245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Flow visualization </a:t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11369040" y="11887202"/>
            <a:ext cx="8205725" cy="716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Coarse-to-fine LK with median filtering </a:t>
            </a:r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13497377" y="6553200"/>
            <a:ext cx="3972053" cy="716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Coarse-to-fine LK </a:t>
            </a:r>
            <a:endParaRPr/>
          </a:p>
        </p:txBody>
      </p:sp>
      <p:sp>
        <p:nvSpPr>
          <p:cNvPr id="495" name="Google Shape;495;p44"/>
          <p:cNvSpPr txBox="1"/>
          <p:nvPr/>
        </p:nvSpPr>
        <p:spPr>
          <a:xfrm>
            <a:off x="4762403" y="6576535"/>
            <a:ext cx="3769057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two frames </a:t>
            </a:r>
            <a:endParaRPr/>
          </a:p>
        </p:txBody>
      </p:sp>
      <p:pic>
        <p:nvPicPr>
          <p:cNvPr descr="Picture 7" id="496" name="Google Shape;49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91031" y="2590800"/>
            <a:ext cx="5314315" cy="3985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497" name="Google Shape;497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544796" y="2590800"/>
            <a:ext cx="5314315" cy="39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4"/>
          <p:cNvSpPr txBox="1"/>
          <p:nvPr/>
        </p:nvSpPr>
        <p:spPr>
          <a:xfrm>
            <a:off x="21300439" y="12953440"/>
            <a:ext cx="2866924" cy="678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 Light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Ce Liu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3" name="Google Shape;503;p45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45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Smoothness assumption</a:t>
            </a:r>
            <a:endParaRPr/>
          </a:p>
        </p:txBody>
      </p:sp>
      <p:pic>
        <p:nvPicPr>
          <p:cNvPr descr="Object 4" id="505" name="Google Shape;5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8928" y="14381174"/>
            <a:ext cx="6098544" cy="146365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5"/>
          <p:cNvSpPr txBox="1"/>
          <p:nvPr/>
        </p:nvSpPr>
        <p:spPr>
          <a:xfrm>
            <a:off x="3613785" y="18085960"/>
            <a:ext cx="1784986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Solve:</a:t>
            </a:r>
            <a:endParaRPr/>
          </a:p>
        </p:txBody>
      </p:sp>
      <p:pic>
        <p:nvPicPr>
          <p:cNvPr descr="sum_x,_y_I(x,_y,.pdf" id="507" name="Google Shape;50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938" y="15935225"/>
            <a:ext cx="13190924" cy="146365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4272597" y="14402960"/>
            <a:ext cx="467361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</a:t>
            </a:r>
            <a:endParaRPr/>
          </a:p>
        </p:txBody>
      </p:sp>
      <p:pic>
        <p:nvPicPr>
          <p:cNvPr descr="sum_p_I_1(p)_-_I.pdf" id="509" name="Google Shape;50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15701057"/>
            <a:ext cx="6196148" cy="177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,_v).pdf" id="510" name="Google Shape;51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8873" y="13977213"/>
            <a:ext cx="18851936" cy="169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3" id="511" name="Google Shape;51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6599" y="14348528"/>
            <a:ext cx="4478819" cy="2010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,_v).pdf" id="512" name="Google Shape;512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2348" y="14507567"/>
            <a:ext cx="14922501" cy="1435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_i_+.pdf" id="513" name="Google Shape;513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4" y="14975185"/>
            <a:ext cx="6408767" cy="757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m_x,_y_I(x,_y,.pdf" id="514" name="Google Shape;514;p45"/>
          <p:cNvPicPr preferRelativeResize="0"/>
          <p:nvPr/>
        </p:nvPicPr>
        <p:blipFill rotWithShape="1">
          <a:blip r:embed="rId10">
            <a:alphaModFix/>
          </a:blip>
          <a:srcRect b="0" l="0" r="54375" t="0"/>
          <a:stretch/>
        </p:blipFill>
        <p:spPr>
          <a:xfrm>
            <a:off x="2413975" y="4500364"/>
            <a:ext cx="8922280" cy="1330453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5"/>
          <p:cNvSpPr txBox="1"/>
          <p:nvPr/>
        </p:nvSpPr>
        <p:spPr>
          <a:xfrm>
            <a:off x="1998459" y="2985151"/>
            <a:ext cx="19620231" cy="845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Goal: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minimize matching error + smoothness [Horn and Schunck 1981]</a:t>
            </a:r>
            <a:endParaRPr/>
          </a:p>
        </p:txBody>
      </p:sp>
      <p:pic>
        <p:nvPicPr>
          <p:cNvPr descr="sum_x,_y_I(x,_y,.pdf" id="516" name="Google Shape;516;p45"/>
          <p:cNvPicPr preferRelativeResize="0"/>
          <p:nvPr/>
        </p:nvPicPr>
        <p:blipFill rotWithShape="1">
          <a:blip r:embed="rId10">
            <a:alphaModFix/>
          </a:blip>
          <a:srcRect b="0" l="45154" r="0" t="0"/>
          <a:stretch/>
        </p:blipFill>
        <p:spPr>
          <a:xfrm>
            <a:off x="11244345" y="4500364"/>
            <a:ext cx="10725680" cy="133045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5"/>
          <p:cNvSpPr txBox="1"/>
          <p:nvPr/>
        </p:nvSpPr>
        <p:spPr>
          <a:xfrm>
            <a:off x="2083978" y="7961493"/>
            <a:ext cx="10372091" cy="84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where p and p’ are neighboring pixels</a:t>
            </a:r>
            <a:endParaRPr/>
          </a:p>
        </p:txBody>
      </p:sp>
      <p:pic>
        <p:nvPicPr>
          <p:cNvPr descr="E_d(u,_v).pdf" id="518" name="Google Shape;518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48056" y="6366172"/>
            <a:ext cx="2497986" cy="757587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5"/>
          <p:cNvSpPr txBox="1"/>
          <p:nvPr/>
        </p:nvSpPr>
        <p:spPr>
          <a:xfrm>
            <a:off x="6637770" y="6278577"/>
            <a:ext cx="3183891" cy="84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match cost</a:t>
            </a:r>
            <a:endParaRPr/>
          </a:p>
        </p:txBody>
      </p:sp>
      <p:cxnSp>
        <p:nvCxnSpPr>
          <p:cNvPr id="520" name="Google Shape;520;p45"/>
          <p:cNvCxnSpPr/>
          <p:nvPr/>
        </p:nvCxnSpPr>
        <p:spPr>
          <a:xfrm>
            <a:off x="2181022" y="6225430"/>
            <a:ext cx="9062943" cy="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</p:cxnSp>
      <p:cxnSp>
        <p:nvCxnSpPr>
          <p:cNvPr id="521" name="Google Shape;521;p45"/>
          <p:cNvCxnSpPr/>
          <p:nvPr/>
        </p:nvCxnSpPr>
        <p:spPr>
          <a:xfrm flipH="1" rot="10800000">
            <a:off x="2142922" y="5951859"/>
            <a:ext cx="1" cy="293143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</p:cxnSp>
      <p:cxnSp>
        <p:nvCxnSpPr>
          <p:cNvPr id="522" name="Google Shape;522;p45"/>
          <p:cNvCxnSpPr/>
          <p:nvPr/>
        </p:nvCxnSpPr>
        <p:spPr>
          <a:xfrm flipH="1" rot="10800000">
            <a:off x="11265755" y="5951859"/>
            <a:ext cx="1" cy="293143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</p:cxnSp>
      <p:grpSp>
        <p:nvGrpSpPr>
          <p:cNvPr id="523" name="Google Shape;523;p45"/>
          <p:cNvGrpSpPr/>
          <p:nvPr/>
        </p:nvGrpSpPr>
        <p:grpSpPr>
          <a:xfrm>
            <a:off x="12112421" y="5951857"/>
            <a:ext cx="9694337" cy="1176317"/>
            <a:chOff x="0" y="-2"/>
            <a:chExt cx="9694335" cy="1176315"/>
          </a:xfrm>
        </p:grpSpPr>
        <p:pic>
          <p:nvPicPr>
            <p:cNvPr descr="E_s(u,_v).pdf" id="524" name="Google Shape;524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975648" y="414312"/>
              <a:ext cx="2491947" cy="762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45"/>
            <p:cNvSpPr txBox="1"/>
            <p:nvPr/>
          </p:nvSpPr>
          <p:spPr>
            <a:xfrm>
              <a:off x="4685349" y="326717"/>
              <a:ext cx="3465196" cy="845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Helvetica Neue Light"/>
                <a:buNone/>
              </a:pPr>
              <a:r>
                <a:rPr b="0" i="0" lang="en-US" sz="50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smoothness</a:t>
              </a:r>
              <a:endParaRPr/>
            </a:p>
          </p:txBody>
        </p:sp>
        <p:grpSp>
          <p:nvGrpSpPr>
            <p:cNvPr id="526" name="Google Shape;526;p45"/>
            <p:cNvGrpSpPr/>
            <p:nvPr/>
          </p:nvGrpSpPr>
          <p:grpSpPr>
            <a:xfrm>
              <a:off x="0" y="-2"/>
              <a:ext cx="9694335" cy="293145"/>
              <a:chOff x="-571500" y="-1"/>
              <a:chExt cx="9694334" cy="293143"/>
            </a:xfrm>
          </p:grpSpPr>
          <p:cxnSp>
            <p:nvCxnSpPr>
              <p:cNvPr id="527" name="Google Shape;527;p45"/>
              <p:cNvCxnSpPr/>
              <p:nvPr/>
            </p:nvCxnSpPr>
            <p:spPr>
              <a:xfrm>
                <a:off x="-467917" y="273570"/>
                <a:ext cx="9568960" cy="1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ot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45"/>
              <p:cNvCxnSpPr/>
              <p:nvPr/>
            </p:nvCxnSpPr>
            <p:spPr>
              <a:xfrm rot="10800000">
                <a:off x="-571500" y="-1"/>
                <a:ext cx="0" cy="293143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ot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45"/>
              <p:cNvCxnSpPr/>
              <p:nvPr/>
            </p:nvCxnSpPr>
            <p:spPr>
              <a:xfrm flipH="1" rot="10800000">
                <a:off x="9122833" y="-1"/>
                <a:ext cx="1" cy="293143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ot"/>
                <a:miter lim="400000"/>
                <a:headEnd len="sm" w="sm" type="none"/>
                <a:tailEnd len="sm" w="sm" type="none"/>
              </a:ln>
            </p:spPr>
          </p:cxnSp>
        </p:grpSp>
      </p:grpSp>
      <p:sp>
        <p:nvSpPr>
          <p:cNvPr id="530" name="Google Shape;530;p45"/>
          <p:cNvSpPr txBox="1"/>
          <p:nvPr/>
        </p:nvSpPr>
        <p:spPr>
          <a:xfrm>
            <a:off x="1411927" y="9343424"/>
            <a:ext cx="17666125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61458" lvl="1" marL="12964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0"/>
              <a:buFont typeface="Helvetica Neue Light"/>
              <a:buChar char="•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 solve using gradient descent or nonlinear least squares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2" id="536" name="Google Shape;53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5328" y="3329466"/>
            <a:ext cx="5283199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537" name="Google Shape;53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898" y="9439798"/>
            <a:ext cx="2295001" cy="2295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538" name="Google Shape;53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099" y="9439798"/>
            <a:ext cx="2286001" cy="2295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 txBox="1"/>
          <p:nvPr/>
        </p:nvSpPr>
        <p:spPr>
          <a:xfrm>
            <a:off x="4475764" y="11829836"/>
            <a:ext cx="3911245" cy="716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Flow visualization </a:t>
            </a:r>
            <a:endParaRPr/>
          </a:p>
        </p:txBody>
      </p:sp>
      <p:sp>
        <p:nvSpPr>
          <p:cNvPr id="540" name="Google Shape;540;p46"/>
          <p:cNvSpPr txBox="1"/>
          <p:nvPr/>
        </p:nvSpPr>
        <p:spPr>
          <a:xfrm>
            <a:off x="13040847" y="12065000"/>
            <a:ext cx="3972053" cy="716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Coarse-to-fine LK </a:t>
            </a:r>
            <a:endParaRPr/>
          </a:p>
        </p:txBody>
      </p:sp>
      <p:sp>
        <p:nvSpPr>
          <p:cNvPr id="541" name="Google Shape;541;p46"/>
          <p:cNvSpPr txBox="1"/>
          <p:nvPr/>
        </p:nvSpPr>
        <p:spPr>
          <a:xfrm>
            <a:off x="4525333" y="7315202"/>
            <a:ext cx="3769057" cy="716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two frames </a:t>
            </a:r>
            <a:endParaRPr/>
          </a:p>
        </p:txBody>
      </p:sp>
      <p:pic>
        <p:nvPicPr>
          <p:cNvPr descr="Picture 7" id="542" name="Google Shape;54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8039" y="8419062"/>
            <a:ext cx="4892365" cy="366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543" name="Google Shape;54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904944" y="8419062"/>
            <a:ext cx="4892365" cy="366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" id="544" name="Google Shape;54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14" y="3352800"/>
            <a:ext cx="4895889" cy="3671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545" name="Google Shape;545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916115" y="3352801"/>
            <a:ext cx="4895885" cy="367191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 txBox="1"/>
          <p:nvPr/>
        </p:nvSpPr>
        <p:spPr>
          <a:xfrm>
            <a:off x="13223651" y="7033736"/>
            <a:ext cx="3167838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Horn-Schunck</a:t>
            </a:r>
            <a:endParaRPr/>
          </a:p>
        </p:txBody>
      </p:sp>
      <p:sp>
        <p:nvSpPr>
          <p:cNvPr id="547" name="Google Shape;547;p46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Smoothness assumption</a:t>
            </a:r>
            <a:endParaRPr/>
          </a:p>
        </p:txBody>
      </p:sp>
      <p:sp>
        <p:nvSpPr>
          <p:cNvPr id="548" name="Google Shape;548;p46"/>
          <p:cNvSpPr txBox="1"/>
          <p:nvPr/>
        </p:nvSpPr>
        <p:spPr>
          <a:xfrm>
            <a:off x="21300439" y="12953440"/>
            <a:ext cx="2866924" cy="678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 Light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Ce Liu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7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554" name="Google Shape;554;p47"/>
          <p:cNvSpPr txBox="1"/>
          <p:nvPr/>
        </p:nvSpPr>
        <p:spPr>
          <a:xfrm>
            <a:off x="4436498" y="14382106"/>
            <a:ext cx="5311191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Warp image 1 to image 2</a:t>
            </a:r>
            <a:endParaRPr/>
          </a:p>
        </p:txBody>
      </p:sp>
      <p:sp>
        <p:nvSpPr>
          <p:cNvPr id="555" name="Google Shape;555;p47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Warping</a:t>
            </a:r>
            <a:endParaRPr/>
          </a:p>
        </p:txBody>
      </p:sp>
      <p:pic>
        <p:nvPicPr>
          <p:cNvPr descr="Picture 3" id="556" name="Google Shape;55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8290" y="3120887"/>
            <a:ext cx="5283199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557" name="Google Shape;55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25205" y="3120887"/>
            <a:ext cx="5283197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7"/>
          <p:cNvSpPr txBox="1"/>
          <p:nvPr/>
        </p:nvSpPr>
        <p:spPr>
          <a:xfrm>
            <a:off x="4532382" y="7300653"/>
            <a:ext cx="722206" cy="12482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222" l="-61402" r="-52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559" name="Google Shape;559;p47"/>
          <p:cNvSpPr txBox="1"/>
          <p:nvPr/>
        </p:nvSpPr>
        <p:spPr>
          <a:xfrm>
            <a:off x="10038182" y="7451633"/>
            <a:ext cx="3343416" cy="12003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206" l="-14393" r="-6816" t="-20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pic>
        <p:nvPicPr>
          <p:cNvPr descr="Picture 2" id="560" name="Google Shape;560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25205" y="3120887"/>
            <a:ext cx="5283199" cy="396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561" name="Google Shape;56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25205" y="3120887"/>
            <a:ext cx="5283197" cy="3962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47"/>
          <p:cNvGrpSpPr/>
          <p:nvPr/>
        </p:nvGrpSpPr>
        <p:grpSpPr>
          <a:xfrm>
            <a:off x="16325205" y="3120886"/>
            <a:ext cx="5283200" cy="7318968"/>
            <a:chOff x="0" y="0"/>
            <a:chExt cx="5283199" cy="7318966"/>
          </a:xfrm>
        </p:grpSpPr>
        <p:pic>
          <p:nvPicPr>
            <p:cNvPr descr="Picture 2" id="563" name="Google Shape;563;p4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5283199" cy="3962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47"/>
            <p:cNvSpPr txBox="1"/>
            <p:nvPr/>
          </p:nvSpPr>
          <p:spPr>
            <a:xfrm>
              <a:off x="2754910" y="6312368"/>
              <a:ext cx="1440943" cy="1006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 Light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565" name="Google Shape;565;p47"/>
          <p:cNvCxnSpPr/>
          <p:nvPr/>
        </p:nvCxnSpPr>
        <p:spPr>
          <a:xfrm>
            <a:off x="14612208" y="5162979"/>
            <a:ext cx="1430895" cy="1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pic>
        <p:nvPicPr>
          <p:cNvPr descr="Picture 2" id="566" name="Google Shape;566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36185" y="3120887"/>
            <a:ext cx="5283199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7"/>
          <p:cNvSpPr txBox="1"/>
          <p:nvPr/>
        </p:nvSpPr>
        <p:spPr>
          <a:xfrm>
            <a:off x="1689100" y="9342483"/>
            <a:ext cx="21005800" cy="341540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2591" l="-1690" r="0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pic>
        <p:nvPicPr>
          <p:cNvPr id="568" name="Google Shape;568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25200" y="7300650"/>
            <a:ext cx="6941503" cy="12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8"/>
          <p:cNvSpPr txBox="1"/>
          <p:nvPr/>
        </p:nvSpPr>
        <p:spPr>
          <a:xfrm>
            <a:off x="2555133" y="5516306"/>
            <a:ext cx="19819972" cy="79754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9" r="-26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cxnSp>
        <p:nvCxnSpPr>
          <p:cNvPr id="574" name="Google Shape;574;p48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48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Flow with warping</a:t>
            </a:r>
            <a:endParaRPr/>
          </a:p>
        </p:txBody>
      </p:sp>
      <p:sp>
        <p:nvSpPr>
          <p:cNvPr id="576" name="Google Shape;576;p48"/>
          <p:cNvSpPr txBox="1"/>
          <p:nvPr/>
        </p:nvSpPr>
        <p:spPr>
          <a:xfrm>
            <a:off x="3613785" y="18085960"/>
            <a:ext cx="1784986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Solve:</a:t>
            </a:r>
            <a:endParaRPr/>
          </a:p>
        </p:txBody>
      </p:sp>
      <p:grpSp>
        <p:nvGrpSpPr>
          <p:cNvPr id="577" name="Google Shape;577;p48"/>
          <p:cNvGrpSpPr/>
          <p:nvPr/>
        </p:nvGrpSpPr>
        <p:grpSpPr>
          <a:xfrm>
            <a:off x="5330069" y="9679603"/>
            <a:ext cx="2070720" cy="1006344"/>
            <a:chOff x="0" y="0"/>
            <a:chExt cx="2070719" cy="1006343"/>
          </a:xfrm>
        </p:grpSpPr>
        <p:pic>
          <p:nvPicPr>
            <p:cNvPr descr="Delta_u,_Delta_v.pdf" id="578" name="Google Shape;578;p48"/>
            <p:cNvPicPr preferRelativeResize="0"/>
            <p:nvPr/>
          </p:nvPicPr>
          <p:blipFill rotWithShape="1">
            <a:blip r:embed="rId4">
              <a:alphaModFix/>
            </a:blip>
            <a:srcRect b="0" l="27129" r="53707" t="58932"/>
            <a:stretch/>
          </p:blipFill>
          <p:spPr>
            <a:xfrm>
              <a:off x="136018" y="598278"/>
              <a:ext cx="1934701" cy="40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box_argmin.pdf" id="579" name="Google Shape;579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934079" cy="5855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d_=_b.pdf" id="580" name="Google Shape;58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84197" y="10865635"/>
            <a:ext cx="2475921" cy="61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581" name="Google Shape;581;p48"/>
          <p:cNvPicPr preferRelativeResize="0"/>
          <p:nvPr/>
        </p:nvPicPr>
        <p:blipFill rotWithShape="1">
          <a:blip r:embed="rId7">
            <a:alphaModFix/>
          </a:blip>
          <a:srcRect b="0" l="51583" r="0" t="0"/>
          <a:stretch/>
        </p:blipFill>
        <p:spPr>
          <a:xfrm>
            <a:off x="15375784" y="11807881"/>
            <a:ext cx="4243957" cy="622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i+1_=_u_i_+_De.pdf" id="582" name="Google Shape;582;p48"/>
          <p:cNvPicPr preferRelativeResize="0"/>
          <p:nvPr/>
        </p:nvPicPr>
        <p:blipFill rotWithShape="1">
          <a:blip r:embed="rId7">
            <a:alphaModFix/>
          </a:blip>
          <a:srcRect b="0" l="0" r="50388" t="0"/>
          <a:stretch/>
        </p:blipFill>
        <p:spPr>
          <a:xfrm>
            <a:off x="8547748" y="11809469"/>
            <a:ext cx="4327811" cy="619318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/>
        </p:nvSpPr>
        <p:spPr>
          <a:xfrm>
            <a:off x="1869333" y="3839209"/>
            <a:ext cx="12195176" cy="3497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Initialize flow: u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v</a:t>
            </a:r>
            <a:r>
              <a:rPr b="0" baseline="-2500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0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(x, y)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 each scale </a:t>
            </a:r>
            <a:r>
              <a:rPr b="0" i="1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  Initialize flow from previous (coarser) scale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 </a:t>
            </a:r>
            <a:endParaRPr/>
          </a:p>
        </p:txBody>
      </p:sp>
      <p:pic>
        <p:nvPicPr>
          <p:cNvPr descr="mathcal_L_(_Delt.pdf" id="584" name="Google Shape;584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9491" y="9726333"/>
            <a:ext cx="3453581" cy="77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9" name="Google Shape;589;p58"/>
          <p:cNvCxnSpPr/>
          <p:nvPr/>
        </p:nvCxnSpPr>
        <p:spPr>
          <a:xfrm>
            <a:off x="3048000" y="0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58"/>
          <p:cNvSpPr txBox="1"/>
          <p:nvPr>
            <p:ph type="title"/>
          </p:nvPr>
        </p:nvSpPr>
        <p:spPr>
          <a:xfrm>
            <a:off x="1689100" y="-254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Simple application: slow motion</a:t>
            </a:r>
            <a:endParaRPr/>
          </a:p>
        </p:txBody>
      </p:sp>
      <p:pic>
        <p:nvPicPr>
          <p:cNvPr descr="Object 4" id="591" name="Google Shape;59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8928" y="14381174"/>
            <a:ext cx="6098545" cy="146365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/>
          <p:nvPr/>
        </p:nvSpPr>
        <p:spPr>
          <a:xfrm>
            <a:off x="3613785" y="18085960"/>
            <a:ext cx="178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Solve:</a:t>
            </a:r>
            <a:endParaRPr/>
          </a:p>
        </p:txBody>
      </p:sp>
      <p:pic>
        <p:nvPicPr>
          <p:cNvPr descr="sum_x,_y_I(x,_y,.pdf" id="593" name="Google Shape;59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938" y="15935225"/>
            <a:ext cx="13190922" cy="146365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8"/>
          <p:cNvSpPr txBox="1"/>
          <p:nvPr/>
        </p:nvSpPr>
        <p:spPr>
          <a:xfrm>
            <a:off x="4272597" y="14402960"/>
            <a:ext cx="467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</a:t>
            </a:r>
            <a:endParaRPr/>
          </a:p>
        </p:txBody>
      </p:sp>
      <p:pic>
        <p:nvPicPr>
          <p:cNvPr descr="sum_p_I_1(p)_-_I.pdf" id="595" name="Google Shape;59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15701057"/>
            <a:ext cx="6196149" cy="177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,_v).pdf" id="596" name="Google Shape;596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8873" y="13977213"/>
            <a:ext cx="18851940" cy="169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ject 3" id="597" name="Google Shape;597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6599" y="14348528"/>
            <a:ext cx="4478818" cy="2010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,_v).pdf" id="598" name="Google Shape;598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2348" y="14507567"/>
            <a:ext cx="14922500" cy="1435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hcal_L_(u_i_+.pdf" id="599" name="Google Shape;599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4" y="14975185"/>
            <a:ext cx="6408768" cy="757586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8"/>
          <p:cNvSpPr txBox="1"/>
          <p:nvPr/>
        </p:nvSpPr>
        <p:spPr>
          <a:xfrm>
            <a:off x="10313578" y="2775984"/>
            <a:ext cx="13191000" cy="87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61457" lvl="1" marL="129645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Helvetica Neue Light"/>
              <a:buChar char="•"/>
            </a:pPr>
            <a: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Flow used in lots of familiar places!</a:t>
            </a:r>
            <a:endParaRPr/>
          </a:p>
          <a:p>
            <a:pPr indent="-661457" lvl="2" marL="1931457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Helvetica Neue Light"/>
              <a:buChar char="•"/>
            </a:pPr>
            <a: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E.g., video compression, denoising, action recognition, …</a:t>
            </a:r>
            <a:b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61457" lvl="1" marL="1296457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Helvetica Neue Light"/>
              <a:buChar char="•"/>
            </a:pPr>
            <a: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One application: use flow to estimate where pixel will be </a:t>
            </a:r>
            <a:r>
              <a:rPr b="0" i="1" lang="en-US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</a:t>
            </a:r>
            <a: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frames</a:t>
            </a:r>
            <a:b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61457" lvl="1" marL="1296457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Helvetica Neue Light"/>
              <a:buChar char="•"/>
            </a:pPr>
            <a:r>
              <a:rPr b="0" i="0" lang="en-US" sz="6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Synthesize intermediate frames</a:t>
            </a:r>
            <a:endParaRPr/>
          </a:p>
        </p:txBody>
      </p:sp>
      <p:grpSp>
        <p:nvGrpSpPr>
          <p:cNvPr id="601" name="Google Shape;601;p58"/>
          <p:cNvGrpSpPr/>
          <p:nvPr/>
        </p:nvGrpSpPr>
        <p:grpSpPr>
          <a:xfrm>
            <a:off x="729245" y="3723728"/>
            <a:ext cx="8859151" cy="8148040"/>
            <a:chOff x="0" y="0"/>
            <a:chExt cx="8859151" cy="8148040"/>
          </a:xfrm>
        </p:grpSpPr>
        <p:grpSp>
          <p:nvGrpSpPr>
            <p:cNvPr id="602" name="Google Shape;602;p58"/>
            <p:cNvGrpSpPr/>
            <p:nvPr/>
          </p:nvGrpSpPr>
          <p:grpSpPr>
            <a:xfrm>
              <a:off x="0" y="0"/>
              <a:ext cx="8859151" cy="8148040"/>
              <a:chOff x="0" y="0"/>
              <a:chExt cx="8859151" cy="8148040"/>
            </a:xfrm>
          </p:grpSpPr>
          <p:sp>
            <p:nvSpPr>
              <p:cNvPr id="603" name="Google Shape;603;p58"/>
              <p:cNvSpPr/>
              <p:nvPr/>
            </p:nvSpPr>
            <p:spPr>
              <a:xfrm>
                <a:off x="1451851" y="0"/>
                <a:ext cx="7407300" cy="7407300"/>
              </a:xfrm>
              <a:prstGeom prst="rect">
                <a:avLst/>
              </a:prstGeom>
              <a:solidFill>
                <a:srgbClr val="E7E7E7"/>
              </a:solidFill>
              <a:ln cap="flat" cmpd="sng" w="381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Helvetica Neue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5E5E5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604" name="Google Shape;604;p58"/>
              <p:cNvSpPr/>
              <p:nvPr/>
            </p:nvSpPr>
            <p:spPr>
              <a:xfrm>
                <a:off x="0" y="740740"/>
                <a:ext cx="7407300" cy="7407300"/>
              </a:xfrm>
              <a:prstGeom prst="rect">
                <a:avLst/>
              </a:prstGeom>
              <a:solidFill>
                <a:srgbClr val="E7E7E7"/>
              </a:solidFill>
              <a:ln cap="flat" cmpd="sng" w="381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Helvetica Neue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5E5E5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cxnSp>
          <p:nvCxnSpPr>
            <p:cNvPr id="605" name="Google Shape;605;p58"/>
            <p:cNvCxnSpPr/>
            <p:nvPr/>
          </p:nvCxnSpPr>
          <p:spPr>
            <a:xfrm flipH="1" rot="10800000">
              <a:off x="2497556" y="2468407"/>
              <a:ext cx="2413200" cy="198330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miter lim="400000"/>
              <a:headEnd len="med" w="med" type="oval"/>
              <a:tailEnd len="med" w="med" type="triangle"/>
            </a:ln>
          </p:spPr>
        </p:cxnSp>
        <p:sp>
          <p:nvSpPr>
            <p:cNvPr id="606" name="Google Shape;606;p58"/>
            <p:cNvSpPr txBox="1"/>
            <p:nvPr/>
          </p:nvSpPr>
          <p:spPr>
            <a:xfrm>
              <a:off x="1683838" y="4570457"/>
              <a:ext cx="50859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Helvetica Neue Light"/>
                <a:buNone/>
              </a:pPr>
              <a:r>
                <a:rPr b="0" i="0" lang="en-US" sz="50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(x, y) at time t-1</a:t>
              </a:r>
              <a:endParaRPr/>
            </a:p>
          </p:txBody>
        </p:sp>
        <p:sp>
          <p:nvSpPr>
            <p:cNvPr id="607" name="Google Shape;607;p58"/>
            <p:cNvSpPr txBox="1"/>
            <p:nvPr/>
          </p:nvSpPr>
          <p:spPr>
            <a:xfrm>
              <a:off x="838172" y="1104789"/>
              <a:ext cx="60510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Helvetica Neue Light"/>
                <a:buNone/>
              </a:pPr>
              <a:r>
                <a:rPr b="0" i="0" lang="en-US" sz="50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(x + u, y + v) at time t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8327b6948d_0_84"/>
          <p:cNvSpPr txBox="1"/>
          <p:nvPr>
            <p:ph type="title"/>
          </p:nvPr>
        </p:nvSpPr>
        <p:spPr>
          <a:xfrm>
            <a:off x="1689100" y="-25400"/>
            <a:ext cx="21005700" cy="2286000"/>
          </a:xfrm>
          <a:prstGeom prst="rect">
            <a:avLst/>
          </a:prstGeom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3" name="Google Shape;613;g38327b6948d_0_84" title="superslo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863" y="457755"/>
            <a:ext cx="23086001" cy="129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618" name="Google Shape;61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100" y="4178300"/>
            <a:ext cx="21005800" cy="4982343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9"/>
          <p:cNvSpPr txBox="1"/>
          <p:nvPr/>
        </p:nvSpPr>
        <p:spPr>
          <a:xfrm>
            <a:off x="17658714" y="12531409"/>
            <a:ext cx="6338571" cy="845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[Teed and Deng, 2021]</a:t>
            </a:r>
            <a:endParaRPr/>
          </a:p>
        </p:txBody>
      </p:sp>
      <p:sp>
        <p:nvSpPr>
          <p:cNvPr id="620" name="Google Shape;620;p59"/>
          <p:cNvSpPr txBox="1"/>
          <p:nvPr/>
        </p:nvSpPr>
        <p:spPr>
          <a:xfrm>
            <a:off x="1689100" y="9451150"/>
            <a:ext cx="21005700" cy="3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Helvetica Neue Light"/>
              <a:buNone/>
            </a:pPr>
            <a:r>
              <a:rPr b="0" i="0" lang="en-US" sz="6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 optical flow to find correspondences between frames.</a:t>
            </a:r>
            <a:endParaRPr b="0" i="0" sz="62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Helvetica Neue Light"/>
              <a:buNone/>
            </a:pPr>
            <a:r>
              <a:rPr lang="en-US" sz="6200">
                <a:latin typeface="Helvetica Neue Light"/>
                <a:ea typeface="Helvetica Neue Light"/>
                <a:cs typeface="Helvetica Neue Light"/>
                <a:sym typeface="Helvetica Neue Light"/>
              </a:rPr>
              <a:t>Also called “passive structure from motion”</a:t>
            </a:r>
            <a:br>
              <a:rPr b="0" i="0" lang="en-US" sz="6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/>
          </a:p>
        </p:txBody>
      </p:sp>
      <p:sp>
        <p:nvSpPr>
          <p:cNvPr id="621" name="Google Shape;621;p59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Structure from motion with flow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8327b6948d_0_4"/>
          <p:cNvSpPr txBox="1"/>
          <p:nvPr>
            <p:ph type="title"/>
          </p:nvPr>
        </p:nvSpPr>
        <p:spPr>
          <a:xfrm>
            <a:off x="1689100" y="-25400"/>
            <a:ext cx="21005700" cy="2286000"/>
          </a:xfrm>
          <a:prstGeom prst="rect">
            <a:avLst/>
          </a:prstGeom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Passive Structure From Motion</a:t>
            </a:r>
            <a:endParaRPr/>
          </a:p>
        </p:txBody>
      </p:sp>
      <p:sp>
        <p:nvSpPr>
          <p:cNvPr id="627" name="Google Shape;627;g38327b6948d_0_4"/>
          <p:cNvSpPr txBox="1"/>
          <p:nvPr/>
        </p:nvSpPr>
        <p:spPr>
          <a:xfrm>
            <a:off x="1171191" y="3587193"/>
            <a:ext cx="5559000" cy="84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Helvetica Neue"/>
                <a:ea typeface="Helvetica Neue"/>
                <a:cs typeface="Helvetica Neue"/>
                <a:sym typeface="Helvetica Neue"/>
              </a:rPr>
              <a:t>The camera stay still but the scene moves</a:t>
            </a:r>
            <a:endParaRPr sz="6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Helvetica Neue"/>
                <a:ea typeface="Helvetica Neue"/>
                <a:cs typeface="Helvetica Neue"/>
                <a:sym typeface="Helvetica Neue"/>
              </a:rPr>
              <a:t>The same equations can estimate camera movement and depth!</a:t>
            </a:r>
            <a:endParaRPr sz="6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628" name="Google Shape;628;g38327b6948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9801" y="8049639"/>
            <a:ext cx="1879601" cy="1981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29" name="Google Shape;629;g38327b6948d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6819" y="8784650"/>
            <a:ext cx="2057401" cy="1879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30" name="Google Shape;630;g38327b6948d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2497" y="7902002"/>
            <a:ext cx="1930401" cy="167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31" name="Google Shape;631;g38327b6948d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66299" y="3206175"/>
            <a:ext cx="4292600" cy="3911602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8327b6948d_0_4"/>
          <p:cNvSpPr/>
          <p:nvPr/>
        </p:nvSpPr>
        <p:spPr>
          <a:xfrm rot="5400000">
            <a:off x="8343444" y="7009820"/>
            <a:ext cx="3962412" cy="345124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5400" y="0"/>
                </a:lnTo>
                <a:lnTo>
                  <a:pt x="21600" y="0"/>
                </a:lnTo>
                <a:lnTo>
                  <a:pt x="16200" y="21600"/>
                </a:lnTo>
                <a:close/>
              </a:path>
            </a:pathLst>
          </a:custGeom>
          <a:noFill/>
          <a:ln cap="flat" cmpd="sng" w="508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8327b6948d_0_4"/>
          <p:cNvSpPr/>
          <p:nvPr/>
        </p:nvSpPr>
        <p:spPr>
          <a:xfrm flipH="1" rot="-5400000">
            <a:off x="18709842" y="7393994"/>
            <a:ext cx="3962412" cy="345124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5400" y="0"/>
                </a:lnTo>
                <a:lnTo>
                  <a:pt x="21600" y="0"/>
                </a:lnTo>
                <a:lnTo>
                  <a:pt x="16200" y="21600"/>
                </a:lnTo>
                <a:close/>
              </a:path>
            </a:pathLst>
          </a:custGeom>
          <a:noFill/>
          <a:ln cap="flat" cmpd="sng" w="508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8327b6948d_0_4"/>
          <p:cNvSpPr/>
          <p:nvPr/>
        </p:nvSpPr>
        <p:spPr>
          <a:xfrm>
            <a:off x="13736198" y="8278238"/>
            <a:ext cx="4089300" cy="2940000"/>
          </a:xfrm>
          <a:prstGeom prst="rect">
            <a:avLst/>
          </a:prstGeom>
          <a:noFill/>
          <a:ln cap="flat" cmpd="sng" w="508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g38327b6948d_0_4"/>
          <p:cNvCxnSpPr/>
          <p:nvPr/>
        </p:nvCxnSpPr>
        <p:spPr>
          <a:xfrm flipH="1">
            <a:off x="7532249" y="6754237"/>
            <a:ext cx="1066800" cy="411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g38327b6948d_0_4"/>
          <p:cNvCxnSpPr/>
          <p:nvPr/>
        </p:nvCxnSpPr>
        <p:spPr>
          <a:xfrm flipH="1">
            <a:off x="7532250" y="9649838"/>
            <a:ext cx="1066800" cy="1219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g38327b6948d_0_4"/>
          <p:cNvCxnSpPr/>
          <p:nvPr/>
        </p:nvCxnSpPr>
        <p:spPr>
          <a:xfrm flipH="1">
            <a:off x="7532300" y="7754363"/>
            <a:ext cx="4540200" cy="311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g38327b6948d_0_4"/>
          <p:cNvCxnSpPr/>
          <p:nvPr/>
        </p:nvCxnSpPr>
        <p:spPr>
          <a:xfrm flipH="1">
            <a:off x="7532250" y="10716638"/>
            <a:ext cx="4419600" cy="152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g38327b6948d_0_4"/>
          <p:cNvCxnSpPr/>
          <p:nvPr/>
        </p:nvCxnSpPr>
        <p:spPr>
          <a:xfrm>
            <a:off x="13710798" y="8284588"/>
            <a:ext cx="1981200" cy="4260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g38327b6948d_0_4"/>
          <p:cNvCxnSpPr/>
          <p:nvPr/>
        </p:nvCxnSpPr>
        <p:spPr>
          <a:xfrm flipH="1">
            <a:off x="15691999" y="8322687"/>
            <a:ext cx="2133600" cy="422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g38327b6948d_0_4"/>
          <p:cNvCxnSpPr/>
          <p:nvPr/>
        </p:nvCxnSpPr>
        <p:spPr>
          <a:xfrm>
            <a:off x="13710798" y="11218287"/>
            <a:ext cx="1981200" cy="1327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g38327b6948d_0_4"/>
          <p:cNvCxnSpPr/>
          <p:nvPr/>
        </p:nvCxnSpPr>
        <p:spPr>
          <a:xfrm flipH="1">
            <a:off x="15691999" y="11218287"/>
            <a:ext cx="2133600" cy="1327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g38327b6948d_0_4"/>
          <p:cNvCxnSpPr/>
          <p:nvPr/>
        </p:nvCxnSpPr>
        <p:spPr>
          <a:xfrm>
            <a:off x="18936849" y="8138538"/>
            <a:ext cx="4394100" cy="2657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g38327b6948d_0_4"/>
          <p:cNvCxnSpPr/>
          <p:nvPr/>
        </p:nvCxnSpPr>
        <p:spPr>
          <a:xfrm flipH="1" rot="10800000">
            <a:off x="18911447" y="10796014"/>
            <a:ext cx="441960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g38327b6948d_0_4"/>
          <p:cNvCxnSpPr/>
          <p:nvPr/>
        </p:nvCxnSpPr>
        <p:spPr>
          <a:xfrm>
            <a:off x="22416650" y="10034013"/>
            <a:ext cx="914400" cy="762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g38327b6948d_0_4"/>
          <p:cNvCxnSpPr/>
          <p:nvPr/>
        </p:nvCxnSpPr>
        <p:spPr>
          <a:xfrm>
            <a:off x="22416649" y="7138413"/>
            <a:ext cx="914400" cy="3657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g38327b6948d_0_4"/>
          <p:cNvSpPr txBox="1"/>
          <p:nvPr/>
        </p:nvSpPr>
        <p:spPr>
          <a:xfrm>
            <a:off x="7998973" y="10827763"/>
            <a:ext cx="19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Camera 1</a:t>
            </a:r>
            <a:endParaRPr/>
          </a:p>
        </p:txBody>
      </p:sp>
      <p:sp>
        <p:nvSpPr>
          <p:cNvPr id="648" name="Google Shape;648;g38327b6948d_0_4"/>
          <p:cNvSpPr txBox="1"/>
          <p:nvPr/>
        </p:nvSpPr>
        <p:spPr>
          <a:xfrm>
            <a:off x="12304273" y="11672313"/>
            <a:ext cx="19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Camera 2</a:t>
            </a:r>
            <a:endParaRPr/>
          </a:p>
        </p:txBody>
      </p:sp>
      <p:sp>
        <p:nvSpPr>
          <p:cNvPr id="649" name="Google Shape;649;g38327b6948d_0_4"/>
          <p:cNvSpPr txBox="1"/>
          <p:nvPr/>
        </p:nvSpPr>
        <p:spPr>
          <a:xfrm>
            <a:off x="21172049" y="10827763"/>
            <a:ext cx="19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Camera 3</a:t>
            </a:r>
            <a:endParaRPr/>
          </a:p>
        </p:txBody>
      </p:sp>
      <p:grpSp>
        <p:nvGrpSpPr>
          <p:cNvPr id="650" name="Google Shape;650;g38327b6948d_0_4"/>
          <p:cNvGrpSpPr/>
          <p:nvPr/>
        </p:nvGrpSpPr>
        <p:grpSpPr>
          <a:xfrm>
            <a:off x="9459472" y="7830562"/>
            <a:ext cx="2152554" cy="1720722"/>
            <a:chOff x="-1" y="-1"/>
            <a:chExt cx="2152554" cy="1720722"/>
          </a:xfrm>
        </p:grpSpPr>
        <p:sp>
          <p:nvSpPr>
            <p:cNvPr id="651" name="Google Shape;651;g38327b6948d_0_4"/>
            <p:cNvSpPr/>
            <p:nvPr/>
          </p:nvSpPr>
          <p:spPr>
            <a:xfrm>
              <a:off x="23569" y="408603"/>
              <a:ext cx="180600" cy="180600"/>
            </a:xfrm>
            <a:prstGeom prst="ellipse">
              <a:avLst/>
            </a:prstGeom>
            <a:solidFill>
              <a:srgbClr val="FF010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8327b6948d_0_4"/>
            <p:cNvSpPr/>
            <p:nvPr/>
          </p:nvSpPr>
          <p:spPr>
            <a:xfrm>
              <a:off x="1406293" y="463607"/>
              <a:ext cx="180600" cy="1806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g38327b6948d_0_4"/>
            <p:cNvSpPr/>
            <p:nvPr/>
          </p:nvSpPr>
          <p:spPr>
            <a:xfrm>
              <a:off x="-1" y="1500832"/>
              <a:ext cx="180600" cy="180600"/>
            </a:xfrm>
            <a:prstGeom prst="ellipse">
              <a:avLst/>
            </a:prstGeom>
            <a:solidFill>
              <a:srgbClr val="6699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g38327b6948d_0_4"/>
            <p:cNvSpPr/>
            <p:nvPr/>
          </p:nvSpPr>
          <p:spPr>
            <a:xfrm>
              <a:off x="1382724" y="1540121"/>
              <a:ext cx="180600" cy="180600"/>
            </a:xfrm>
            <a:prstGeom prst="ellipse">
              <a:avLst/>
            </a:prstGeom>
            <a:solidFill>
              <a:srgbClr val="FF00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g38327b6948d_0_4"/>
            <p:cNvSpPr/>
            <p:nvPr/>
          </p:nvSpPr>
          <p:spPr>
            <a:xfrm>
              <a:off x="1971953" y="1162948"/>
              <a:ext cx="180600" cy="180600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g38327b6948d_0_4"/>
            <p:cNvSpPr/>
            <p:nvPr/>
          </p:nvSpPr>
          <p:spPr>
            <a:xfrm>
              <a:off x="1940527" y="94293"/>
              <a:ext cx="180600" cy="180600"/>
            </a:xfrm>
            <a:prstGeom prst="ellipse">
              <a:avLst/>
            </a:prstGeom>
            <a:solidFill>
              <a:srgbClr val="00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g38327b6948d_0_4"/>
            <p:cNvSpPr/>
            <p:nvPr/>
          </p:nvSpPr>
          <p:spPr>
            <a:xfrm>
              <a:off x="502808" y="-1"/>
              <a:ext cx="180600" cy="180600"/>
            </a:xfrm>
            <a:prstGeom prst="ellipse">
              <a:avLst/>
            </a:prstGeom>
            <a:solidFill>
              <a:srgbClr val="FF99CC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g38327b6948d_0_4"/>
          <p:cNvGrpSpPr/>
          <p:nvPr/>
        </p:nvGrpSpPr>
        <p:grpSpPr>
          <a:xfrm>
            <a:off x="14545823" y="8773537"/>
            <a:ext cx="2146364" cy="1901733"/>
            <a:chOff x="0" y="-1"/>
            <a:chExt cx="2146364" cy="1901733"/>
          </a:xfrm>
        </p:grpSpPr>
        <p:sp>
          <p:nvSpPr>
            <p:cNvPr id="659" name="Google Shape;659;g38327b6948d_0_4"/>
            <p:cNvSpPr/>
            <p:nvPr/>
          </p:nvSpPr>
          <p:spPr>
            <a:xfrm>
              <a:off x="38464" y="331087"/>
              <a:ext cx="177000" cy="177000"/>
            </a:xfrm>
            <a:prstGeom prst="ellipse">
              <a:avLst/>
            </a:prstGeom>
            <a:solidFill>
              <a:srgbClr val="FF010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g38327b6948d_0_4"/>
            <p:cNvSpPr/>
            <p:nvPr/>
          </p:nvSpPr>
          <p:spPr>
            <a:xfrm>
              <a:off x="1023146" y="646774"/>
              <a:ext cx="177000" cy="1770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g38327b6948d_0_4"/>
            <p:cNvSpPr/>
            <p:nvPr/>
          </p:nvSpPr>
          <p:spPr>
            <a:xfrm>
              <a:off x="0" y="1385946"/>
              <a:ext cx="177000" cy="177000"/>
            </a:xfrm>
            <a:prstGeom prst="ellipse">
              <a:avLst/>
            </a:prstGeom>
            <a:solidFill>
              <a:srgbClr val="6699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g38327b6948d_0_4"/>
            <p:cNvSpPr/>
            <p:nvPr/>
          </p:nvSpPr>
          <p:spPr>
            <a:xfrm>
              <a:off x="1023146" y="1724732"/>
              <a:ext cx="177000" cy="177000"/>
            </a:xfrm>
            <a:prstGeom prst="ellipse">
              <a:avLst/>
            </a:prstGeom>
            <a:solidFill>
              <a:srgbClr val="FF00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g38327b6948d_0_4"/>
            <p:cNvSpPr/>
            <p:nvPr/>
          </p:nvSpPr>
          <p:spPr>
            <a:xfrm>
              <a:off x="1969364" y="1447543"/>
              <a:ext cx="177000" cy="177000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8327b6948d_0_4"/>
            <p:cNvSpPr/>
            <p:nvPr/>
          </p:nvSpPr>
          <p:spPr>
            <a:xfrm>
              <a:off x="1938593" y="331087"/>
              <a:ext cx="177000" cy="177000"/>
            </a:xfrm>
            <a:prstGeom prst="ellipse">
              <a:avLst/>
            </a:prstGeom>
            <a:solidFill>
              <a:srgbClr val="00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g38327b6948d_0_4"/>
            <p:cNvSpPr/>
            <p:nvPr/>
          </p:nvSpPr>
          <p:spPr>
            <a:xfrm>
              <a:off x="984682" y="-1"/>
              <a:ext cx="177000" cy="177000"/>
            </a:xfrm>
            <a:prstGeom prst="ellipse">
              <a:avLst/>
            </a:prstGeom>
            <a:solidFill>
              <a:srgbClr val="FF99CC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g38327b6948d_0_4"/>
          <p:cNvGrpSpPr/>
          <p:nvPr/>
        </p:nvGrpSpPr>
        <p:grpSpPr>
          <a:xfrm>
            <a:off x="19628998" y="7986136"/>
            <a:ext cx="2006458" cy="2032022"/>
            <a:chOff x="-1" y="-1"/>
            <a:chExt cx="2006458" cy="2032022"/>
          </a:xfrm>
        </p:grpSpPr>
        <p:sp>
          <p:nvSpPr>
            <p:cNvPr id="667" name="Google Shape;667;g38327b6948d_0_4"/>
            <p:cNvSpPr/>
            <p:nvPr/>
          </p:nvSpPr>
          <p:spPr>
            <a:xfrm>
              <a:off x="7962" y="254996"/>
              <a:ext cx="183000" cy="183300"/>
            </a:xfrm>
            <a:prstGeom prst="ellipse">
              <a:avLst/>
            </a:prstGeom>
            <a:solidFill>
              <a:srgbClr val="FF010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g38327b6948d_0_4"/>
            <p:cNvSpPr/>
            <p:nvPr/>
          </p:nvSpPr>
          <p:spPr>
            <a:xfrm>
              <a:off x="676829" y="701239"/>
              <a:ext cx="183000" cy="1833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8327b6948d_0_4"/>
            <p:cNvSpPr/>
            <p:nvPr/>
          </p:nvSpPr>
          <p:spPr>
            <a:xfrm>
              <a:off x="-1" y="1378572"/>
              <a:ext cx="183000" cy="183300"/>
            </a:xfrm>
            <a:prstGeom prst="ellipse">
              <a:avLst/>
            </a:prstGeom>
            <a:solidFill>
              <a:srgbClr val="6699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g38327b6948d_0_4"/>
            <p:cNvSpPr/>
            <p:nvPr/>
          </p:nvSpPr>
          <p:spPr>
            <a:xfrm>
              <a:off x="637015" y="1848721"/>
              <a:ext cx="183000" cy="183300"/>
            </a:xfrm>
            <a:prstGeom prst="ellipse">
              <a:avLst/>
            </a:prstGeom>
            <a:solidFill>
              <a:srgbClr val="FF00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g38327b6948d_0_4"/>
            <p:cNvSpPr/>
            <p:nvPr/>
          </p:nvSpPr>
          <p:spPr>
            <a:xfrm>
              <a:off x="1823457" y="1561850"/>
              <a:ext cx="183000" cy="183300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g38327b6948d_0_4"/>
            <p:cNvSpPr/>
            <p:nvPr/>
          </p:nvSpPr>
          <p:spPr>
            <a:xfrm>
              <a:off x="1751793" y="454211"/>
              <a:ext cx="183000" cy="183300"/>
            </a:xfrm>
            <a:prstGeom prst="ellipse">
              <a:avLst/>
            </a:prstGeom>
            <a:solidFill>
              <a:srgbClr val="00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g38327b6948d_0_4"/>
            <p:cNvSpPr/>
            <p:nvPr/>
          </p:nvSpPr>
          <p:spPr>
            <a:xfrm>
              <a:off x="1186442" y="-1"/>
              <a:ext cx="183000" cy="183300"/>
            </a:xfrm>
            <a:prstGeom prst="ellipse">
              <a:avLst/>
            </a:prstGeom>
            <a:solidFill>
              <a:srgbClr val="FF99CC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4" name="Google Shape;674;g38327b6948d_0_4"/>
          <p:cNvSpPr txBox="1"/>
          <p:nvPr/>
        </p:nvSpPr>
        <p:spPr>
          <a:xfrm>
            <a:off x="8192648" y="11250038"/>
            <a:ext cx="179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Times New Roman"/>
              <a:buNone/>
            </a:pP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,t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75" name="Google Shape;675;g38327b6948d_0_4"/>
          <p:cNvSpPr txBox="1"/>
          <p:nvPr/>
        </p:nvSpPr>
        <p:spPr>
          <a:xfrm>
            <a:off x="12580499" y="12094588"/>
            <a:ext cx="179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Times New Roman"/>
              <a:buNone/>
            </a:pP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,t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76" name="Google Shape;676;g38327b6948d_0_4"/>
          <p:cNvSpPr txBox="1"/>
          <p:nvPr/>
        </p:nvSpPr>
        <p:spPr>
          <a:xfrm>
            <a:off x="21616549" y="11250038"/>
            <a:ext cx="179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Times New Roman"/>
              <a:buNone/>
            </a:pP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1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,t</a:t>
            </a:r>
            <a:r>
              <a:rPr b="0" baseline="-25000" i="0" lang="en-US" sz="5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grpSp>
        <p:nvGrpSpPr>
          <p:cNvPr id="677" name="Google Shape;677;g38327b6948d_0_4"/>
          <p:cNvGrpSpPr/>
          <p:nvPr/>
        </p:nvGrpSpPr>
        <p:grpSpPr>
          <a:xfrm>
            <a:off x="12218549" y="2302888"/>
            <a:ext cx="6677016" cy="4454525"/>
            <a:chOff x="0" y="0"/>
            <a:chExt cx="6677016" cy="4454525"/>
          </a:xfrm>
        </p:grpSpPr>
        <p:sp>
          <p:nvSpPr>
            <p:cNvPr id="678" name="Google Shape;678;g38327b6948d_0_4"/>
            <p:cNvSpPr/>
            <p:nvPr/>
          </p:nvSpPr>
          <p:spPr>
            <a:xfrm>
              <a:off x="73024" y="1003300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679" name="Google Shape;679;g38327b6948d_0_4"/>
            <p:cNvSpPr/>
            <p:nvPr/>
          </p:nvSpPr>
          <p:spPr>
            <a:xfrm>
              <a:off x="2222499" y="0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680" name="Google Shape;680;g38327b6948d_0_4"/>
            <p:cNvSpPr/>
            <p:nvPr/>
          </p:nvSpPr>
          <p:spPr>
            <a:xfrm>
              <a:off x="5451474" y="1073150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681" name="Google Shape;681;g38327b6948d_0_4"/>
            <p:cNvSpPr/>
            <p:nvPr/>
          </p:nvSpPr>
          <p:spPr>
            <a:xfrm>
              <a:off x="3375024" y="2079625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682" name="Google Shape;682;g38327b6948d_0_4"/>
            <p:cNvSpPr/>
            <p:nvPr/>
          </p:nvSpPr>
          <p:spPr>
            <a:xfrm>
              <a:off x="0" y="3463925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683" name="Google Shape;683;g38327b6948d_0_4"/>
            <p:cNvSpPr/>
            <p:nvPr/>
          </p:nvSpPr>
          <p:spPr>
            <a:xfrm>
              <a:off x="2149474" y="4454525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684" name="Google Shape;684;g38327b6948d_0_4"/>
            <p:cNvSpPr/>
            <p:nvPr/>
          </p:nvSpPr>
          <p:spPr>
            <a:xfrm>
              <a:off x="5603874" y="3540125"/>
              <a:ext cx="1073142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rPr b="0" i="1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4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</p:grpSp>
      <p:cxnSp>
        <p:nvCxnSpPr>
          <p:cNvPr id="685" name="Google Shape;685;g38327b6948d_0_4"/>
          <p:cNvCxnSpPr/>
          <p:nvPr/>
        </p:nvCxnSpPr>
        <p:spPr>
          <a:xfrm flipH="1">
            <a:off x="7541699" y="3915787"/>
            <a:ext cx="5762700" cy="6912000"/>
          </a:xfrm>
          <a:prstGeom prst="straightConnector1">
            <a:avLst/>
          </a:prstGeom>
          <a:noFill/>
          <a:ln cap="flat" cmpd="sng" w="50800">
            <a:solidFill>
              <a:srgbClr val="3366F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86" name="Google Shape;686;g38327b6948d_0_4"/>
          <p:cNvCxnSpPr/>
          <p:nvPr/>
        </p:nvCxnSpPr>
        <p:spPr>
          <a:xfrm>
            <a:off x="13304398" y="3991988"/>
            <a:ext cx="2301900" cy="8524800"/>
          </a:xfrm>
          <a:prstGeom prst="straightConnector1">
            <a:avLst/>
          </a:prstGeom>
          <a:noFill/>
          <a:ln cap="flat" cmpd="sng" w="50800">
            <a:solidFill>
              <a:srgbClr val="3366F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87" name="Google Shape;687;g38327b6948d_0_4"/>
          <p:cNvCxnSpPr/>
          <p:nvPr/>
        </p:nvCxnSpPr>
        <p:spPr>
          <a:xfrm>
            <a:off x="13304399" y="3991987"/>
            <a:ext cx="9985500" cy="6759600"/>
          </a:xfrm>
          <a:prstGeom prst="straightConnector1">
            <a:avLst/>
          </a:prstGeom>
          <a:noFill/>
          <a:ln cap="flat" cmpd="sng" w="50800">
            <a:solidFill>
              <a:srgbClr val="3366FF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688" name="Google Shape;688;g38327b6948d_0_4"/>
          <p:cNvGrpSpPr/>
          <p:nvPr/>
        </p:nvGrpSpPr>
        <p:grpSpPr>
          <a:xfrm>
            <a:off x="13024998" y="3058537"/>
            <a:ext cx="4724334" cy="4181508"/>
            <a:chOff x="-1" y="0"/>
            <a:chExt cx="4724334" cy="4181508"/>
          </a:xfrm>
        </p:grpSpPr>
        <p:sp>
          <p:nvSpPr>
            <p:cNvPr id="689" name="Google Shape;689;g38327b6948d_0_4"/>
            <p:cNvSpPr/>
            <p:nvPr/>
          </p:nvSpPr>
          <p:spPr>
            <a:xfrm>
              <a:off x="84666" y="727949"/>
              <a:ext cx="389400" cy="389400"/>
            </a:xfrm>
            <a:prstGeom prst="ellipse">
              <a:avLst/>
            </a:prstGeom>
            <a:solidFill>
              <a:srgbClr val="FF010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g38327b6948d_0_4"/>
            <p:cNvSpPr/>
            <p:nvPr/>
          </p:nvSpPr>
          <p:spPr>
            <a:xfrm>
              <a:off x="2252133" y="1422040"/>
              <a:ext cx="389400" cy="3894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g38327b6948d_0_4"/>
            <p:cNvSpPr/>
            <p:nvPr/>
          </p:nvSpPr>
          <p:spPr>
            <a:xfrm>
              <a:off x="-1" y="3047229"/>
              <a:ext cx="389400" cy="389400"/>
            </a:xfrm>
            <a:prstGeom prst="ellipse">
              <a:avLst/>
            </a:prstGeom>
            <a:solidFill>
              <a:srgbClr val="6699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g38327b6948d_0_4"/>
            <p:cNvSpPr/>
            <p:nvPr/>
          </p:nvSpPr>
          <p:spPr>
            <a:xfrm>
              <a:off x="2252133" y="3792108"/>
              <a:ext cx="389400" cy="389400"/>
            </a:xfrm>
            <a:prstGeom prst="ellipse">
              <a:avLst/>
            </a:prstGeom>
            <a:solidFill>
              <a:srgbClr val="FF00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g38327b6948d_0_4"/>
            <p:cNvSpPr/>
            <p:nvPr/>
          </p:nvSpPr>
          <p:spPr>
            <a:xfrm>
              <a:off x="4334933" y="3182661"/>
              <a:ext cx="389400" cy="389400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g38327b6948d_0_4"/>
            <p:cNvSpPr/>
            <p:nvPr/>
          </p:nvSpPr>
          <p:spPr>
            <a:xfrm>
              <a:off x="4267200" y="727949"/>
              <a:ext cx="389400" cy="389400"/>
            </a:xfrm>
            <a:prstGeom prst="ellipse">
              <a:avLst/>
            </a:prstGeom>
            <a:solidFill>
              <a:srgbClr val="00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g38327b6948d_0_4"/>
            <p:cNvSpPr/>
            <p:nvPr/>
          </p:nvSpPr>
          <p:spPr>
            <a:xfrm>
              <a:off x="2167466" y="0"/>
              <a:ext cx="389400" cy="389400"/>
            </a:xfrm>
            <a:prstGeom prst="ellipse">
              <a:avLst/>
            </a:prstGeom>
            <a:solidFill>
              <a:srgbClr val="FF99CC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g38327b6948d_0_4"/>
          <p:cNvGrpSpPr/>
          <p:nvPr/>
        </p:nvGrpSpPr>
        <p:grpSpPr>
          <a:xfrm>
            <a:off x="19209898" y="3452239"/>
            <a:ext cx="1958874" cy="2114450"/>
            <a:chOff x="0" y="0"/>
            <a:chExt cx="1958874" cy="2114450"/>
          </a:xfrm>
        </p:grpSpPr>
        <p:cxnSp>
          <p:nvCxnSpPr>
            <p:cNvPr id="697" name="Google Shape;697;g38327b6948d_0_4"/>
            <p:cNvCxnSpPr/>
            <p:nvPr/>
          </p:nvCxnSpPr>
          <p:spPr>
            <a:xfrm>
              <a:off x="688974" y="0"/>
              <a:ext cx="1269900" cy="12699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698" name="Google Shape;698;g38327b6948d_0_4"/>
            <p:cNvCxnSpPr/>
            <p:nvPr/>
          </p:nvCxnSpPr>
          <p:spPr>
            <a:xfrm>
              <a:off x="0" y="844550"/>
              <a:ext cx="1269900" cy="12699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sp>
        <p:nvSpPr>
          <p:cNvPr id="699" name="Google Shape;699;g38327b6948d_0_4"/>
          <p:cNvSpPr txBox="1"/>
          <p:nvPr/>
        </p:nvSpPr>
        <p:spPr>
          <a:xfrm>
            <a:off x="8665723" y="7668638"/>
            <a:ext cx="81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1,1</a:t>
            </a:r>
            <a:endParaRPr/>
          </a:p>
        </p:txBody>
      </p:sp>
      <p:sp>
        <p:nvSpPr>
          <p:cNvPr id="700" name="Google Shape;700;g38327b6948d_0_4"/>
          <p:cNvSpPr txBox="1"/>
          <p:nvPr/>
        </p:nvSpPr>
        <p:spPr>
          <a:xfrm>
            <a:off x="13980673" y="8405238"/>
            <a:ext cx="81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1,2</a:t>
            </a:r>
            <a:endParaRPr/>
          </a:p>
        </p:txBody>
      </p:sp>
      <p:sp>
        <p:nvSpPr>
          <p:cNvPr id="701" name="Google Shape;701;g38327b6948d_0_4"/>
          <p:cNvSpPr txBox="1"/>
          <p:nvPr/>
        </p:nvSpPr>
        <p:spPr>
          <a:xfrm>
            <a:off x="19719257" y="7843262"/>
            <a:ext cx="81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1,3</a:t>
            </a:r>
            <a:endParaRPr/>
          </a:p>
        </p:txBody>
      </p:sp>
      <p:pic>
        <p:nvPicPr>
          <p:cNvPr descr="image44.png" id="702" name="Google Shape;702;g38327b6948d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7923" y="5230238"/>
            <a:ext cx="5008035" cy="9906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plementary_video.mp4" id="707" name="Google Shape;70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69576" y="14636768"/>
            <a:ext cx="21883170" cy="123092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_cats.mov" id="708" name="Google Shape;70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640" y="1128062"/>
            <a:ext cx="13237441" cy="11072371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pic>
      <p:sp>
        <p:nvSpPr>
          <p:cNvPr id="709" name="Google Shape;709;p63"/>
          <p:cNvSpPr txBox="1"/>
          <p:nvPr/>
        </p:nvSpPr>
        <p:spPr>
          <a:xfrm>
            <a:off x="14329778" y="1185212"/>
            <a:ext cx="9431674" cy="5316009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Application: motion magnification.</a:t>
            </a:r>
            <a:r>
              <a:rPr b="0" i="0" lang="en-US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enlarge tiny motions, making them easier to perceive [Liu et al., 2005].</a:t>
            </a:r>
            <a:endParaRPr/>
          </a:p>
        </p:txBody>
      </p:sp>
      <p:sp>
        <p:nvSpPr>
          <p:cNvPr id="710" name="Google Shape;710;p63"/>
          <p:cNvSpPr txBox="1"/>
          <p:nvPr/>
        </p:nvSpPr>
        <p:spPr>
          <a:xfrm>
            <a:off x="21140791" y="11910362"/>
            <a:ext cx="2921001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veni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Daniel Geng</a:t>
            </a:r>
            <a:endParaRPr/>
          </a:p>
        </p:txBody>
      </p:sp>
      <p:pic>
        <p:nvPicPr>
          <p:cNvPr descr="Image" id="711" name="Google Shape;711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33766" y="10126678"/>
            <a:ext cx="1735050" cy="1735049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pic>
      <p:pic>
        <p:nvPicPr>
          <p:cNvPr descr="Image" id="712" name="Google Shape;712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85313" y="10123945"/>
            <a:ext cx="1731075" cy="17350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pic>
      <p:sp>
        <p:nvSpPr>
          <p:cNvPr id="713" name="Google Shape;713;p63"/>
          <p:cNvSpPr txBox="1"/>
          <p:nvPr/>
        </p:nvSpPr>
        <p:spPr>
          <a:xfrm>
            <a:off x="18990397" y="11910362"/>
            <a:ext cx="2921001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veni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Zhaoying Pan</a:t>
            </a:r>
            <a:endParaRPr/>
          </a:p>
        </p:txBody>
      </p:sp>
      <p:sp>
        <p:nvSpPr>
          <p:cNvPr id="714" name="Google Shape;714;p63"/>
          <p:cNvSpPr txBox="1"/>
          <p:nvPr/>
        </p:nvSpPr>
        <p:spPr>
          <a:xfrm>
            <a:off x="-434291" y="12788332"/>
            <a:ext cx="25252582" cy="67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venir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[Pan*, Geng*, Owens, “Self-Supervised Motion Magnification by Backpropagating Through Optical Flow”, NeurIPS 2023]</a:t>
            </a:r>
            <a:endParaRPr/>
          </a:p>
        </p:txBody>
      </p:sp>
      <p:sp>
        <p:nvSpPr>
          <p:cNvPr id="715" name="Google Shape;715;p63"/>
          <p:cNvSpPr/>
          <p:nvPr/>
        </p:nvSpPr>
        <p:spPr>
          <a:xfrm>
            <a:off x="9372600" y="3581400"/>
            <a:ext cx="2762151" cy="2762151"/>
          </a:xfrm>
          <a:prstGeom prst="rect">
            <a:avLst/>
          </a:prstGeom>
          <a:noFill/>
          <a:ln cap="flat" cmpd="sng" w="11430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6" name="Google Shape;716;p63"/>
          <p:cNvSpPr txBox="1"/>
          <p:nvPr/>
        </p:nvSpPr>
        <p:spPr>
          <a:xfrm>
            <a:off x="14057200" y="6846625"/>
            <a:ext cx="9431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sng">
                <a:solidFill>
                  <a:schemeClr val="hlink"/>
                </a:solidFill>
                <a:hlinkClick r:id="rId7"/>
              </a:rPr>
              <a:t>https://dangeng.github.io/flowmag/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1" name="Google Shape;721;p64"/>
          <p:cNvCxnSpPr/>
          <p:nvPr/>
        </p:nvCxnSpPr>
        <p:spPr>
          <a:xfrm flipH="1" rot="10800000">
            <a:off x="7176782" y="4291295"/>
            <a:ext cx="447600" cy="7500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722" name="Google Shape;722;p64"/>
          <p:cNvCxnSpPr/>
          <p:nvPr/>
        </p:nvCxnSpPr>
        <p:spPr>
          <a:xfrm rot="10800000">
            <a:off x="6856502" y="4415244"/>
            <a:ext cx="0" cy="1827600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23" name="Google Shape;723;p64"/>
          <p:cNvSpPr/>
          <p:nvPr/>
        </p:nvSpPr>
        <p:spPr>
          <a:xfrm>
            <a:off x="27591146" y="14371142"/>
            <a:ext cx="8232300" cy="13983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p64"/>
          <p:cNvSpPr/>
          <p:nvPr/>
        </p:nvSpPr>
        <p:spPr>
          <a:xfrm>
            <a:off x="26067146" y="7882089"/>
            <a:ext cx="8232300" cy="21468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9" id="725" name="Google Shape;72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26" name="Google Shape;726;p64"/>
          <p:cNvGrpSpPr/>
          <p:nvPr/>
        </p:nvGrpSpPr>
        <p:grpSpPr>
          <a:xfrm>
            <a:off x="30106559" y="12278462"/>
            <a:ext cx="501300" cy="499802"/>
            <a:chOff x="0" y="0"/>
            <a:chExt cx="501300" cy="499802"/>
          </a:xfrm>
        </p:grpSpPr>
        <p:pic>
          <p:nvPicPr>
            <p:cNvPr descr="Picture 2" id="727" name="Google Shape;727;p64"/>
            <p:cNvPicPr preferRelativeResize="0"/>
            <p:nvPr/>
          </p:nvPicPr>
          <p:blipFill rotWithShape="1">
            <a:blip r:embed="rId3">
              <a:alphaModFix/>
            </a:blip>
            <a:srcRect b="71478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64"/>
            <p:cNvSpPr/>
            <p:nvPr/>
          </p:nvSpPr>
          <p:spPr>
            <a:xfrm>
              <a:off x="0" y="0"/>
              <a:ext cx="501300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729" name="Google Shape;729;p64"/>
          <p:cNvGrpSpPr/>
          <p:nvPr/>
        </p:nvGrpSpPr>
        <p:grpSpPr>
          <a:xfrm>
            <a:off x="31228962" y="12278467"/>
            <a:ext cx="501431" cy="499802"/>
            <a:chOff x="0" y="0"/>
            <a:chExt cx="501431" cy="499802"/>
          </a:xfrm>
        </p:grpSpPr>
        <p:pic>
          <p:nvPicPr>
            <p:cNvPr descr="Picture 5" id="730" name="Google Shape;730;p64"/>
            <p:cNvPicPr preferRelativeResize="0"/>
            <p:nvPr/>
          </p:nvPicPr>
          <p:blipFill rotWithShape="1">
            <a:blip r:embed="rId4">
              <a:alphaModFix/>
            </a:blip>
            <a:srcRect b="70783" l="66246" r="22991" t="16144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64"/>
            <p:cNvSpPr/>
            <p:nvPr/>
          </p:nvSpPr>
          <p:spPr>
            <a:xfrm>
              <a:off x="0" y="2"/>
              <a:ext cx="501300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732" name="Google Shape;732;p64"/>
          <p:cNvSpPr txBox="1"/>
          <p:nvPr/>
        </p:nvSpPr>
        <p:spPr>
          <a:xfrm>
            <a:off x="4177391" y="247649"/>
            <a:ext cx="160293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model</a:t>
            </a:r>
            <a:endParaRPr/>
          </a:p>
        </p:txBody>
      </p:sp>
      <p:pic>
        <p:nvPicPr>
          <p:cNvPr descr="Image" id="733" name="Google Shape;733;p64"/>
          <p:cNvPicPr preferRelativeResize="0"/>
          <p:nvPr/>
        </p:nvPicPr>
        <p:blipFill rotWithShape="1">
          <a:blip r:embed="rId5">
            <a:alphaModFix/>
          </a:blip>
          <a:srcRect b="0" l="0" r="75521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4"/>
          <p:cNvSpPr txBox="1"/>
          <p:nvPr/>
        </p:nvSpPr>
        <p:spPr>
          <a:xfrm>
            <a:off x="2813684" y="10205770"/>
            <a:ext cx="351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venir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Input frames</a:t>
            </a:r>
            <a:endParaRPr/>
          </a:p>
        </p:txBody>
      </p:sp>
      <p:sp>
        <p:nvSpPr>
          <p:cNvPr id="735" name="Google Shape;735;p64"/>
          <p:cNvSpPr txBox="1"/>
          <p:nvPr/>
        </p:nvSpPr>
        <p:spPr>
          <a:xfrm>
            <a:off x="3474212" y="16989933"/>
            <a:ext cx="185532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venir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[Geng, Pan, Owens, “Self-supervised Lagrangian Motion Magnification”, In Submission]</a:t>
            </a:r>
            <a:endParaRPr/>
          </a:p>
        </p:txBody>
      </p:sp>
      <p:grpSp>
        <p:nvGrpSpPr>
          <p:cNvPr id="736" name="Google Shape;736;p64"/>
          <p:cNvGrpSpPr/>
          <p:nvPr/>
        </p:nvGrpSpPr>
        <p:grpSpPr>
          <a:xfrm>
            <a:off x="8675433" y="5242271"/>
            <a:ext cx="5582400" cy="5877898"/>
            <a:chOff x="-1" y="0"/>
            <a:chExt cx="5582400" cy="5877898"/>
          </a:xfrm>
        </p:grpSpPr>
        <p:sp>
          <p:nvSpPr>
            <p:cNvPr id="737" name="Google Shape;737;p64"/>
            <p:cNvSpPr txBox="1"/>
            <p:nvPr/>
          </p:nvSpPr>
          <p:spPr>
            <a:xfrm>
              <a:off x="-1" y="4963498"/>
              <a:ext cx="5582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Avenir"/>
                <a:buNone/>
              </a:pPr>
              <a:r>
                <a:rPr b="0" i="0" lang="en-US" sz="47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Magnified 2</a:t>
              </a:r>
              <a:r>
                <a:rPr b="0" baseline="30000" i="0" lang="en-US" sz="47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nd</a:t>
              </a:r>
              <a:r>
                <a:rPr b="0" i="0" lang="en-US" sz="47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 frame</a:t>
              </a:r>
              <a:endParaRPr/>
            </a:p>
          </p:txBody>
        </p:sp>
        <p:pic>
          <p:nvPicPr>
            <p:cNvPr descr="Picture 21" id="738" name="Google Shape;73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6248" y="0"/>
              <a:ext cx="4307541" cy="353439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Group" id="739" name="Google Shape;739;p64"/>
            <p:cNvPicPr preferRelativeResize="0"/>
            <p:nvPr/>
          </p:nvPicPr>
          <p:blipFill rotWithShape="1">
            <a:blip r:embed="rId6">
              <a:alphaModFix/>
            </a:blip>
            <a:srcRect b="0" l="77343" r="0" t="0"/>
            <a:stretch/>
          </p:blipFill>
          <p:spPr>
            <a:xfrm>
              <a:off x="2392509" y="3696534"/>
              <a:ext cx="595018" cy="774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0" name="Google Shape;740;p64"/>
          <p:cNvSpPr/>
          <p:nvPr/>
        </p:nvSpPr>
        <p:spPr>
          <a:xfrm>
            <a:off x="2384000" y="4270144"/>
            <a:ext cx="4488858" cy="1718604"/>
          </a:xfrm>
          <a:custGeom>
            <a:rect b="b" l="l" r="r" t="t"/>
            <a:pathLst>
              <a:path extrusionOk="0" h="21600" w="21600">
                <a:moveTo>
                  <a:pt x="53" y="21600"/>
                </a:moveTo>
                <a:lnTo>
                  <a:pt x="0" y="0"/>
                </a:lnTo>
                <a:lnTo>
                  <a:pt x="21600" y="160"/>
                </a:ln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741" name="Google Shape;741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2" name="Google Shape;742;p64"/>
          <p:cNvSpPr/>
          <p:nvPr/>
        </p:nvSpPr>
        <p:spPr>
          <a:xfrm>
            <a:off x="9087346" y="3672440"/>
            <a:ext cx="1778058" cy="1558094"/>
          </a:xfrm>
          <a:custGeom>
            <a:rect b="b" l="l" r="r" t="t"/>
            <a:pathLst>
              <a:path extrusionOk="0" h="20592" w="21600">
                <a:moveTo>
                  <a:pt x="0" y="7222"/>
                </a:moveTo>
                <a:cubicBezTo>
                  <a:pt x="755" y="3527"/>
                  <a:pt x="3513" y="713"/>
                  <a:pt x="6950" y="128"/>
                </a:cubicBezTo>
                <a:cubicBezTo>
                  <a:pt x="13636" y="-1008"/>
                  <a:pt x="18880" y="5545"/>
                  <a:pt x="20703" y="13199"/>
                </a:cubicBezTo>
                <a:cubicBezTo>
                  <a:pt x="21278" y="15612"/>
                  <a:pt x="21579" y="18095"/>
                  <a:pt x="21600" y="20592"/>
                </a:cubicBez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43" name="Google Shape;743;p64"/>
          <p:cNvGrpSpPr/>
          <p:nvPr/>
        </p:nvGrpSpPr>
        <p:grpSpPr>
          <a:xfrm>
            <a:off x="6613881" y="3281725"/>
            <a:ext cx="2775895" cy="1777500"/>
            <a:chOff x="0" y="2"/>
            <a:chExt cx="2775895" cy="1777500"/>
          </a:xfrm>
        </p:grpSpPr>
        <p:sp>
          <p:nvSpPr>
            <p:cNvPr id="744" name="Google Shape;744;p64"/>
            <p:cNvSpPr/>
            <p:nvPr/>
          </p:nvSpPr>
          <p:spPr>
            <a:xfrm>
              <a:off x="0" y="727811"/>
              <a:ext cx="492600" cy="492600"/>
            </a:xfrm>
            <a:prstGeom prst="rect">
              <a:avLst/>
            </a:prstGeom>
            <a:solidFill>
              <a:srgbClr val="FFFFFF"/>
            </a:solidFill>
            <a:ln cap="flat" cmpd="sng" w="152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Helvetica Neue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5" name="Google Shape;745;p64"/>
            <p:cNvSpPr/>
            <p:nvPr/>
          </p:nvSpPr>
          <p:spPr>
            <a:xfrm>
              <a:off x="997795" y="2"/>
              <a:ext cx="1778100" cy="1777500"/>
            </a:xfrm>
            <a:prstGeom prst="roundRect">
              <a:avLst>
                <a:gd fmla="val 10021" name="adj"/>
              </a:avLst>
            </a:prstGeom>
            <a:solidFill>
              <a:srgbClr val="E6E6E6"/>
            </a:solidFill>
            <a:ln cap="flat" cmpd="sng" w="381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venir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U-Net</a:t>
              </a:r>
              <a:endParaRPr/>
            </a:p>
          </p:txBody>
        </p:sp>
      </p:grpSp>
      <p:pic>
        <p:nvPicPr>
          <p:cNvPr descr="Image" id="746" name="Google Shape;746;p64"/>
          <p:cNvPicPr preferRelativeResize="0"/>
          <p:nvPr/>
        </p:nvPicPr>
        <p:blipFill rotWithShape="1">
          <a:blip r:embed="rId5">
            <a:alphaModFix/>
          </a:blip>
          <a:srcRect b="0" l="39046" r="36474" t="0"/>
          <a:stretch/>
        </p:blipFill>
        <p:spPr>
          <a:xfrm>
            <a:off x="6534041" y="8868955"/>
            <a:ext cx="644861" cy="777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5"/>
          <p:cNvSpPr/>
          <p:nvPr/>
        </p:nvSpPr>
        <p:spPr>
          <a:xfrm>
            <a:off x="27591146" y="143711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2" name="Google Shape;752;p65"/>
          <p:cNvSpPr/>
          <p:nvPr/>
        </p:nvSpPr>
        <p:spPr>
          <a:xfrm>
            <a:off x="26067146" y="7882089"/>
            <a:ext cx="8232273" cy="2146865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53" name="Google Shape;753;p65"/>
          <p:cNvGrpSpPr/>
          <p:nvPr/>
        </p:nvGrpSpPr>
        <p:grpSpPr>
          <a:xfrm>
            <a:off x="30106559" y="12278462"/>
            <a:ext cx="501432" cy="499804"/>
            <a:chOff x="0" y="0"/>
            <a:chExt cx="501431" cy="499802"/>
          </a:xfrm>
        </p:grpSpPr>
        <p:pic>
          <p:nvPicPr>
            <p:cNvPr descr="Picture 2" id="754" name="Google Shape;754;p65"/>
            <p:cNvPicPr preferRelativeResize="0"/>
            <p:nvPr/>
          </p:nvPicPr>
          <p:blipFill rotWithShape="1">
            <a:blip r:embed="rId3">
              <a:alphaModFix/>
            </a:blip>
            <a:srcRect b="71479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65"/>
            <p:cNvSpPr/>
            <p:nvPr/>
          </p:nvSpPr>
          <p:spPr>
            <a:xfrm>
              <a:off x="0" y="0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756" name="Google Shape;756;p65"/>
          <p:cNvGrpSpPr/>
          <p:nvPr/>
        </p:nvGrpSpPr>
        <p:grpSpPr>
          <a:xfrm>
            <a:off x="31228962" y="12278467"/>
            <a:ext cx="501432" cy="499804"/>
            <a:chOff x="0" y="0"/>
            <a:chExt cx="501431" cy="499802"/>
          </a:xfrm>
        </p:grpSpPr>
        <p:pic>
          <p:nvPicPr>
            <p:cNvPr descr="Picture 5" id="757" name="Google Shape;757;p65"/>
            <p:cNvPicPr preferRelativeResize="0"/>
            <p:nvPr/>
          </p:nvPicPr>
          <p:blipFill rotWithShape="1">
            <a:blip r:embed="rId4">
              <a:alphaModFix/>
            </a:blip>
            <a:srcRect b="70784" l="66246" r="22992" t="16143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65"/>
            <p:cNvSpPr/>
            <p:nvPr/>
          </p:nvSpPr>
          <p:spPr>
            <a:xfrm>
              <a:off x="0" y="2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759" name="Google Shape;75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04398" y="1046043"/>
            <a:ext cx="565132" cy="232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60" name="Google Shape;760;p65"/>
          <p:cNvPicPr preferRelativeResize="0"/>
          <p:nvPr/>
        </p:nvPicPr>
        <p:blipFill rotWithShape="1">
          <a:blip r:embed="rId6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61" name="Google Shape;761;p65"/>
          <p:cNvPicPr preferRelativeResize="0"/>
          <p:nvPr/>
        </p:nvPicPr>
        <p:blipFill rotWithShape="1">
          <a:blip r:embed="rId6">
            <a:alphaModFix/>
          </a:blip>
          <a:srcRect b="0" l="39046" r="36475" t="0"/>
          <a:stretch/>
        </p:blipFill>
        <p:spPr>
          <a:xfrm>
            <a:off x="6534041" y="8868955"/>
            <a:ext cx="644862" cy="777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1" id="762" name="Google Shape;76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168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23" id="763" name="Google Shape;763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51306" y="5618444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4" name="Google Shape;764;p65"/>
          <p:cNvSpPr txBox="1"/>
          <p:nvPr/>
        </p:nvSpPr>
        <p:spPr>
          <a:xfrm>
            <a:off x="7076668" y="247649"/>
            <a:ext cx="10230664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Magnification loss</a:t>
            </a:r>
            <a:endParaRPr/>
          </a:p>
        </p:txBody>
      </p:sp>
      <p:cxnSp>
        <p:nvCxnSpPr>
          <p:cNvPr id="765" name="Google Shape;765;p65"/>
          <p:cNvCxnSpPr/>
          <p:nvPr/>
        </p:nvCxnSpPr>
        <p:spPr>
          <a:xfrm>
            <a:off x="7093701" y="4303183"/>
            <a:ext cx="585468" cy="728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766" name="Google Shape;766;p65"/>
          <p:cNvCxnSpPr/>
          <p:nvPr/>
        </p:nvCxnSpPr>
        <p:spPr>
          <a:xfrm flipH="1" rot="10800000">
            <a:off x="6856502" y="4415109"/>
            <a:ext cx="1" cy="1827735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67" name="Google Shape;767;p65"/>
          <p:cNvSpPr/>
          <p:nvPr/>
        </p:nvSpPr>
        <p:spPr>
          <a:xfrm>
            <a:off x="2384000" y="4270144"/>
            <a:ext cx="4488843" cy="1718601"/>
          </a:xfrm>
          <a:custGeom>
            <a:rect b="b" l="l" r="r" t="t"/>
            <a:pathLst>
              <a:path extrusionOk="0" h="21600" w="21600">
                <a:moveTo>
                  <a:pt x="53" y="21600"/>
                </a:moveTo>
                <a:lnTo>
                  <a:pt x="0" y="0"/>
                </a:lnTo>
                <a:lnTo>
                  <a:pt x="21600" y="160"/>
                </a:ln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65"/>
          <p:cNvSpPr/>
          <p:nvPr/>
        </p:nvSpPr>
        <p:spPr>
          <a:xfrm>
            <a:off x="9988053" y="3034856"/>
            <a:ext cx="7176577" cy="2576657"/>
          </a:xfrm>
          <a:custGeom>
            <a:rect b="b" l="l" r="r" t="t"/>
            <a:pathLst>
              <a:path extrusionOk="0" h="18770" w="21600">
                <a:moveTo>
                  <a:pt x="0" y="8399"/>
                </a:moveTo>
                <a:cubicBezTo>
                  <a:pt x="5101" y="-2447"/>
                  <a:pt x="12687" y="-2830"/>
                  <a:pt x="17970" y="7491"/>
                </a:cubicBezTo>
                <a:cubicBezTo>
                  <a:pt x="19523" y="10524"/>
                  <a:pt x="20765" y="14383"/>
                  <a:pt x="21600" y="18770"/>
                </a:cubicBez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69" name="Google Shape;769;p65"/>
          <p:cNvGrpSpPr/>
          <p:nvPr/>
        </p:nvGrpSpPr>
        <p:grpSpPr>
          <a:xfrm>
            <a:off x="6613881" y="3366983"/>
            <a:ext cx="3403223" cy="1777627"/>
            <a:chOff x="0" y="85259"/>
            <a:chExt cx="3403222" cy="1777626"/>
          </a:xfrm>
        </p:grpSpPr>
        <p:sp>
          <p:nvSpPr>
            <p:cNvPr id="770" name="Google Shape;770;p65"/>
            <p:cNvSpPr/>
            <p:nvPr/>
          </p:nvSpPr>
          <p:spPr>
            <a:xfrm>
              <a:off x="0" y="727811"/>
              <a:ext cx="492522" cy="492523"/>
            </a:xfrm>
            <a:prstGeom prst="rect">
              <a:avLst/>
            </a:prstGeom>
            <a:solidFill>
              <a:srgbClr val="FFFFFF"/>
            </a:solidFill>
            <a:ln cap="flat" cmpd="sng" w="152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Helvetica Neue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997787" y="85259"/>
              <a:ext cx="2405435" cy="1777626"/>
            </a:xfrm>
            <a:prstGeom prst="roundRect">
              <a:avLst>
                <a:gd fmla="val 8525" name="adj"/>
              </a:avLst>
            </a:prstGeom>
            <a:solidFill>
              <a:srgbClr val="E6E6E6"/>
            </a:solidFill>
            <a:ln cap="flat" cmpd="sng" w="381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venir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Optical flow</a:t>
              </a:r>
              <a:endParaRPr/>
            </a:p>
          </p:txBody>
        </p:sp>
      </p:grpSp>
      <p:pic>
        <p:nvPicPr>
          <p:cNvPr descr="Picture 19"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Group" id="773" name="Google Shape;773;p65"/>
          <p:cNvPicPr preferRelativeResize="0"/>
          <p:nvPr/>
        </p:nvPicPr>
        <p:blipFill rotWithShape="1">
          <a:blip r:embed="rId8">
            <a:alphaModFix/>
          </a:blip>
          <a:srcRect b="0" l="77344" r="0" t="0"/>
          <a:stretch/>
        </p:blipFill>
        <p:spPr>
          <a:xfrm>
            <a:off x="11067943" y="8938805"/>
            <a:ext cx="595018" cy="774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7" id="774" name="Google Shape;774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5" name="Google Shape;775;p65"/>
          <p:cNvSpPr txBox="1"/>
          <p:nvPr/>
        </p:nvSpPr>
        <p:spPr>
          <a:xfrm>
            <a:off x="15775512" y="8868955"/>
            <a:ext cx="2756777" cy="914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venir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Flow field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6"/>
          <p:cNvSpPr/>
          <p:nvPr/>
        </p:nvSpPr>
        <p:spPr>
          <a:xfrm>
            <a:off x="2384000" y="4272585"/>
            <a:ext cx="8597591" cy="1716160"/>
          </a:xfrm>
          <a:custGeom>
            <a:rect b="b" l="l" r="r" t="t"/>
            <a:pathLst>
              <a:path extrusionOk="0" h="21600" w="21600">
                <a:moveTo>
                  <a:pt x="28" y="21600"/>
                </a:moveTo>
                <a:lnTo>
                  <a:pt x="0" y="755"/>
                </a:lnTo>
                <a:lnTo>
                  <a:pt x="21600" y="0"/>
                </a:ln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1" name="Google Shape;781;p66"/>
          <p:cNvSpPr/>
          <p:nvPr/>
        </p:nvSpPr>
        <p:spPr>
          <a:xfrm>
            <a:off x="27591146" y="143330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23" id="782" name="Google Shape;78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1306" y="5618444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3" name="Google Shape;783;p66"/>
          <p:cNvSpPr/>
          <p:nvPr/>
        </p:nvSpPr>
        <p:spPr>
          <a:xfrm>
            <a:off x="26067146" y="7945589"/>
            <a:ext cx="8232273" cy="2146865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784" name="Google Shape;78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785" name="Google Shape;785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86" name="Google Shape;786;p66"/>
          <p:cNvGrpSpPr/>
          <p:nvPr/>
        </p:nvGrpSpPr>
        <p:grpSpPr>
          <a:xfrm>
            <a:off x="30106559" y="12278462"/>
            <a:ext cx="501432" cy="499804"/>
            <a:chOff x="0" y="0"/>
            <a:chExt cx="501431" cy="499802"/>
          </a:xfrm>
        </p:grpSpPr>
        <p:pic>
          <p:nvPicPr>
            <p:cNvPr descr="Picture 2" id="787" name="Google Shape;787;p66"/>
            <p:cNvPicPr preferRelativeResize="0"/>
            <p:nvPr/>
          </p:nvPicPr>
          <p:blipFill rotWithShape="1">
            <a:blip r:embed="rId5">
              <a:alphaModFix/>
            </a:blip>
            <a:srcRect b="71479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6"/>
            <p:cNvSpPr/>
            <p:nvPr/>
          </p:nvSpPr>
          <p:spPr>
            <a:xfrm>
              <a:off x="0" y="0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789" name="Google Shape;789;p66"/>
          <p:cNvGrpSpPr/>
          <p:nvPr/>
        </p:nvGrpSpPr>
        <p:grpSpPr>
          <a:xfrm>
            <a:off x="31228962" y="12278467"/>
            <a:ext cx="501432" cy="499804"/>
            <a:chOff x="0" y="0"/>
            <a:chExt cx="501431" cy="499802"/>
          </a:xfrm>
        </p:grpSpPr>
        <p:pic>
          <p:nvPicPr>
            <p:cNvPr descr="Picture 5" id="790" name="Google Shape;790;p66"/>
            <p:cNvPicPr preferRelativeResize="0"/>
            <p:nvPr/>
          </p:nvPicPr>
          <p:blipFill rotWithShape="1">
            <a:blip r:embed="rId6">
              <a:alphaModFix/>
            </a:blip>
            <a:srcRect b="70784" l="66246" r="22992" t="16143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p66"/>
            <p:cNvSpPr/>
            <p:nvPr/>
          </p:nvSpPr>
          <p:spPr>
            <a:xfrm>
              <a:off x="0" y="2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792" name="Google Shape;792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804398" y="931743"/>
            <a:ext cx="565132" cy="232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93" name="Google Shape;793;p66"/>
          <p:cNvPicPr preferRelativeResize="0"/>
          <p:nvPr/>
        </p:nvPicPr>
        <p:blipFill rotWithShape="1">
          <a:blip r:embed="rId8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94" name="Google Shape;794;p66"/>
          <p:cNvPicPr preferRelativeResize="0"/>
          <p:nvPr/>
        </p:nvPicPr>
        <p:blipFill rotWithShape="1">
          <a:blip r:embed="rId8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" id="795" name="Google Shape;795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985823" y="5558525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6" name="Google Shape;796;p66"/>
          <p:cNvSpPr txBox="1"/>
          <p:nvPr/>
        </p:nvSpPr>
        <p:spPr>
          <a:xfrm>
            <a:off x="7076668" y="247649"/>
            <a:ext cx="10230664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Magnification loss</a:t>
            </a:r>
            <a:endParaRPr/>
          </a:p>
        </p:txBody>
      </p:sp>
      <p:cxnSp>
        <p:nvCxnSpPr>
          <p:cNvPr id="797" name="Google Shape;797;p66"/>
          <p:cNvCxnSpPr/>
          <p:nvPr/>
        </p:nvCxnSpPr>
        <p:spPr>
          <a:xfrm>
            <a:off x="11627601" y="4290483"/>
            <a:ext cx="644922" cy="1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98" name="Google Shape;798;p66"/>
          <p:cNvSpPr/>
          <p:nvPr/>
        </p:nvSpPr>
        <p:spPr>
          <a:xfrm>
            <a:off x="14687053" y="3001807"/>
            <a:ext cx="7078648" cy="2511678"/>
          </a:xfrm>
          <a:custGeom>
            <a:rect b="b" l="l" r="r" t="t"/>
            <a:pathLst>
              <a:path extrusionOk="0" h="18633" w="21600">
                <a:moveTo>
                  <a:pt x="0" y="8798"/>
                </a:moveTo>
                <a:cubicBezTo>
                  <a:pt x="5119" y="-2572"/>
                  <a:pt x="12910" y="-2967"/>
                  <a:pt x="18219" y="7874"/>
                </a:cubicBezTo>
                <a:cubicBezTo>
                  <a:pt x="19658" y="10812"/>
                  <a:pt x="20812" y="14485"/>
                  <a:pt x="21600" y="18633"/>
                </a:cubicBezTo>
              </a:path>
            </a:pathLst>
          </a:cu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9" name="Google Shape;799;p66"/>
          <p:cNvSpPr/>
          <p:nvPr/>
        </p:nvSpPr>
        <p:spPr>
          <a:xfrm>
            <a:off x="11058881" y="4009534"/>
            <a:ext cx="492523" cy="492523"/>
          </a:xfrm>
          <a:prstGeom prst="rect">
            <a:avLst/>
          </a:prstGeom>
          <a:solidFill>
            <a:srgbClr val="FFFFFF"/>
          </a:solidFill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0" name="Google Shape;800;p66"/>
          <p:cNvSpPr/>
          <p:nvPr/>
        </p:nvSpPr>
        <p:spPr>
          <a:xfrm>
            <a:off x="12285268" y="3469575"/>
            <a:ext cx="2405435" cy="1572441"/>
          </a:xfrm>
          <a:prstGeom prst="roundRect">
            <a:avLst>
              <a:gd fmla="val 9638" name="adj"/>
            </a:avLst>
          </a:prstGeom>
          <a:solidFill>
            <a:srgbClr val="E6E6E6"/>
          </a:solidFill>
          <a:ln cap="flat" cmpd="sng" w="381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venir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Optical flow</a:t>
            </a:r>
            <a:endParaRPr/>
          </a:p>
        </p:txBody>
      </p:sp>
      <p:cxnSp>
        <p:nvCxnSpPr>
          <p:cNvPr id="801" name="Google Shape;801;p66"/>
          <p:cNvCxnSpPr/>
          <p:nvPr/>
        </p:nvCxnSpPr>
        <p:spPr>
          <a:xfrm flipH="1" rot="10800000">
            <a:off x="11301502" y="4440509"/>
            <a:ext cx="1" cy="1827735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Picture 21" id="802" name="Google Shape;802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168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3" name="Google Shape;803;p66"/>
          <p:cNvSpPr txBox="1"/>
          <p:nvPr/>
        </p:nvSpPr>
        <p:spPr>
          <a:xfrm>
            <a:off x="15775512" y="8868955"/>
            <a:ext cx="2756777" cy="914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venir"/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Flow field</a:t>
            </a:r>
            <a:endParaRPr/>
          </a:p>
        </p:txBody>
      </p:sp>
      <p:pic>
        <p:nvPicPr>
          <p:cNvPr descr="Image" id="804" name="Google Shape;804;p66"/>
          <p:cNvPicPr preferRelativeResize="0"/>
          <p:nvPr/>
        </p:nvPicPr>
        <p:blipFill rotWithShape="1">
          <a:blip r:embed="rId10">
            <a:alphaModFix/>
          </a:blip>
          <a:srcRect b="0" l="77344" r="0" t="0"/>
          <a:stretch/>
        </p:blipFill>
        <p:spPr>
          <a:xfrm>
            <a:off x="11067943" y="8938805"/>
            <a:ext cx="595018" cy="77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1" id="809" name="Google Shape;80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168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0" name="Google Shape;810;p67"/>
          <p:cNvSpPr/>
          <p:nvPr/>
        </p:nvSpPr>
        <p:spPr>
          <a:xfrm>
            <a:off x="27591146" y="143330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23" id="811" name="Google Shape;81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51306" y="5618444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2" name="Google Shape;812;p67"/>
          <p:cNvSpPr/>
          <p:nvPr/>
        </p:nvSpPr>
        <p:spPr>
          <a:xfrm>
            <a:off x="26067146" y="7945589"/>
            <a:ext cx="8232273" cy="2146865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813" name="Google Shape;81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814" name="Google Shape;814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15" name="Google Shape;815;p67"/>
          <p:cNvGrpSpPr/>
          <p:nvPr/>
        </p:nvGrpSpPr>
        <p:grpSpPr>
          <a:xfrm>
            <a:off x="30106559" y="12278462"/>
            <a:ext cx="501432" cy="499804"/>
            <a:chOff x="0" y="0"/>
            <a:chExt cx="501431" cy="499802"/>
          </a:xfrm>
        </p:grpSpPr>
        <p:pic>
          <p:nvPicPr>
            <p:cNvPr descr="Picture 2" id="816" name="Google Shape;816;p67"/>
            <p:cNvPicPr preferRelativeResize="0"/>
            <p:nvPr/>
          </p:nvPicPr>
          <p:blipFill rotWithShape="1">
            <a:blip r:embed="rId6">
              <a:alphaModFix/>
            </a:blip>
            <a:srcRect b="71479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67"/>
            <p:cNvSpPr/>
            <p:nvPr/>
          </p:nvSpPr>
          <p:spPr>
            <a:xfrm>
              <a:off x="0" y="0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18" name="Google Shape;818;p67"/>
          <p:cNvGrpSpPr/>
          <p:nvPr/>
        </p:nvGrpSpPr>
        <p:grpSpPr>
          <a:xfrm>
            <a:off x="31228962" y="12278467"/>
            <a:ext cx="501432" cy="499804"/>
            <a:chOff x="0" y="0"/>
            <a:chExt cx="501431" cy="499802"/>
          </a:xfrm>
        </p:grpSpPr>
        <p:pic>
          <p:nvPicPr>
            <p:cNvPr descr="Picture 5" id="819" name="Google Shape;819;p67"/>
            <p:cNvPicPr preferRelativeResize="0"/>
            <p:nvPr/>
          </p:nvPicPr>
          <p:blipFill rotWithShape="1">
            <a:blip r:embed="rId3">
              <a:alphaModFix/>
            </a:blip>
            <a:srcRect b="70784" l="66246" r="22992" t="16143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0" name="Google Shape;820;p67"/>
            <p:cNvSpPr/>
            <p:nvPr/>
          </p:nvSpPr>
          <p:spPr>
            <a:xfrm>
              <a:off x="0" y="2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821" name="Google Shape;821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804398" y="931743"/>
            <a:ext cx="565132" cy="232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22" name="Google Shape;822;p67"/>
          <p:cNvPicPr preferRelativeResize="0"/>
          <p:nvPr/>
        </p:nvPicPr>
        <p:blipFill rotWithShape="1">
          <a:blip r:embed="rId8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23" name="Google Shape;823;p67"/>
          <p:cNvPicPr preferRelativeResize="0"/>
          <p:nvPr/>
        </p:nvPicPr>
        <p:blipFill rotWithShape="1">
          <a:blip r:embed="rId8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4" name="Google Shape;824;p67"/>
          <p:cNvGrpSpPr/>
          <p:nvPr/>
        </p:nvGrpSpPr>
        <p:grpSpPr>
          <a:xfrm>
            <a:off x="14421763" y="5393425"/>
            <a:ext cx="9992758" cy="3621584"/>
            <a:chOff x="-1" y="12699"/>
            <a:chExt cx="9992757" cy="3621583"/>
          </a:xfrm>
        </p:grpSpPr>
        <p:cxnSp>
          <p:nvCxnSpPr>
            <p:cNvPr id="825" name="Google Shape;825;p67"/>
            <p:cNvCxnSpPr/>
            <p:nvPr/>
          </p:nvCxnSpPr>
          <p:spPr>
            <a:xfrm flipH="1" rot="10800000">
              <a:off x="9270999" y="12700"/>
              <a:ext cx="1" cy="3227917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826" name="Google Shape;826;p67"/>
            <p:cNvCxnSpPr/>
            <p:nvPr/>
          </p:nvCxnSpPr>
          <p:spPr>
            <a:xfrm flipH="1" rot="10800000">
              <a:off x="-1" y="12700"/>
              <a:ext cx="2" cy="3227917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grpSp>
          <p:nvGrpSpPr>
            <p:cNvPr id="827" name="Google Shape;827;p67"/>
            <p:cNvGrpSpPr/>
            <p:nvPr/>
          </p:nvGrpSpPr>
          <p:grpSpPr>
            <a:xfrm>
              <a:off x="226681" y="12699"/>
              <a:ext cx="9766075" cy="3621583"/>
              <a:chOff x="-1" y="0"/>
              <a:chExt cx="9766074" cy="3621581"/>
            </a:xfrm>
          </p:grpSpPr>
          <p:pic>
            <p:nvPicPr>
              <p:cNvPr descr="Image" id="828" name="Google Shape;828;p6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48293" t="0"/>
              <a:stretch/>
            </p:blipFill>
            <p:spPr>
              <a:xfrm>
                <a:off x="4564929" y="1509005"/>
                <a:ext cx="577978" cy="40432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29" name="Google Shape;829;p67"/>
              <p:cNvCxnSpPr/>
              <p:nvPr/>
            </p:nvCxnSpPr>
            <p:spPr>
              <a:xfrm flipH="1" rot="10800000">
                <a:off x="-1" y="0"/>
                <a:ext cx="2" cy="3227917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830" name="Google Shape;830;p67"/>
              <p:cNvCxnSpPr/>
              <p:nvPr/>
            </p:nvCxnSpPr>
            <p:spPr>
              <a:xfrm flipH="1" rot="10800000">
                <a:off x="9271000" y="0"/>
                <a:ext cx="1" cy="3227917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sp>
            <p:nvSpPr>
              <p:cNvPr id="831" name="Google Shape;831;p67"/>
              <p:cNvSpPr txBox="1"/>
              <p:nvPr/>
            </p:nvSpPr>
            <p:spPr>
              <a:xfrm>
                <a:off x="9364498" y="2846880"/>
                <a:ext cx="401575" cy="774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900"/>
                  <a:buFont typeface="Avenir"/>
                  <a:buNone/>
                </a:pPr>
                <a:r>
                  <a:rPr b="0" i="0" lang="en-US" sz="3900" u="none" cap="none" strike="noStrike">
                    <a:solidFill>
                      <a:srgbClr val="00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1</a:t>
                </a:r>
                <a:endParaRPr/>
              </a:p>
            </p:txBody>
          </p:sp>
          <p:pic>
            <p:nvPicPr>
              <p:cNvPr descr="Image" id="832" name="Google Shape;832;p67"/>
              <p:cNvPicPr preferRelativeResize="0"/>
              <p:nvPr/>
            </p:nvPicPr>
            <p:blipFill rotWithShape="1">
              <a:blip r:embed="rId9">
                <a:alphaModFix/>
              </a:blip>
              <a:srcRect b="0" l="53398" r="0" t="0"/>
              <a:stretch/>
            </p:blipFill>
            <p:spPr>
              <a:xfrm>
                <a:off x="107229" y="1509005"/>
                <a:ext cx="520927" cy="4043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Group" id="833" name="Google Shape;833;p6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985823" y="5558525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4" name="Google Shape;834;p67"/>
          <p:cNvSpPr txBox="1"/>
          <p:nvPr/>
        </p:nvSpPr>
        <p:spPr>
          <a:xfrm>
            <a:off x="4918995" y="247649"/>
            <a:ext cx="1454601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loss</a:t>
            </a:r>
            <a:endParaRPr/>
          </a:p>
        </p:txBody>
      </p:sp>
      <p:pic>
        <p:nvPicPr>
          <p:cNvPr descr="Image" id="835" name="Google Shape;835;p67"/>
          <p:cNvPicPr preferRelativeResize="0"/>
          <p:nvPr/>
        </p:nvPicPr>
        <p:blipFill rotWithShape="1">
          <a:blip r:embed="rId11">
            <a:alphaModFix/>
          </a:blip>
          <a:srcRect b="0" l="77344" r="0" t="0"/>
          <a:stretch/>
        </p:blipFill>
        <p:spPr>
          <a:xfrm>
            <a:off x="11067943" y="8938805"/>
            <a:ext cx="595018" cy="77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0" name="Google Shape;840;p68"/>
          <p:cNvGrpSpPr/>
          <p:nvPr/>
        </p:nvGrpSpPr>
        <p:grpSpPr>
          <a:xfrm>
            <a:off x="9211682" y="5242271"/>
            <a:ext cx="4307542" cy="4472427"/>
            <a:chOff x="0" y="0"/>
            <a:chExt cx="4307541" cy="4472425"/>
          </a:xfrm>
        </p:grpSpPr>
        <p:pic>
          <p:nvPicPr>
            <p:cNvPr descr="Picture 21" id="841" name="Google Shape;841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307541" cy="353439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Image" id="842" name="Google Shape;842;p68"/>
            <p:cNvPicPr preferRelativeResize="0"/>
            <p:nvPr/>
          </p:nvPicPr>
          <p:blipFill rotWithShape="1">
            <a:blip r:embed="rId4">
              <a:alphaModFix/>
            </a:blip>
            <a:srcRect b="0" l="77344" r="0" t="0"/>
            <a:stretch/>
          </p:blipFill>
          <p:spPr>
            <a:xfrm>
              <a:off x="1830492" y="3697724"/>
              <a:ext cx="595019" cy="774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3" name="Google Shape;843;p68"/>
          <p:cNvSpPr/>
          <p:nvPr/>
        </p:nvSpPr>
        <p:spPr>
          <a:xfrm>
            <a:off x="27591146" y="143711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4" name="Google Shape;844;p68"/>
          <p:cNvSpPr/>
          <p:nvPr/>
        </p:nvSpPr>
        <p:spPr>
          <a:xfrm>
            <a:off x="26067146" y="7882089"/>
            <a:ext cx="8232273" cy="2146865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845" name="Google Shape;845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846" name="Google Shape;846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47" name="Google Shape;847;p68"/>
          <p:cNvGrpSpPr/>
          <p:nvPr/>
        </p:nvGrpSpPr>
        <p:grpSpPr>
          <a:xfrm>
            <a:off x="30106559" y="12278462"/>
            <a:ext cx="501432" cy="499804"/>
            <a:chOff x="0" y="0"/>
            <a:chExt cx="501431" cy="499802"/>
          </a:xfrm>
        </p:grpSpPr>
        <p:pic>
          <p:nvPicPr>
            <p:cNvPr descr="Picture 2" id="848" name="Google Shape;848;p68"/>
            <p:cNvPicPr preferRelativeResize="0"/>
            <p:nvPr/>
          </p:nvPicPr>
          <p:blipFill rotWithShape="1">
            <a:blip r:embed="rId6">
              <a:alphaModFix/>
            </a:blip>
            <a:srcRect b="71479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68"/>
            <p:cNvSpPr/>
            <p:nvPr/>
          </p:nvSpPr>
          <p:spPr>
            <a:xfrm>
              <a:off x="0" y="0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50" name="Google Shape;850;p68"/>
          <p:cNvGrpSpPr/>
          <p:nvPr/>
        </p:nvGrpSpPr>
        <p:grpSpPr>
          <a:xfrm>
            <a:off x="31228962" y="12278467"/>
            <a:ext cx="501432" cy="499804"/>
            <a:chOff x="0" y="0"/>
            <a:chExt cx="501431" cy="499802"/>
          </a:xfrm>
        </p:grpSpPr>
        <p:pic>
          <p:nvPicPr>
            <p:cNvPr descr="Picture 5" id="851" name="Google Shape;851;p68"/>
            <p:cNvPicPr preferRelativeResize="0"/>
            <p:nvPr/>
          </p:nvPicPr>
          <p:blipFill rotWithShape="1">
            <a:blip r:embed="rId3">
              <a:alphaModFix/>
            </a:blip>
            <a:srcRect b="70784" l="66246" r="22992" t="16143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68"/>
            <p:cNvSpPr/>
            <p:nvPr/>
          </p:nvSpPr>
          <p:spPr>
            <a:xfrm>
              <a:off x="0" y="2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853" name="Google Shape;853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804398" y="1046043"/>
            <a:ext cx="565132" cy="232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54" name="Google Shape;854;p68"/>
          <p:cNvPicPr preferRelativeResize="0"/>
          <p:nvPr/>
        </p:nvPicPr>
        <p:blipFill rotWithShape="1">
          <a:blip r:embed="rId8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55" name="Google Shape;855;p68"/>
          <p:cNvPicPr preferRelativeResize="0"/>
          <p:nvPr/>
        </p:nvPicPr>
        <p:blipFill rotWithShape="1">
          <a:blip r:embed="rId8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68"/>
          <p:cNvGrpSpPr/>
          <p:nvPr/>
        </p:nvGrpSpPr>
        <p:grpSpPr>
          <a:xfrm>
            <a:off x="12063521" y="3355322"/>
            <a:ext cx="5958943" cy="3341821"/>
            <a:chOff x="0" y="0"/>
            <a:chExt cx="5958942" cy="3341820"/>
          </a:xfrm>
        </p:grpSpPr>
        <p:sp>
          <p:nvSpPr>
            <p:cNvPr id="857" name="Google Shape;857;p68"/>
            <p:cNvSpPr txBox="1"/>
            <p:nvPr/>
          </p:nvSpPr>
          <p:spPr>
            <a:xfrm>
              <a:off x="0" y="0"/>
              <a:ext cx="5958942" cy="990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0"/>
                <a:buFont typeface="Avenir"/>
                <a:buNone/>
              </a:pPr>
              <a:r>
                <a:rPr b="0" i="0" lang="en-US" sz="51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magnification </a:t>
              </a:r>
              <a:r>
                <a:rPr b="0" i="0" lang="en-US" sz="50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factor</a:t>
              </a:r>
              <a:endParaRPr/>
            </a:p>
          </p:txBody>
        </p:sp>
        <p:cxnSp>
          <p:nvCxnSpPr>
            <p:cNvPr id="858" name="Google Shape;858;p68"/>
            <p:cNvCxnSpPr/>
            <p:nvPr/>
          </p:nvCxnSpPr>
          <p:spPr>
            <a:xfrm rot="10800000">
              <a:off x="2975849" y="884559"/>
              <a:ext cx="7244" cy="2457261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dot"/>
              <a:miter lim="400000"/>
              <a:headEnd len="sm" w="sm" type="none"/>
              <a:tailEnd len="sm" w="sm" type="none"/>
            </a:ln>
          </p:spPr>
        </p:cxnSp>
      </p:grpSp>
      <p:pic>
        <p:nvPicPr>
          <p:cNvPr descr="Picture 23" id="859" name="Google Shape;859;p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451306" y="5618444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60" name="Google Shape;860;p68"/>
          <p:cNvGrpSpPr/>
          <p:nvPr/>
        </p:nvGrpSpPr>
        <p:grpSpPr>
          <a:xfrm>
            <a:off x="14421763" y="5393425"/>
            <a:ext cx="9992758" cy="3621584"/>
            <a:chOff x="-1" y="12699"/>
            <a:chExt cx="9992757" cy="3621583"/>
          </a:xfrm>
        </p:grpSpPr>
        <p:cxnSp>
          <p:nvCxnSpPr>
            <p:cNvPr id="861" name="Google Shape;861;p68"/>
            <p:cNvCxnSpPr/>
            <p:nvPr/>
          </p:nvCxnSpPr>
          <p:spPr>
            <a:xfrm flipH="1" rot="10800000">
              <a:off x="9270999" y="12700"/>
              <a:ext cx="1" cy="3227917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862" name="Google Shape;862;p68"/>
            <p:cNvCxnSpPr/>
            <p:nvPr/>
          </p:nvCxnSpPr>
          <p:spPr>
            <a:xfrm flipH="1" rot="10800000">
              <a:off x="-1" y="12700"/>
              <a:ext cx="2" cy="3227917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grpSp>
          <p:nvGrpSpPr>
            <p:cNvPr id="863" name="Google Shape;863;p68"/>
            <p:cNvGrpSpPr/>
            <p:nvPr/>
          </p:nvGrpSpPr>
          <p:grpSpPr>
            <a:xfrm>
              <a:off x="226681" y="12699"/>
              <a:ext cx="9766075" cy="3621583"/>
              <a:chOff x="-1" y="0"/>
              <a:chExt cx="9766074" cy="3621581"/>
            </a:xfrm>
          </p:grpSpPr>
          <p:pic>
            <p:nvPicPr>
              <p:cNvPr descr="Image" id="864" name="Google Shape;864;p6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48293" t="0"/>
              <a:stretch/>
            </p:blipFill>
            <p:spPr>
              <a:xfrm>
                <a:off x="4564929" y="1509005"/>
                <a:ext cx="577978" cy="40432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65" name="Google Shape;865;p68"/>
              <p:cNvCxnSpPr/>
              <p:nvPr/>
            </p:nvCxnSpPr>
            <p:spPr>
              <a:xfrm flipH="1" rot="10800000">
                <a:off x="-1" y="0"/>
                <a:ext cx="2" cy="3227917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866" name="Google Shape;866;p68"/>
              <p:cNvCxnSpPr/>
              <p:nvPr/>
            </p:nvCxnSpPr>
            <p:spPr>
              <a:xfrm flipH="1" rot="10800000">
                <a:off x="9271000" y="0"/>
                <a:ext cx="1" cy="3227917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sp>
            <p:nvSpPr>
              <p:cNvPr id="867" name="Google Shape;867;p68"/>
              <p:cNvSpPr txBox="1"/>
              <p:nvPr/>
            </p:nvSpPr>
            <p:spPr>
              <a:xfrm>
                <a:off x="9364498" y="2846880"/>
                <a:ext cx="401575" cy="774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900"/>
                  <a:buFont typeface="Avenir"/>
                  <a:buNone/>
                </a:pPr>
                <a:r>
                  <a:rPr b="0" i="0" lang="en-US" sz="3900" u="none" cap="none" strike="noStrike">
                    <a:solidFill>
                      <a:srgbClr val="00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1</a:t>
                </a:r>
                <a:endParaRPr/>
              </a:p>
            </p:txBody>
          </p:sp>
          <p:pic>
            <p:nvPicPr>
              <p:cNvPr descr="Image" id="868" name="Google Shape;868;p68"/>
              <p:cNvPicPr preferRelativeResize="0"/>
              <p:nvPr/>
            </p:nvPicPr>
            <p:blipFill rotWithShape="1">
              <a:blip r:embed="rId10">
                <a:alphaModFix/>
              </a:blip>
              <a:srcRect b="0" l="53398" r="0" t="0"/>
              <a:stretch/>
            </p:blipFill>
            <p:spPr>
              <a:xfrm>
                <a:off x="107229" y="1509005"/>
                <a:ext cx="520927" cy="4043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Group" id="869" name="Google Shape;869;p6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985823" y="5558525"/>
            <a:ext cx="3405193" cy="27940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0" name="Google Shape;870;p68"/>
          <p:cNvSpPr txBox="1"/>
          <p:nvPr/>
        </p:nvSpPr>
        <p:spPr>
          <a:xfrm>
            <a:off x="4918995" y="247649"/>
            <a:ext cx="1454601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loss</a:t>
            </a:r>
            <a:endParaRPr/>
          </a:p>
        </p:txBody>
      </p:sp>
      <p:sp>
        <p:nvSpPr>
          <p:cNvPr id="871" name="Google Shape;871;p68"/>
          <p:cNvSpPr txBox="1"/>
          <p:nvPr/>
        </p:nvSpPr>
        <p:spPr>
          <a:xfrm>
            <a:off x="1941639" y="10807668"/>
            <a:ext cx="20500722" cy="135890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venir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Backprop through the optical flow during training!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69"/>
          <p:cNvGrpSpPr/>
          <p:nvPr/>
        </p:nvGrpSpPr>
        <p:grpSpPr>
          <a:xfrm>
            <a:off x="9211682" y="5242271"/>
            <a:ext cx="4307542" cy="4472427"/>
            <a:chOff x="0" y="0"/>
            <a:chExt cx="4307541" cy="4472425"/>
          </a:xfrm>
        </p:grpSpPr>
        <p:pic>
          <p:nvPicPr>
            <p:cNvPr descr="Picture 21" id="877" name="Google Shape;87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307541" cy="353439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Image" id="878" name="Google Shape;878;p69"/>
            <p:cNvPicPr preferRelativeResize="0"/>
            <p:nvPr/>
          </p:nvPicPr>
          <p:blipFill rotWithShape="1">
            <a:blip r:embed="rId4">
              <a:alphaModFix/>
            </a:blip>
            <a:srcRect b="0" l="77344" r="0" t="0"/>
            <a:stretch/>
          </p:blipFill>
          <p:spPr>
            <a:xfrm>
              <a:off x="1830492" y="3697724"/>
              <a:ext cx="595019" cy="774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69"/>
          <p:cNvSpPr/>
          <p:nvPr/>
        </p:nvSpPr>
        <p:spPr>
          <a:xfrm>
            <a:off x="27591146" y="143711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p69"/>
          <p:cNvSpPr/>
          <p:nvPr/>
        </p:nvSpPr>
        <p:spPr>
          <a:xfrm>
            <a:off x="26067146" y="7120089"/>
            <a:ext cx="8232273" cy="2146865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881" name="Google Shape;881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882" name="Google Shape;882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83" name="Google Shape;883;p69"/>
          <p:cNvGrpSpPr/>
          <p:nvPr/>
        </p:nvGrpSpPr>
        <p:grpSpPr>
          <a:xfrm>
            <a:off x="30106559" y="12278462"/>
            <a:ext cx="501432" cy="499804"/>
            <a:chOff x="0" y="0"/>
            <a:chExt cx="501431" cy="499802"/>
          </a:xfrm>
        </p:grpSpPr>
        <p:pic>
          <p:nvPicPr>
            <p:cNvPr descr="Picture 2" id="884" name="Google Shape;884;p69"/>
            <p:cNvPicPr preferRelativeResize="0"/>
            <p:nvPr/>
          </p:nvPicPr>
          <p:blipFill rotWithShape="1">
            <a:blip r:embed="rId6">
              <a:alphaModFix/>
            </a:blip>
            <a:srcRect b="71479" l="68164" r="21177" t="15448"/>
            <a:stretch/>
          </p:blipFill>
          <p:spPr>
            <a:xfrm>
              <a:off x="0" y="0"/>
              <a:ext cx="496629" cy="499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" name="Google Shape;885;p69"/>
            <p:cNvSpPr/>
            <p:nvPr/>
          </p:nvSpPr>
          <p:spPr>
            <a:xfrm>
              <a:off x="0" y="0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86" name="Google Shape;886;p69"/>
          <p:cNvGrpSpPr/>
          <p:nvPr/>
        </p:nvGrpSpPr>
        <p:grpSpPr>
          <a:xfrm>
            <a:off x="31228962" y="12278467"/>
            <a:ext cx="501432" cy="499804"/>
            <a:chOff x="0" y="0"/>
            <a:chExt cx="501431" cy="499802"/>
          </a:xfrm>
        </p:grpSpPr>
        <p:pic>
          <p:nvPicPr>
            <p:cNvPr descr="Picture 5" id="887" name="Google Shape;887;p69"/>
            <p:cNvPicPr preferRelativeResize="0"/>
            <p:nvPr/>
          </p:nvPicPr>
          <p:blipFill rotWithShape="1">
            <a:blip r:embed="rId3">
              <a:alphaModFix/>
            </a:blip>
            <a:srcRect b="70784" l="66246" r="22992" t="16143"/>
            <a:stretch/>
          </p:blipFill>
          <p:spPr>
            <a:xfrm>
              <a:off x="0" y="0"/>
              <a:ext cx="501431" cy="4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69"/>
            <p:cNvSpPr/>
            <p:nvPr/>
          </p:nvSpPr>
          <p:spPr>
            <a:xfrm>
              <a:off x="0" y="2"/>
              <a:ext cx="501431" cy="499800"/>
            </a:xfrm>
            <a:prstGeom prst="rect">
              <a:avLst/>
            </a:prstGeom>
            <a:noFill/>
            <a:ln cap="flat" cmpd="sng" w="3175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889" name="Google Shape;889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804398" y="1046043"/>
            <a:ext cx="565132" cy="232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90" name="Google Shape;890;p69"/>
          <p:cNvPicPr preferRelativeResize="0"/>
          <p:nvPr/>
        </p:nvPicPr>
        <p:blipFill rotWithShape="1">
          <a:blip r:embed="rId8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91" name="Google Shape;891;p69"/>
          <p:cNvPicPr preferRelativeResize="0"/>
          <p:nvPr/>
        </p:nvPicPr>
        <p:blipFill rotWithShape="1">
          <a:blip r:embed="rId8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92" name="Google Shape;892;p6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511731" y="4752077"/>
            <a:ext cx="2463752" cy="772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3" id="893" name="Google Shape;893;p6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074713" y="4194623"/>
            <a:ext cx="2293315" cy="188169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94" name="Google Shape;894;p69"/>
          <p:cNvGrpSpPr/>
          <p:nvPr/>
        </p:nvGrpSpPr>
        <p:grpSpPr>
          <a:xfrm>
            <a:off x="17381341" y="4043079"/>
            <a:ext cx="6729879" cy="2439048"/>
            <a:chOff x="-1" y="8553"/>
            <a:chExt cx="6729878" cy="2439047"/>
          </a:xfrm>
        </p:grpSpPr>
        <p:cxnSp>
          <p:nvCxnSpPr>
            <p:cNvPr id="895" name="Google Shape;895;p69"/>
            <p:cNvCxnSpPr/>
            <p:nvPr/>
          </p:nvCxnSpPr>
          <p:spPr>
            <a:xfrm flipH="1" rot="10800000">
              <a:off x="6243791" y="12700"/>
              <a:ext cx="1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896" name="Google Shape;896;p69"/>
            <p:cNvCxnSpPr/>
            <p:nvPr/>
          </p:nvCxnSpPr>
          <p:spPr>
            <a:xfrm flipH="1" rot="10800000">
              <a:off x="-1" y="12700"/>
              <a:ext cx="2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grpSp>
          <p:nvGrpSpPr>
            <p:cNvPr id="897" name="Google Shape;897;p69"/>
            <p:cNvGrpSpPr/>
            <p:nvPr/>
          </p:nvGrpSpPr>
          <p:grpSpPr>
            <a:xfrm>
              <a:off x="152663" y="8553"/>
              <a:ext cx="6577214" cy="2439047"/>
              <a:chOff x="-1" y="0"/>
              <a:chExt cx="6577212" cy="2439046"/>
            </a:xfrm>
          </p:grpSpPr>
          <p:pic>
            <p:nvPicPr>
              <p:cNvPr descr="Image" id="898" name="Google Shape;898;p6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48293" t="0"/>
              <a:stretch/>
            </p:blipFill>
            <p:spPr>
              <a:xfrm>
                <a:off x="3074368" y="1016277"/>
                <a:ext cx="389254" cy="27230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99" name="Google Shape;899;p69"/>
              <p:cNvCxnSpPr/>
              <p:nvPr/>
            </p:nvCxnSpPr>
            <p:spPr>
              <a:xfrm flipH="1" rot="10800000">
                <a:off x="-1" y="0"/>
                <a:ext cx="2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900" name="Google Shape;900;p69"/>
              <p:cNvCxnSpPr/>
              <p:nvPr/>
            </p:nvCxnSpPr>
            <p:spPr>
              <a:xfrm flipH="1" rot="10800000">
                <a:off x="6243791" y="0"/>
                <a:ext cx="1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sp>
            <p:nvSpPr>
              <p:cNvPr id="901" name="Google Shape;901;p69"/>
              <p:cNvSpPr txBox="1"/>
              <p:nvPr/>
            </p:nvSpPr>
            <p:spPr>
              <a:xfrm>
                <a:off x="6306760" y="1917304"/>
                <a:ext cx="270451" cy="521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900"/>
                  <a:buFont typeface="Avenir"/>
                  <a:buNone/>
                </a:pPr>
                <a:r>
                  <a:rPr b="0" i="0" lang="en-US" sz="3900" u="none" cap="none" strike="noStrike">
                    <a:solidFill>
                      <a:srgbClr val="00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1</a:t>
                </a:r>
                <a:endParaRPr/>
              </a:p>
            </p:txBody>
          </p:sp>
          <p:pic>
            <p:nvPicPr>
              <p:cNvPr descr="Image" id="902" name="Google Shape;902;p69"/>
              <p:cNvPicPr preferRelativeResize="0"/>
              <p:nvPr/>
            </p:nvPicPr>
            <p:blipFill rotWithShape="1">
              <a:blip r:embed="rId11">
                <a:alphaModFix/>
              </a:blip>
              <a:srcRect b="0" l="53398" r="0" t="0"/>
              <a:stretch/>
            </p:blipFill>
            <p:spPr>
              <a:xfrm>
                <a:off x="72216" y="1016278"/>
                <a:ext cx="350832" cy="272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Group" id="903" name="Google Shape;903;p6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128598" y="4154269"/>
            <a:ext cx="2293315" cy="188169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4" name="Google Shape;904;p69"/>
          <p:cNvSpPr txBox="1"/>
          <p:nvPr/>
        </p:nvSpPr>
        <p:spPr>
          <a:xfrm>
            <a:off x="4918995" y="247649"/>
            <a:ext cx="1454601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loss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0"/>
          <p:cNvSpPr/>
          <p:nvPr/>
        </p:nvSpPr>
        <p:spPr>
          <a:xfrm>
            <a:off x="27591146" y="143711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910" name="Google Shape;9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911" name="Google Shape;911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2" name="Google Shape;912;p70"/>
          <p:cNvSpPr/>
          <p:nvPr/>
        </p:nvSpPr>
        <p:spPr>
          <a:xfrm>
            <a:off x="7638929" y="5788304"/>
            <a:ext cx="463532" cy="462026"/>
          </a:xfrm>
          <a:prstGeom prst="rect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3" name="Google Shape;913;p70"/>
          <p:cNvSpPr/>
          <p:nvPr/>
        </p:nvSpPr>
        <p:spPr>
          <a:xfrm>
            <a:off x="3589096" y="4936750"/>
            <a:ext cx="4021614" cy="831389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12" y="10800"/>
                  <a:pt x="7823" y="0"/>
                  <a:pt x="11423" y="0"/>
                </a:cubicBezTo>
                <a:cubicBezTo>
                  <a:pt x="15023" y="0"/>
                  <a:pt x="18312" y="10800"/>
                  <a:pt x="21600" y="21600"/>
                </a:cubicBezTo>
              </a:path>
            </a:pathLst>
          </a:custGeom>
          <a:noFill/>
          <a:ln cap="flat" cmpd="sng" w="1270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14" name="Google Shape;914;p70"/>
          <p:cNvPicPr preferRelativeResize="0"/>
          <p:nvPr/>
        </p:nvPicPr>
        <p:blipFill rotWithShape="1">
          <a:blip r:embed="rId5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15" name="Google Shape;915;p70"/>
          <p:cNvPicPr preferRelativeResize="0"/>
          <p:nvPr/>
        </p:nvPicPr>
        <p:blipFill rotWithShape="1">
          <a:blip r:embed="rId5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6" name="Google Shape;916;p70"/>
          <p:cNvGrpSpPr/>
          <p:nvPr/>
        </p:nvGrpSpPr>
        <p:grpSpPr>
          <a:xfrm>
            <a:off x="9211682" y="5242271"/>
            <a:ext cx="4307542" cy="4472427"/>
            <a:chOff x="0" y="0"/>
            <a:chExt cx="4307541" cy="4472425"/>
          </a:xfrm>
        </p:grpSpPr>
        <p:pic>
          <p:nvPicPr>
            <p:cNvPr descr="Picture 21" id="917" name="Google Shape;917;p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4307541" cy="353439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Image" id="918" name="Google Shape;918;p70"/>
            <p:cNvPicPr preferRelativeResize="0"/>
            <p:nvPr/>
          </p:nvPicPr>
          <p:blipFill rotWithShape="1">
            <a:blip r:embed="rId7">
              <a:alphaModFix/>
            </a:blip>
            <a:srcRect b="0" l="77344" r="0" t="0"/>
            <a:stretch/>
          </p:blipFill>
          <p:spPr>
            <a:xfrm>
              <a:off x="1830492" y="3697724"/>
              <a:ext cx="595019" cy="774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9" name="Google Shape;919;p70"/>
          <p:cNvSpPr/>
          <p:nvPr/>
        </p:nvSpPr>
        <p:spPr>
          <a:xfrm>
            <a:off x="12065272" y="5812843"/>
            <a:ext cx="463532" cy="462026"/>
          </a:xfrm>
          <a:prstGeom prst="rect">
            <a:avLst/>
          </a:prstGeom>
          <a:noFill/>
          <a:ln cap="flat" cmpd="sng" w="101600">
            <a:solidFill>
              <a:srgbClr val="008C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0" name="Google Shape;920;p70"/>
          <p:cNvSpPr/>
          <p:nvPr/>
        </p:nvSpPr>
        <p:spPr>
          <a:xfrm>
            <a:off x="3129972" y="5761739"/>
            <a:ext cx="463531" cy="462026"/>
          </a:xfrm>
          <a:prstGeom prst="rect">
            <a:avLst/>
          </a:prstGeom>
          <a:noFill/>
          <a:ln cap="flat" cmpd="sng" w="1016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21" name="Google Shape;921;p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11731" y="4752077"/>
            <a:ext cx="2463752" cy="772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3" id="922" name="Google Shape;922;p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74713" y="4194623"/>
            <a:ext cx="2293315" cy="188169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23" name="Google Shape;923;p70"/>
          <p:cNvGrpSpPr/>
          <p:nvPr/>
        </p:nvGrpSpPr>
        <p:grpSpPr>
          <a:xfrm>
            <a:off x="17381341" y="4043079"/>
            <a:ext cx="6729879" cy="2439048"/>
            <a:chOff x="-1" y="8553"/>
            <a:chExt cx="6729878" cy="2439047"/>
          </a:xfrm>
        </p:grpSpPr>
        <p:cxnSp>
          <p:nvCxnSpPr>
            <p:cNvPr id="924" name="Google Shape;924;p70"/>
            <p:cNvCxnSpPr/>
            <p:nvPr/>
          </p:nvCxnSpPr>
          <p:spPr>
            <a:xfrm flipH="1" rot="10800000">
              <a:off x="6243791" y="12700"/>
              <a:ext cx="1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925" name="Google Shape;925;p70"/>
            <p:cNvCxnSpPr/>
            <p:nvPr/>
          </p:nvCxnSpPr>
          <p:spPr>
            <a:xfrm flipH="1" rot="10800000">
              <a:off x="-1" y="12700"/>
              <a:ext cx="2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grpSp>
          <p:nvGrpSpPr>
            <p:cNvPr id="926" name="Google Shape;926;p70"/>
            <p:cNvGrpSpPr/>
            <p:nvPr/>
          </p:nvGrpSpPr>
          <p:grpSpPr>
            <a:xfrm>
              <a:off x="152663" y="8553"/>
              <a:ext cx="6577214" cy="2439047"/>
              <a:chOff x="-1" y="0"/>
              <a:chExt cx="6577212" cy="2439046"/>
            </a:xfrm>
          </p:grpSpPr>
          <p:pic>
            <p:nvPicPr>
              <p:cNvPr descr="Image" id="927" name="Google Shape;927;p7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48293" t="0"/>
              <a:stretch/>
            </p:blipFill>
            <p:spPr>
              <a:xfrm>
                <a:off x="3074368" y="1016277"/>
                <a:ext cx="389254" cy="27230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28" name="Google Shape;928;p70"/>
              <p:cNvCxnSpPr/>
              <p:nvPr/>
            </p:nvCxnSpPr>
            <p:spPr>
              <a:xfrm flipH="1" rot="10800000">
                <a:off x="-1" y="0"/>
                <a:ext cx="2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929" name="Google Shape;929;p70"/>
              <p:cNvCxnSpPr/>
              <p:nvPr/>
            </p:nvCxnSpPr>
            <p:spPr>
              <a:xfrm flipH="1" rot="10800000">
                <a:off x="6243791" y="0"/>
                <a:ext cx="1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sp>
            <p:nvSpPr>
              <p:cNvPr id="930" name="Google Shape;930;p70"/>
              <p:cNvSpPr txBox="1"/>
              <p:nvPr/>
            </p:nvSpPr>
            <p:spPr>
              <a:xfrm>
                <a:off x="6306760" y="1917304"/>
                <a:ext cx="270451" cy="521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900"/>
                  <a:buFont typeface="Avenir"/>
                  <a:buNone/>
                </a:pPr>
                <a:r>
                  <a:rPr b="0" i="0" lang="en-US" sz="3900" u="none" cap="none" strike="noStrike">
                    <a:solidFill>
                      <a:srgbClr val="00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1</a:t>
                </a:r>
                <a:endParaRPr/>
              </a:p>
            </p:txBody>
          </p:sp>
          <p:pic>
            <p:nvPicPr>
              <p:cNvPr descr="Image" id="931" name="Google Shape;931;p70"/>
              <p:cNvPicPr preferRelativeResize="0"/>
              <p:nvPr/>
            </p:nvPicPr>
            <p:blipFill rotWithShape="1">
              <a:blip r:embed="rId10">
                <a:alphaModFix/>
              </a:blip>
              <a:srcRect b="0" l="53398" r="0" t="0"/>
              <a:stretch/>
            </p:blipFill>
            <p:spPr>
              <a:xfrm>
                <a:off x="72216" y="1016278"/>
                <a:ext cx="350832" cy="272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Group" id="932" name="Google Shape;932;p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128598" y="4154269"/>
            <a:ext cx="2293315" cy="188169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33" name="Google Shape;933;p70"/>
          <p:cNvGrpSpPr/>
          <p:nvPr/>
        </p:nvGrpSpPr>
        <p:grpSpPr>
          <a:xfrm>
            <a:off x="7626694" y="5788762"/>
            <a:ext cx="485757" cy="484180"/>
            <a:chOff x="0" y="0"/>
            <a:chExt cx="485755" cy="484178"/>
          </a:xfrm>
        </p:grpSpPr>
        <p:pic>
          <p:nvPicPr>
            <p:cNvPr descr="Picture 2" id="934" name="Google Shape;934;p70"/>
            <p:cNvPicPr preferRelativeResize="0"/>
            <p:nvPr/>
          </p:nvPicPr>
          <p:blipFill rotWithShape="1">
            <a:blip r:embed="rId4">
              <a:alphaModFix/>
            </a:blip>
            <a:srcRect b="71479" l="68164" r="21177" t="15448"/>
            <a:stretch/>
          </p:blipFill>
          <p:spPr>
            <a:xfrm>
              <a:off x="0" y="0"/>
              <a:ext cx="481103" cy="4841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70"/>
            <p:cNvSpPr/>
            <p:nvPr/>
          </p:nvSpPr>
          <p:spPr>
            <a:xfrm>
              <a:off x="0" y="0"/>
              <a:ext cx="485755" cy="484175"/>
            </a:xfrm>
            <a:prstGeom prst="rect">
              <a:avLst/>
            </a:prstGeom>
            <a:noFill/>
            <a:ln cap="flat" cmpd="sng" w="635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36" name="Google Shape;936;p70"/>
          <p:cNvGrpSpPr/>
          <p:nvPr/>
        </p:nvGrpSpPr>
        <p:grpSpPr>
          <a:xfrm>
            <a:off x="12056009" y="5814162"/>
            <a:ext cx="485757" cy="484179"/>
            <a:chOff x="0" y="0"/>
            <a:chExt cx="485755" cy="484177"/>
          </a:xfrm>
        </p:grpSpPr>
        <p:pic>
          <p:nvPicPr>
            <p:cNvPr descr="Picture 5" id="937" name="Google Shape;937;p70"/>
            <p:cNvPicPr preferRelativeResize="0"/>
            <p:nvPr/>
          </p:nvPicPr>
          <p:blipFill rotWithShape="1">
            <a:blip r:embed="rId6">
              <a:alphaModFix/>
            </a:blip>
            <a:srcRect b="70783" l="66246" r="22992" t="16143"/>
            <a:stretch/>
          </p:blipFill>
          <p:spPr>
            <a:xfrm>
              <a:off x="0" y="0"/>
              <a:ext cx="485755" cy="48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0"/>
            <p:cNvSpPr/>
            <p:nvPr/>
          </p:nvSpPr>
          <p:spPr>
            <a:xfrm>
              <a:off x="0" y="2"/>
              <a:ext cx="485755" cy="484175"/>
            </a:xfrm>
            <a:prstGeom prst="rect">
              <a:avLst/>
            </a:prstGeom>
            <a:noFill/>
            <a:ln cap="flat" cmpd="sng" w="6350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39" name="Google Shape;939;p70"/>
          <p:cNvSpPr txBox="1"/>
          <p:nvPr/>
        </p:nvSpPr>
        <p:spPr>
          <a:xfrm>
            <a:off x="4918995" y="247649"/>
            <a:ext cx="1454601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loss</a:t>
            </a:r>
            <a:endParaRPr/>
          </a:p>
        </p:txBody>
      </p:sp>
      <p:sp>
        <p:nvSpPr>
          <p:cNvPr id="940" name="Google Shape;940;p70"/>
          <p:cNvSpPr/>
          <p:nvPr/>
        </p:nvSpPr>
        <p:spPr>
          <a:xfrm>
            <a:off x="3589104" y="4499827"/>
            <a:ext cx="8635926" cy="1268819"/>
          </a:xfrm>
          <a:custGeom>
            <a:rect b="b" l="l" r="r" t="t"/>
            <a:pathLst>
              <a:path extrusionOk="0" h="21399" w="21600">
                <a:moveTo>
                  <a:pt x="0" y="20176"/>
                </a:moveTo>
                <a:cubicBezTo>
                  <a:pt x="6356" y="9988"/>
                  <a:pt x="12711" y="-201"/>
                  <a:pt x="16311" y="3"/>
                </a:cubicBezTo>
                <a:cubicBezTo>
                  <a:pt x="19911" y="207"/>
                  <a:pt x="20756" y="10803"/>
                  <a:pt x="21600" y="21399"/>
                </a:cubicBezTo>
              </a:path>
            </a:pathLst>
          </a:custGeom>
          <a:noFill/>
          <a:ln cap="flat" cmpd="sng" w="127000">
            <a:solidFill>
              <a:srgbClr val="008C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1"/>
          <p:cNvSpPr/>
          <p:nvPr/>
        </p:nvSpPr>
        <p:spPr>
          <a:xfrm>
            <a:off x="27591146" y="15133142"/>
            <a:ext cx="8232273" cy="139823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17" id="946" name="Google Shape;94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780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icture 19" id="947" name="Google Shape;94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2732" y="5242271"/>
            <a:ext cx="4307541" cy="353439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8" name="Google Shape;948;p71"/>
          <p:cNvSpPr/>
          <p:nvPr/>
        </p:nvSpPr>
        <p:spPr>
          <a:xfrm>
            <a:off x="7638929" y="5788304"/>
            <a:ext cx="463532" cy="462026"/>
          </a:xfrm>
          <a:prstGeom prst="rect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71"/>
          <p:cNvSpPr/>
          <p:nvPr/>
        </p:nvSpPr>
        <p:spPr>
          <a:xfrm>
            <a:off x="3589096" y="4936750"/>
            <a:ext cx="4021614" cy="831389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12" y="10800"/>
                  <a:pt x="7823" y="0"/>
                  <a:pt x="11423" y="0"/>
                </a:cubicBezTo>
                <a:cubicBezTo>
                  <a:pt x="15023" y="0"/>
                  <a:pt x="18312" y="10800"/>
                  <a:pt x="21600" y="21600"/>
                </a:cubicBezTo>
              </a:path>
            </a:pathLst>
          </a:custGeom>
          <a:noFill/>
          <a:ln cap="flat" cmpd="sng" w="1270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50" name="Google Shape;950;p71"/>
          <p:cNvGrpSpPr/>
          <p:nvPr/>
        </p:nvGrpSpPr>
        <p:grpSpPr>
          <a:xfrm>
            <a:off x="17939094" y="8443062"/>
            <a:ext cx="1826535" cy="1820604"/>
            <a:chOff x="0" y="0"/>
            <a:chExt cx="1826534" cy="1820602"/>
          </a:xfrm>
        </p:grpSpPr>
        <p:pic>
          <p:nvPicPr>
            <p:cNvPr descr="Picture 2" id="951" name="Google Shape;951;p71"/>
            <p:cNvPicPr preferRelativeResize="0"/>
            <p:nvPr/>
          </p:nvPicPr>
          <p:blipFill rotWithShape="1">
            <a:blip r:embed="rId4">
              <a:alphaModFix/>
            </a:blip>
            <a:srcRect b="71479" l="68164" r="21177" t="15448"/>
            <a:stretch/>
          </p:blipFill>
          <p:spPr>
            <a:xfrm>
              <a:off x="0" y="0"/>
              <a:ext cx="1809041" cy="18206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2" name="Google Shape;952;p71"/>
            <p:cNvSpPr/>
            <p:nvPr/>
          </p:nvSpPr>
          <p:spPr>
            <a:xfrm>
              <a:off x="0" y="0"/>
              <a:ext cx="1826534" cy="1820593"/>
            </a:xfrm>
            <a:prstGeom prst="rect">
              <a:avLst/>
            </a:prstGeom>
            <a:noFill/>
            <a:ln cap="flat" cmpd="sng" w="635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53" name="Google Shape;953;p71"/>
          <p:cNvGrpSpPr/>
          <p:nvPr/>
        </p:nvGrpSpPr>
        <p:grpSpPr>
          <a:xfrm>
            <a:off x="21301609" y="8443062"/>
            <a:ext cx="1822021" cy="1816102"/>
            <a:chOff x="0" y="0"/>
            <a:chExt cx="1822019" cy="1816100"/>
          </a:xfrm>
        </p:grpSpPr>
        <p:pic>
          <p:nvPicPr>
            <p:cNvPr descr="Picture 5" id="954" name="Google Shape;954;p71"/>
            <p:cNvPicPr preferRelativeResize="0"/>
            <p:nvPr/>
          </p:nvPicPr>
          <p:blipFill rotWithShape="1">
            <a:blip r:embed="rId5">
              <a:alphaModFix/>
            </a:blip>
            <a:srcRect b="70783" l="66246" r="22992" t="16143"/>
            <a:stretch/>
          </p:blipFill>
          <p:spPr>
            <a:xfrm>
              <a:off x="0" y="0"/>
              <a:ext cx="1822019" cy="1816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71"/>
            <p:cNvSpPr/>
            <p:nvPr/>
          </p:nvSpPr>
          <p:spPr>
            <a:xfrm>
              <a:off x="0" y="7"/>
              <a:ext cx="1822019" cy="1816093"/>
            </a:xfrm>
            <a:prstGeom prst="rect">
              <a:avLst/>
            </a:prstGeom>
            <a:noFill/>
            <a:ln cap="flat" cmpd="sng" w="63500">
              <a:solidFill>
                <a:srgbClr val="008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age" id="956" name="Google Shape;956;p71"/>
          <p:cNvPicPr preferRelativeResize="0"/>
          <p:nvPr/>
        </p:nvPicPr>
        <p:blipFill rotWithShape="1">
          <a:blip r:embed="rId6">
            <a:alphaModFix/>
          </a:blip>
          <a:srcRect b="0" l="0" r="75522" t="0"/>
          <a:stretch/>
        </p:blipFill>
        <p:spPr>
          <a:xfrm>
            <a:off x="2025089" y="8937614"/>
            <a:ext cx="644863" cy="77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57" name="Google Shape;957;p71"/>
          <p:cNvPicPr preferRelativeResize="0"/>
          <p:nvPr/>
        </p:nvPicPr>
        <p:blipFill rotWithShape="1">
          <a:blip r:embed="rId6">
            <a:alphaModFix/>
          </a:blip>
          <a:srcRect b="0" l="39046" r="36475" t="0"/>
          <a:stretch/>
        </p:blipFill>
        <p:spPr>
          <a:xfrm>
            <a:off x="6534041" y="8937614"/>
            <a:ext cx="644862" cy="777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8" name="Google Shape;958;p71"/>
          <p:cNvGrpSpPr/>
          <p:nvPr/>
        </p:nvGrpSpPr>
        <p:grpSpPr>
          <a:xfrm>
            <a:off x="9211682" y="5242271"/>
            <a:ext cx="4307542" cy="4472427"/>
            <a:chOff x="0" y="0"/>
            <a:chExt cx="4307541" cy="4472425"/>
          </a:xfrm>
        </p:grpSpPr>
        <p:pic>
          <p:nvPicPr>
            <p:cNvPr descr="Picture 21" id="959" name="Google Shape;959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4307541" cy="353439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Image" id="960" name="Google Shape;960;p71"/>
            <p:cNvPicPr preferRelativeResize="0"/>
            <p:nvPr/>
          </p:nvPicPr>
          <p:blipFill rotWithShape="1">
            <a:blip r:embed="rId7">
              <a:alphaModFix/>
            </a:blip>
            <a:srcRect b="0" l="77344" r="0" t="0"/>
            <a:stretch/>
          </p:blipFill>
          <p:spPr>
            <a:xfrm>
              <a:off x="1830492" y="3697724"/>
              <a:ext cx="595019" cy="774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1" name="Google Shape;961;p71"/>
          <p:cNvSpPr/>
          <p:nvPr/>
        </p:nvSpPr>
        <p:spPr>
          <a:xfrm>
            <a:off x="12065272" y="5812843"/>
            <a:ext cx="463532" cy="462026"/>
          </a:xfrm>
          <a:prstGeom prst="rect">
            <a:avLst/>
          </a:prstGeom>
          <a:noFill/>
          <a:ln cap="flat" cmpd="sng" w="101600">
            <a:solidFill>
              <a:srgbClr val="008C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2" name="Google Shape;962;p71"/>
          <p:cNvSpPr/>
          <p:nvPr/>
        </p:nvSpPr>
        <p:spPr>
          <a:xfrm>
            <a:off x="3589104" y="4499827"/>
            <a:ext cx="8635926" cy="1268819"/>
          </a:xfrm>
          <a:custGeom>
            <a:rect b="b" l="l" r="r" t="t"/>
            <a:pathLst>
              <a:path extrusionOk="0" h="21399" w="21600">
                <a:moveTo>
                  <a:pt x="0" y="20176"/>
                </a:moveTo>
                <a:cubicBezTo>
                  <a:pt x="6356" y="9988"/>
                  <a:pt x="12711" y="-201"/>
                  <a:pt x="16311" y="3"/>
                </a:cubicBezTo>
                <a:cubicBezTo>
                  <a:pt x="19911" y="207"/>
                  <a:pt x="20756" y="10803"/>
                  <a:pt x="21600" y="21399"/>
                </a:cubicBezTo>
              </a:path>
            </a:pathLst>
          </a:custGeom>
          <a:noFill/>
          <a:ln cap="flat" cmpd="sng" w="127000">
            <a:solidFill>
              <a:srgbClr val="008C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3" name="Google Shape;963;p71"/>
          <p:cNvSpPr/>
          <p:nvPr/>
        </p:nvSpPr>
        <p:spPr>
          <a:xfrm>
            <a:off x="3129972" y="5761739"/>
            <a:ext cx="463531" cy="462026"/>
          </a:xfrm>
          <a:prstGeom prst="rect">
            <a:avLst/>
          </a:prstGeom>
          <a:noFill/>
          <a:ln cap="flat" cmpd="sng" w="1016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64" name="Google Shape;964;p71"/>
          <p:cNvCxnSpPr/>
          <p:nvPr/>
        </p:nvCxnSpPr>
        <p:spPr>
          <a:xfrm flipH="1" rot="10800000">
            <a:off x="23548306" y="8366896"/>
            <a:ext cx="1" cy="2151074"/>
          </a:xfrm>
          <a:prstGeom prst="straightConnector1">
            <a:avLst/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965" name="Google Shape;965;p71"/>
          <p:cNvCxnSpPr/>
          <p:nvPr/>
        </p:nvCxnSpPr>
        <p:spPr>
          <a:xfrm flipH="1" rot="10800000">
            <a:off x="17370142" y="8366896"/>
            <a:ext cx="1" cy="2151074"/>
          </a:xfrm>
          <a:prstGeom prst="straightConnector1">
            <a:avLst/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Image" id="966" name="Google Shape;966;p71"/>
          <p:cNvPicPr preferRelativeResize="0"/>
          <p:nvPr/>
        </p:nvPicPr>
        <p:blipFill rotWithShape="1">
          <a:blip r:embed="rId8">
            <a:alphaModFix/>
          </a:blip>
          <a:srcRect b="0" l="0" r="52225" t="4934"/>
          <a:stretch/>
        </p:blipFill>
        <p:spPr>
          <a:xfrm>
            <a:off x="20272283" y="9176158"/>
            <a:ext cx="492311" cy="354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7" name="Google Shape;967;p71"/>
          <p:cNvCxnSpPr/>
          <p:nvPr/>
        </p:nvCxnSpPr>
        <p:spPr>
          <a:xfrm flipH="1" rot="10800000">
            <a:off x="17512738" y="8366896"/>
            <a:ext cx="1" cy="2151074"/>
          </a:xfrm>
          <a:prstGeom prst="straightConnector1">
            <a:avLst/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968" name="Google Shape;968;p71"/>
          <p:cNvCxnSpPr/>
          <p:nvPr/>
        </p:nvCxnSpPr>
        <p:spPr>
          <a:xfrm flipH="1" rot="10800000">
            <a:off x="23690903" y="8366896"/>
            <a:ext cx="1" cy="2151074"/>
          </a:xfrm>
          <a:prstGeom prst="straightConnector1">
            <a:avLst/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969" name="Google Shape;969;p71"/>
          <p:cNvSpPr txBox="1"/>
          <p:nvPr/>
        </p:nvSpPr>
        <p:spPr>
          <a:xfrm>
            <a:off x="23753210" y="10264047"/>
            <a:ext cx="267609" cy="516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venir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pic>
        <p:nvPicPr>
          <p:cNvPr descr="Image" id="970" name="Google Shape;970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66000" y="9094926"/>
            <a:ext cx="2736615" cy="695014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1"/>
          <p:cNvSpPr txBox="1"/>
          <p:nvPr/>
        </p:nvSpPr>
        <p:spPr>
          <a:xfrm>
            <a:off x="4918995" y="247649"/>
            <a:ext cx="1454601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Avenir"/>
              <a:buNone/>
            </a:pPr>
            <a:r>
              <a:rPr b="0" i="0" lang="en-US" sz="9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Motion magnification loss</a:t>
            </a:r>
            <a:endParaRPr/>
          </a:p>
        </p:txBody>
      </p:sp>
      <p:pic>
        <p:nvPicPr>
          <p:cNvPr descr="Image" id="972" name="Google Shape;972;p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511731" y="4752077"/>
            <a:ext cx="2463752" cy="772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3" id="973" name="Google Shape;973;p7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074713" y="4194623"/>
            <a:ext cx="2293315" cy="188169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74" name="Google Shape;974;p71"/>
          <p:cNvGrpSpPr/>
          <p:nvPr/>
        </p:nvGrpSpPr>
        <p:grpSpPr>
          <a:xfrm>
            <a:off x="17381341" y="4043079"/>
            <a:ext cx="6729879" cy="2439048"/>
            <a:chOff x="-1" y="8553"/>
            <a:chExt cx="6729878" cy="2439047"/>
          </a:xfrm>
        </p:grpSpPr>
        <p:cxnSp>
          <p:nvCxnSpPr>
            <p:cNvPr id="975" name="Google Shape;975;p71"/>
            <p:cNvCxnSpPr/>
            <p:nvPr/>
          </p:nvCxnSpPr>
          <p:spPr>
            <a:xfrm flipH="1" rot="10800000">
              <a:off x="6243791" y="12700"/>
              <a:ext cx="1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976" name="Google Shape;976;p71"/>
            <p:cNvCxnSpPr/>
            <p:nvPr/>
          </p:nvCxnSpPr>
          <p:spPr>
            <a:xfrm flipH="1" rot="10800000">
              <a:off x="-1" y="12700"/>
              <a:ext cx="2" cy="2173924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grpSp>
          <p:nvGrpSpPr>
            <p:cNvPr id="977" name="Google Shape;977;p71"/>
            <p:cNvGrpSpPr/>
            <p:nvPr/>
          </p:nvGrpSpPr>
          <p:grpSpPr>
            <a:xfrm>
              <a:off x="152663" y="8553"/>
              <a:ext cx="6577214" cy="2439047"/>
              <a:chOff x="-1" y="0"/>
              <a:chExt cx="6577212" cy="2439046"/>
            </a:xfrm>
          </p:grpSpPr>
          <p:pic>
            <p:nvPicPr>
              <p:cNvPr descr="Image" id="978" name="Google Shape;978;p7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48293" t="0"/>
              <a:stretch/>
            </p:blipFill>
            <p:spPr>
              <a:xfrm>
                <a:off x="3074368" y="1016277"/>
                <a:ext cx="389254" cy="27230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79" name="Google Shape;979;p71"/>
              <p:cNvCxnSpPr/>
              <p:nvPr/>
            </p:nvCxnSpPr>
            <p:spPr>
              <a:xfrm flipH="1" rot="10800000">
                <a:off x="-1" y="0"/>
                <a:ext cx="2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71"/>
              <p:cNvCxnSpPr/>
              <p:nvPr/>
            </p:nvCxnSpPr>
            <p:spPr>
              <a:xfrm flipH="1" rot="10800000">
                <a:off x="6243791" y="0"/>
                <a:ext cx="1" cy="2173923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</p:cxnSp>
          <p:sp>
            <p:nvSpPr>
              <p:cNvPr id="981" name="Google Shape;981;p71"/>
              <p:cNvSpPr txBox="1"/>
              <p:nvPr/>
            </p:nvSpPr>
            <p:spPr>
              <a:xfrm>
                <a:off x="6306760" y="1917304"/>
                <a:ext cx="270451" cy="521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900"/>
                  <a:buFont typeface="Avenir"/>
                  <a:buNone/>
                </a:pPr>
                <a:r>
                  <a:rPr b="0" i="0" lang="en-US" sz="3900" u="none" cap="none" strike="noStrike">
                    <a:solidFill>
                      <a:srgbClr val="00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1</a:t>
                </a:r>
                <a:endParaRPr/>
              </a:p>
            </p:txBody>
          </p:sp>
          <p:pic>
            <p:nvPicPr>
              <p:cNvPr descr="Image" id="982" name="Google Shape;982;p71"/>
              <p:cNvPicPr preferRelativeResize="0"/>
              <p:nvPr/>
            </p:nvPicPr>
            <p:blipFill rotWithShape="1">
              <a:blip r:embed="rId8">
                <a:alphaModFix/>
              </a:blip>
              <a:srcRect b="0" l="53398" r="0" t="0"/>
              <a:stretch/>
            </p:blipFill>
            <p:spPr>
              <a:xfrm>
                <a:off x="72216" y="1016278"/>
                <a:ext cx="350832" cy="272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Group" id="983" name="Google Shape;983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128598" y="4154269"/>
            <a:ext cx="2293315" cy="188169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4"/>
          <p:cNvSpPr txBox="1"/>
          <p:nvPr>
            <p:ph idx="12" type="sldNum"/>
          </p:nvPr>
        </p:nvSpPr>
        <p:spPr>
          <a:xfrm>
            <a:off x="22630189" y="12802238"/>
            <a:ext cx="534611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9" name="Google Shape;989;p74"/>
          <p:cNvSpPr txBox="1"/>
          <p:nvPr>
            <p:ph type="title"/>
          </p:nvPr>
        </p:nvSpPr>
        <p:spPr>
          <a:xfrm>
            <a:off x="4399160" y="5943600"/>
            <a:ext cx="1558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Next lecture: </a:t>
            </a:r>
            <a:r>
              <a:rPr b="0" lang="en-US"/>
              <a:t>machine learning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6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Coarse-to-fine refinement</a:t>
            </a:r>
            <a:endParaRPr/>
          </a:p>
        </p:txBody>
      </p:sp>
      <p:sp>
        <p:nvSpPr>
          <p:cNvPr id="995" name="Google Shape;995;p76"/>
          <p:cNvSpPr txBox="1"/>
          <p:nvPr>
            <p:ph idx="12" type="sldNum"/>
          </p:nvPr>
        </p:nvSpPr>
        <p:spPr>
          <a:xfrm>
            <a:off x="12041022" y="13081000"/>
            <a:ext cx="289256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96" name="Google Shape;996;p76"/>
          <p:cNvSpPr/>
          <p:nvPr/>
        </p:nvSpPr>
        <p:spPr>
          <a:xfrm>
            <a:off x="7315200" y="10515600"/>
            <a:ext cx="4267200" cy="2590800"/>
          </a:xfrm>
          <a:prstGeom prst="rect">
            <a:avLst/>
          </a:prstGeom>
          <a:solidFill>
            <a:srgbClr val="D7E4BD"/>
          </a:solidFill>
          <a:ln cap="flat" cmpd="sng" w="50800">
            <a:solidFill>
              <a:srgbClr val="4F6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7" name="Google Shape;997;p76"/>
          <p:cNvSpPr/>
          <p:nvPr/>
        </p:nvSpPr>
        <p:spPr>
          <a:xfrm>
            <a:off x="8402471" y="8839200"/>
            <a:ext cx="2133601" cy="1295400"/>
          </a:xfrm>
          <a:prstGeom prst="rect">
            <a:avLst/>
          </a:prstGeom>
          <a:solidFill>
            <a:srgbClr val="77933C"/>
          </a:solidFill>
          <a:ln cap="flat" cmpd="sng" w="50800">
            <a:solidFill>
              <a:srgbClr val="4F6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76"/>
          <p:cNvSpPr/>
          <p:nvPr/>
        </p:nvSpPr>
        <p:spPr>
          <a:xfrm>
            <a:off x="8925635" y="7848600"/>
            <a:ext cx="1087273" cy="660131"/>
          </a:xfrm>
          <a:prstGeom prst="rect">
            <a:avLst/>
          </a:prstGeom>
          <a:solidFill>
            <a:srgbClr val="77933C"/>
          </a:solidFill>
          <a:ln cap="flat" cmpd="sng" w="50800">
            <a:solidFill>
              <a:srgbClr val="4F6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76"/>
          <p:cNvSpPr/>
          <p:nvPr/>
        </p:nvSpPr>
        <p:spPr>
          <a:xfrm>
            <a:off x="14173200" y="10515600"/>
            <a:ext cx="4267200" cy="2590800"/>
          </a:xfrm>
          <a:prstGeom prst="rect">
            <a:avLst/>
          </a:prstGeom>
          <a:solidFill>
            <a:srgbClr val="8EB4E3"/>
          </a:solidFill>
          <a:ln cap="flat" cmpd="sng" w="50800">
            <a:solidFill>
              <a:srgbClr val="1737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76"/>
          <p:cNvSpPr/>
          <p:nvPr/>
        </p:nvSpPr>
        <p:spPr>
          <a:xfrm>
            <a:off x="15260471" y="8839200"/>
            <a:ext cx="2133601" cy="1295400"/>
          </a:xfrm>
          <a:prstGeom prst="rect">
            <a:avLst/>
          </a:prstGeom>
          <a:solidFill>
            <a:srgbClr val="4F81BD"/>
          </a:solidFill>
          <a:ln cap="flat" cmpd="sng" w="50800">
            <a:solidFill>
              <a:srgbClr val="1737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76"/>
          <p:cNvSpPr/>
          <p:nvPr/>
        </p:nvSpPr>
        <p:spPr>
          <a:xfrm>
            <a:off x="15783635" y="7848600"/>
            <a:ext cx="1087273" cy="660131"/>
          </a:xfrm>
          <a:prstGeom prst="rect">
            <a:avLst/>
          </a:prstGeom>
          <a:solidFill>
            <a:srgbClr val="4F81BD"/>
          </a:solidFill>
          <a:ln cap="flat" cmpd="sng" w="50800">
            <a:solidFill>
              <a:srgbClr val="1737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02" name="Google Shape;1002;p76"/>
          <p:cNvCxnSpPr/>
          <p:nvPr/>
        </p:nvCxnSpPr>
        <p:spPr>
          <a:xfrm rot="10800000">
            <a:off x="6400800" y="7848600"/>
            <a:ext cx="0" cy="47244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3" name="Google Shape;1003;p76"/>
          <p:cNvCxnSpPr/>
          <p:nvPr/>
        </p:nvCxnSpPr>
        <p:spPr>
          <a:xfrm>
            <a:off x="12649199" y="8382000"/>
            <a:ext cx="1" cy="660537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4" name="Google Shape;1004;p76"/>
          <p:cNvSpPr txBox="1"/>
          <p:nvPr/>
        </p:nvSpPr>
        <p:spPr>
          <a:xfrm>
            <a:off x="3646682" y="9905997"/>
            <a:ext cx="2255521" cy="15753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Smooth &amp; down-sampling</a:t>
            </a:r>
            <a:endParaRPr/>
          </a:p>
        </p:txBody>
      </p:sp>
      <p:sp>
        <p:nvSpPr>
          <p:cNvPr id="1005" name="Google Shape;1005;p76"/>
          <p:cNvSpPr txBox="1"/>
          <p:nvPr/>
        </p:nvSpPr>
        <p:spPr>
          <a:xfrm>
            <a:off x="11966160" y="7620000"/>
            <a:ext cx="1196955" cy="4236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6469" l="-17893" r="-410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1006" name="Google Shape;1006;p76"/>
          <p:cNvSpPr txBox="1"/>
          <p:nvPr/>
        </p:nvSpPr>
        <p:spPr>
          <a:xfrm>
            <a:off x="11976949" y="8991600"/>
            <a:ext cx="1192103" cy="4236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6469" l="-18084" r="-4042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1007" name="Google Shape;1007;p76"/>
          <p:cNvSpPr txBox="1"/>
          <p:nvPr/>
        </p:nvSpPr>
        <p:spPr>
          <a:xfrm>
            <a:off x="12270301" y="11277600"/>
            <a:ext cx="899618" cy="3904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547" l="-23941" r="-4506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cxnSp>
        <p:nvCxnSpPr>
          <p:cNvPr id="1008" name="Google Shape;1008;p76"/>
          <p:cNvCxnSpPr/>
          <p:nvPr/>
        </p:nvCxnSpPr>
        <p:spPr>
          <a:xfrm>
            <a:off x="12649200" y="9906000"/>
            <a:ext cx="0" cy="12192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9" name="Google Shape;1009;p76"/>
          <p:cNvSpPr txBox="1"/>
          <p:nvPr/>
        </p:nvSpPr>
        <p:spPr>
          <a:xfrm>
            <a:off x="12949292" y="8256896"/>
            <a:ext cx="591719" cy="3209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1475" l="-20831" r="-24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1010" name="Google Shape;1010;p76"/>
          <p:cNvSpPr txBox="1"/>
          <p:nvPr/>
        </p:nvSpPr>
        <p:spPr>
          <a:xfrm>
            <a:off x="12949292" y="10261431"/>
            <a:ext cx="591719" cy="3209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1475" l="-20831" r="-24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None/>
            </a:pPr>
            <a:r>
              <a:rPr b="0" i="0" lang="en-US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1011" name="Google Shape;1011;p76"/>
          <p:cNvSpPr/>
          <p:nvPr/>
        </p:nvSpPr>
        <p:spPr>
          <a:xfrm>
            <a:off x="9393071" y="11734800"/>
            <a:ext cx="152401" cy="15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76"/>
          <p:cNvSpPr/>
          <p:nvPr/>
        </p:nvSpPr>
        <p:spPr>
          <a:xfrm>
            <a:off x="17394071" y="11125200"/>
            <a:ext cx="152401" cy="15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76"/>
          <p:cNvSpPr/>
          <p:nvPr/>
        </p:nvSpPr>
        <p:spPr>
          <a:xfrm>
            <a:off x="16230600" y="11734800"/>
            <a:ext cx="152400" cy="152400"/>
          </a:xfrm>
          <a:prstGeom prst="ellipse">
            <a:avLst/>
          </a:prstGeom>
          <a:noFill/>
          <a:ln cap="flat" cmpd="sng" w="25400">
            <a:solidFill>
              <a:srgbClr val="E46C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4" name="Google Shape;1014;p76"/>
          <p:cNvSpPr/>
          <p:nvPr/>
        </p:nvSpPr>
        <p:spPr>
          <a:xfrm>
            <a:off x="9391933" y="9448800"/>
            <a:ext cx="109729" cy="109728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5" name="Google Shape;1015;p76"/>
          <p:cNvSpPr/>
          <p:nvPr/>
        </p:nvSpPr>
        <p:spPr>
          <a:xfrm>
            <a:off x="16230600" y="9387385"/>
            <a:ext cx="109728" cy="109729"/>
          </a:xfrm>
          <a:prstGeom prst="ellipse">
            <a:avLst/>
          </a:prstGeom>
          <a:noFill/>
          <a:ln cap="flat" cmpd="sng" w="25400">
            <a:solidFill>
              <a:srgbClr val="E46C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6" name="Google Shape;1016;p76"/>
          <p:cNvSpPr/>
          <p:nvPr/>
        </p:nvSpPr>
        <p:spPr>
          <a:xfrm>
            <a:off x="16748080" y="9116703"/>
            <a:ext cx="109729" cy="109729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7" name="Google Shape;1017;p76"/>
          <p:cNvSpPr/>
          <p:nvPr/>
        </p:nvSpPr>
        <p:spPr>
          <a:xfrm>
            <a:off x="9407311" y="8118144"/>
            <a:ext cx="73153" cy="73153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76"/>
          <p:cNvSpPr/>
          <p:nvPr/>
        </p:nvSpPr>
        <p:spPr>
          <a:xfrm>
            <a:off x="16275544" y="8138617"/>
            <a:ext cx="73153" cy="73153"/>
          </a:xfrm>
          <a:prstGeom prst="ellipse">
            <a:avLst/>
          </a:prstGeom>
          <a:noFill/>
          <a:ln cap="flat" cmpd="sng" w="25400">
            <a:solidFill>
              <a:srgbClr val="E46C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p76"/>
          <p:cNvSpPr/>
          <p:nvPr/>
        </p:nvSpPr>
        <p:spPr>
          <a:xfrm>
            <a:off x="16526893" y="8001865"/>
            <a:ext cx="73153" cy="73153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0" name="Google Shape;1020;p76"/>
          <p:cNvCxnSpPr>
            <a:stCxn id="1013" idx="0"/>
            <a:endCxn id="1012" idx="0"/>
          </p:cNvCxnSpPr>
          <p:nvPr/>
        </p:nvCxnSpPr>
        <p:spPr>
          <a:xfrm flipH="1" rot="10800000">
            <a:off x="16306800" y="11125200"/>
            <a:ext cx="1163400" cy="609600"/>
          </a:xfrm>
          <a:prstGeom prst="straightConnector1">
            <a:avLst/>
          </a:prstGeom>
          <a:noFill/>
          <a:ln cap="flat" cmpd="sng" w="254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1" name="Google Shape;1021;p76"/>
          <p:cNvCxnSpPr/>
          <p:nvPr/>
        </p:nvCxnSpPr>
        <p:spPr>
          <a:xfrm flipH="1" rot="10800000">
            <a:off x="16340328" y="9180190"/>
            <a:ext cx="423823" cy="231889"/>
          </a:xfrm>
          <a:prstGeom prst="straightConnector1">
            <a:avLst/>
          </a:prstGeom>
          <a:noFill/>
          <a:ln cap="flat" cmpd="sng" w="254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2" name="Google Shape;1022;p76"/>
          <p:cNvCxnSpPr>
            <a:stCxn id="1018" idx="0"/>
            <a:endCxn id="1019" idx="0"/>
          </p:cNvCxnSpPr>
          <p:nvPr/>
        </p:nvCxnSpPr>
        <p:spPr>
          <a:xfrm flipH="1" rot="10800000">
            <a:off x="16312121" y="8001817"/>
            <a:ext cx="251400" cy="136800"/>
          </a:xfrm>
          <a:prstGeom prst="straightConnector1">
            <a:avLst/>
          </a:prstGeom>
          <a:noFill/>
          <a:ln cap="flat" cmpd="sng" w="254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3" name="Google Shape;1023;p76"/>
          <p:cNvSpPr txBox="1"/>
          <p:nvPr>
            <p:ph idx="4294967295" type="body"/>
          </p:nvPr>
        </p:nvSpPr>
        <p:spPr>
          <a:xfrm>
            <a:off x="3810000" y="2438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Lucas-Kanade is a greedy algorithm that converges to local minimum 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Initialization is crucial: if initialized with zero, then the underlying motion must be small 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If underlying transform is significant, then coarse-to-fine is a must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5"/>
          <p:cNvSpPr txBox="1"/>
          <p:nvPr>
            <p:ph type="title"/>
          </p:nvPr>
        </p:nvSpPr>
        <p:spPr>
          <a:xfrm>
            <a:off x="1689100" y="-254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Feature tracking</a:t>
            </a:r>
            <a:endParaRPr/>
          </a:p>
        </p:txBody>
      </p:sp>
      <p:sp>
        <p:nvSpPr>
          <p:cNvPr id="1029" name="Google Shape;1029;p85"/>
          <p:cNvSpPr txBox="1"/>
          <p:nvPr>
            <p:ph idx="12" type="sldNum"/>
          </p:nvPr>
        </p:nvSpPr>
        <p:spPr>
          <a:xfrm>
            <a:off x="12041022" y="13081000"/>
            <a:ext cx="2892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1" id="1030" name="Google Shape;103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0" y="4381756"/>
            <a:ext cx="6248400" cy="5829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" id="1031" name="Google Shape;1031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9511" y="4374950"/>
            <a:ext cx="6150135" cy="575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032" name="Google Shape;1032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84600" y="4572000"/>
            <a:ext cx="4699000" cy="5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5"/>
          <p:cNvSpPr txBox="1"/>
          <p:nvPr/>
        </p:nvSpPr>
        <p:spPr>
          <a:xfrm>
            <a:off x="3291840" y="12457288"/>
            <a:ext cx="179526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Tomasi and T. Kanade. </a:t>
            </a:r>
            <a:r>
              <a:rPr b="0" i="0" lang="en-US" sz="3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Shape and motion from image streams under orthography: </a:t>
            </a:r>
            <a:b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factorization method.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IJCV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9(2):137-154, November 1992.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6"/>
          <p:cNvSpPr txBox="1"/>
          <p:nvPr>
            <p:ph type="title"/>
          </p:nvPr>
        </p:nvSpPr>
        <p:spPr>
          <a:xfrm>
            <a:off x="1689100" y="-254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Feature tracking</a:t>
            </a:r>
            <a:endParaRPr/>
          </a:p>
        </p:txBody>
      </p:sp>
      <p:sp>
        <p:nvSpPr>
          <p:cNvPr id="1039" name="Google Shape;1039;p86"/>
          <p:cNvSpPr txBox="1"/>
          <p:nvPr>
            <p:ph idx="12" type="sldNum"/>
          </p:nvPr>
        </p:nvSpPr>
        <p:spPr>
          <a:xfrm>
            <a:off x="12041022" y="13081000"/>
            <a:ext cx="2892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grpSp>
        <p:nvGrpSpPr>
          <p:cNvPr id="1040" name="Google Shape;1040;p86"/>
          <p:cNvGrpSpPr/>
          <p:nvPr/>
        </p:nvGrpSpPr>
        <p:grpSpPr>
          <a:xfrm>
            <a:off x="3197244" y="4206424"/>
            <a:ext cx="17989512" cy="8198751"/>
            <a:chOff x="0" y="0"/>
            <a:chExt cx="17989512" cy="8198751"/>
          </a:xfrm>
        </p:grpSpPr>
        <p:pic>
          <p:nvPicPr>
            <p:cNvPr descr="Picture 3" id="1041" name="Google Shape;104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11171" y="9561"/>
              <a:ext cx="8778341" cy="8189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4" id="1042" name="Google Shape;1042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8640287" cy="8091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3" name="Google Shape;1043;p86"/>
          <p:cNvSpPr txBox="1"/>
          <p:nvPr/>
        </p:nvSpPr>
        <p:spPr>
          <a:xfrm>
            <a:off x="4077652" y="2450684"/>
            <a:ext cx="167136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61457" lvl="0" marL="66145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0"/>
              <a:buFont typeface="Helvetica Neue Light"/>
              <a:buChar char="•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Like in SIFT feature matching, only track distinctive regions</a:t>
            </a:r>
            <a:endParaRPr/>
          </a:p>
          <a:p>
            <a:pPr indent="-661457" lvl="0" marL="66145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0"/>
              <a:buFont typeface="Helvetica Neue Light"/>
              <a:buChar char="•"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Small motion assumption: search only in small window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8"/>
          <p:cNvSpPr txBox="1"/>
          <p:nvPr>
            <p:ph type="title"/>
          </p:nvPr>
        </p:nvSpPr>
        <p:spPr>
          <a:xfrm>
            <a:off x="1689100" y="-25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Helvetica Neue"/>
              <a:buNone/>
            </a:pPr>
            <a:r>
              <a:rPr b="0" lang="en-US" sz="9500"/>
              <a:t>Tracking example</a:t>
            </a:r>
            <a:endParaRPr/>
          </a:p>
        </p:txBody>
      </p:sp>
      <p:sp>
        <p:nvSpPr>
          <p:cNvPr id="1049" name="Google Shape;1049;p88"/>
          <p:cNvSpPr txBox="1"/>
          <p:nvPr>
            <p:ph idx="12" type="sldNum"/>
          </p:nvPr>
        </p:nvSpPr>
        <p:spPr>
          <a:xfrm>
            <a:off x="12041022" y="13081000"/>
            <a:ext cx="289256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pic>
        <p:nvPicPr>
          <p:cNvPr descr="Picture 3" id="1050" name="Google Shape;105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997075"/>
            <a:ext cx="11430000" cy="1041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8"/>
          <p:cNvSpPr txBox="1"/>
          <p:nvPr/>
        </p:nvSpPr>
        <p:spPr>
          <a:xfrm>
            <a:off x="3291840" y="12846226"/>
            <a:ext cx="17800320" cy="701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Shi and C. Tomasi. </a:t>
            </a:r>
            <a:r>
              <a:rPr b="0" i="0" lang="en-US" sz="3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Good Features to Track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CVPR 1994.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