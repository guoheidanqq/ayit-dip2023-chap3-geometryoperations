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</p:sldIdLst>
  <p:sldSz cy="13716000" cx="24384000"/>
  <p:notesSz cx="6858000" cy="9144000"/>
  <p:embeddedFontLst>
    <p:embeddedFont>
      <p:font typeface="Helvetica Neue"/>
      <p:regular r:id="rId136"/>
      <p:bold r:id="rId137"/>
      <p:italic r:id="rId138"/>
      <p:boldItalic r:id="rId139"/>
    </p:embeddedFont>
    <p:embeddedFont>
      <p:font typeface="Helvetica Neue Light"/>
      <p:regular r:id="rId140"/>
      <p:bold r:id="rId141"/>
      <p:italic r:id="rId142"/>
      <p:boldItalic r:id="rId143"/>
    </p:embeddedFont>
    <p:embeddedFont>
      <p:font typeface="Open Sans"/>
      <p:regular r:id="rId144"/>
      <p:bold r:id="rId145"/>
      <p:italic r:id="rId146"/>
      <p:boldItalic r:id="rId1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8" roundtripDataSignature="AMtx7mhUbLSxpa9/6TfrmI5cnMoc0Nne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F63330-AEE6-4BD9-8FCA-6D808FB25779}">
  <a:tblStyle styleId="{78F63330-AEE6-4BD9-8FCA-6D808FB25779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EDEEEE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48" Type="http://customschemas.google.com/relationships/presentationmetadata" Target="metadata"/><Relationship Id="rId9" Type="http://schemas.openxmlformats.org/officeDocument/2006/relationships/slide" Target="slides/slide4.xml"/><Relationship Id="rId143" Type="http://schemas.openxmlformats.org/officeDocument/2006/relationships/font" Target="fonts/HelveticaNeueLight-boldItalic.fntdata"/><Relationship Id="rId142" Type="http://schemas.openxmlformats.org/officeDocument/2006/relationships/font" Target="fonts/HelveticaNeueLight-italic.fntdata"/><Relationship Id="rId141" Type="http://schemas.openxmlformats.org/officeDocument/2006/relationships/font" Target="fonts/HelveticaNeueLight-bold.fntdata"/><Relationship Id="rId140" Type="http://schemas.openxmlformats.org/officeDocument/2006/relationships/font" Target="fonts/HelveticaNeueLight-regular.fntdata"/><Relationship Id="rId5" Type="http://schemas.openxmlformats.org/officeDocument/2006/relationships/notesMaster" Target="notesMasters/notesMaster1.xml"/><Relationship Id="rId147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46" Type="http://schemas.openxmlformats.org/officeDocument/2006/relationships/font" Target="fonts/OpenSans-italic.fntdata"/><Relationship Id="rId7" Type="http://schemas.openxmlformats.org/officeDocument/2006/relationships/slide" Target="slides/slide2.xml"/><Relationship Id="rId145" Type="http://schemas.openxmlformats.org/officeDocument/2006/relationships/font" Target="fonts/OpenSans-bold.fntdata"/><Relationship Id="rId8" Type="http://schemas.openxmlformats.org/officeDocument/2006/relationships/slide" Target="slides/slide3.xml"/><Relationship Id="rId144" Type="http://schemas.openxmlformats.org/officeDocument/2006/relationships/font" Target="fonts/OpenSans-regular.fntdata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font" Target="fonts/HelveticaNeue-boldItalic.fntdata"/><Relationship Id="rId138" Type="http://schemas.openxmlformats.org/officeDocument/2006/relationships/font" Target="fonts/HelveticaNeue-italic.fntdata"/><Relationship Id="rId137" Type="http://schemas.openxmlformats.org/officeDocument/2006/relationships/font" Target="fonts/HelveticaNeue-bold.fntdata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font" Target="fonts/HelveticaNeue-regular.fntdata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we introduced image formation last class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we’re going into a bit more depth about 3d geometry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and how you might be able to estimate depth from multiple images.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a6953ca6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a6953ca6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Going to continue our discussion of multi-view geometry. And we’re going to talk about applications you can do with these. One is estimating depth from images. Called the stereo problem.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We’ve learned geometry. Let’s use it to solve a problem.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seeing things in 3D is really important for animals. and even though it’s really expensive to have an eye, we actually have two of them.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one of the reasons for this is of course that we can see a wider field of 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but also it’s because it helps us estimate the 3D structure of a scene.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is called stereo vision.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so what do we get out of having multiple eyes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these two pictures of an office look pretty similar. But if we look at the differences between them, we can estimate depth.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Even in the 19th century One of your sample final projects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How does this work? How are we able to perceive depth from stereo images?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Used to be up for debate how humans do this.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as it a really high level procedure?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what the objects 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categories?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we could even do more and in principle we could get even more information.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Now researchers a long time ago weren’t really sure how people performed stereopsis.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was it a really high level procedure?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what the objects 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categories?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Interestingly, in humans we seem to be able to get the perception of depth from relatively low-level cues. This is very closely related to a magic eye puzzle.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 researcher named Bela Julesz made these things that he called random dot stereograms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These are two images that consist of random dots.  And these are almost the same, but there’s one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Tiny change.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There’s a square region of random dots is subtly shifted.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And if you show someone these two images in each eye, they’ll perceive this. The box is extending out.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And of course you can do this with normal pictures.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We can ask what’s going on here geometrically.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Let’s look the geometry of what’s going on.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We have a pinhole camera seeing a 3D point.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And that point’s going to project somewhere in the image.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We’re going to trace a line from the point to the center of projection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Let’s call the distance from the distance xL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This depth Z is what we’re really interested in. We want to know how far in front of us this point is.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likewise, if we’re seeing it from another view at position xR.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If we know how far away these two cameras are, we have all we need to estimate depth.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call that distance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the two cameras are going to have some focal length 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has a very nice geometric structure.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likewise, if we’re seeing it from another view at position xR.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If we know how far away these two cameras are, we have all we need to estimate depth.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call that distance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the two cameras are going to have some focal length 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has a very nice geometric structure.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likewise, if we’re seeing it from another view at position xR.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If we know how far away these two cameras are, we have all we need to estimate depth.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call that distance 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the two cameras are going to have some focal length 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has a very nice geometric structure.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We can use similar triangles to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Is the same as the ratio between the baseline — the distance between the cameras — and the depth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0" name="Google Shape;70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We know that the ratio between the distance between these two projected points. And the distance from the image to the object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Of course we can then solve for depth by rearranging the terms.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7" name="Google Shape;79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is what this looks like in 3D. Different 3D points project into cameras.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So, this idea gives us a formula. If we know the baseline T, and the disparity, we can estimate depth.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9" name="Google Shape;899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gives us what’s known as a disparity map. And that determines our depth. Our depth is proportional to the inverse of the disparity.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8" name="Google Shape;928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What was need about this is we only had to look along horizontal lines.These are called epipolar lines.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5" name="Google Shape;945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This gives us a really simple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Any ideas for how you’d do this?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8" name="Google Shape;98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We need to smooth the results a bit. Otherwise ambiguous matches will look bad.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Any idea what’s going on here?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1" name="Google Shape;1011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And of course there are others ways we could have estimated depth. For example, using a neural network to recognize depth at each pixel.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Humans rely a lot on this.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8" name="Google Shape;102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we could even do more and in principle we could get even more information.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Now researchers a long time ago weren’t really sure how people performed stereopsis.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was it a really high level procedure?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what the objects are?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 we need to know categories?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5" name="Google Shape;1145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At first, this might seem really hopeless. It looks at first glance like we might have to search everywhere.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Are there extra constraints we could take advantage of?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0" name="Google Shape;1190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think about this. If we see at a point p in the image. Let’s think of lal the possible places it could appear in the second view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5" name="Google Shape;1215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 only thing that’s unknown is the depth. So the true point has to lie along this ray. It has to be one of these point.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look at where those end up in the other image. They’re all along a line!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If we could just find this line,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5" name="Google Shape;1255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 only thing that’s unknown is the depth. So the true point has to lie along this ray. It has to be one of these point.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Let’s look at where those end up in the other image. They’re all along a line!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If we could just find this line, 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0" name="Google Shape;1430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Consider this plane that connects the episode and contains the point.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That’s going to dictate where the epipolar line is. 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4" name="Google Shape;1514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That means we can really drastically cut our search space. We only have to look along this line.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4" name="Google Shape;1604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- You can prove that this mysterious function f can be completely described by a matrix multiplication with 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Fundamental matrix</a:t>
            </a:r>
            <a:endParaRPr/>
          </a:p>
          <a:p>
            <a:pPr indent="-291041" lvl="0" marL="291041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750"/>
              <a:buFont typeface="Helvetica Neue"/>
              <a:buChar char="-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draw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6" name="Google Shape;1856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You can actually rectify the images so that these lines all become horizontal. 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Stereo perception is also the basis of a lot of so-called depth cameras that you might have seen.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6" name="Google Shape;1866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Untextured regions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Matching hard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Make it easier.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4" name="Google Shape;1904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You might be familiar with some of these. This is one called the Microsoft kinect. It was made originally for playing video games.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Another thing we can do with this understanding of geometry. 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7" name="Google Shape;1977;p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Can we take advantage of the geometry to do better?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What if we warp the images first?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6" name="Google Shape;2276;p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Affine, but won’t be enough.</a:t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6" name="Google Shape;2286;p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These are going to let us do some powerful things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2" name="Google Shape;2302;p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is the full-blown matrix. 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1" name="Google Shape;2391;p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You might ask why this works. How can you explain this transformation with just a homography.</a:t>
            </a:r>
            <a:endParaRPr/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Transform image 2 to image 1 when they differ only by H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4" name="Google Shape;2444;p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There are also a bunch of other really cool things you can do with homographies.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You can simulate what a plane would look like if you viewed it from another camera.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Warp this image with a homography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Warp this one with another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What are these artifacts?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9" name="Google Shape;2499;p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Removed: Ratios are not preserved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1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8" name="Google Shape;2548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p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1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7" name="Google Shape;2697;p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Map T from pixel locations in one image to another</a:t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8" name="Google Shape;2748;p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Can anyone think of some complications. 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p1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7" name="Google Shape;2817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p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p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8" name="Google Shape;2878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6" name="Google Shape;2886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Google Shape;2890;p1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1" name="Google Shape;2891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1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p1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1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5" name="Google Shape;2925;p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3" name="Shape 2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4" name="Google Shape;2934;p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4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134"/>
          <p:cNvSpPr txBox="1"/>
          <p:nvPr>
            <p:ph idx="1" type="body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" name="Google Shape;12;p13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  <a:defRPr sz="8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35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/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/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/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/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»"/>
              <a:defRPr sz="64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6" name="Google Shape;16;p135"/>
          <p:cNvSpPr txBox="1"/>
          <p:nvPr>
            <p:ph idx="12" type="sldNum"/>
          </p:nvPr>
        </p:nvSpPr>
        <p:spPr>
          <a:xfrm>
            <a:off x="19830592" y="12490450"/>
            <a:ext cx="591009" cy="60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6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  <a:defRPr b="1" sz="8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36"/>
          <p:cNvSpPr txBox="1"/>
          <p:nvPr>
            <p:ph idx="1" type="body"/>
          </p:nvPr>
        </p:nvSpPr>
        <p:spPr>
          <a:xfrm>
            <a:off x="1219200" y="3200401"/>
            <a:ext cx="21945600" cy="90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0" name="Google Shape;20;p136"/>
          <p:cNvSpPr txBox="1"/>
          <p:nvPr>
            <p:ph idx="12" type="sldNum"/>
          </p:nvPr>
        </p:nvSpPr>
        <p:spPr>
          <a:xfrm>
            <a:off x="22630189" y="12802238"/>
            <a:ext cx="534611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"/>
              <a:buNone/>
              <a:defRPr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7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Open Sans"/>
              <a:buNone/>
              <a:defRPr b="1" sz="88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137"/>
          <p:cNvSpPr txBox="1"/>
          <p:nvPr>
            <p:ph idx="1" type="body"/>
          </p:nvPr>
        </p:nvSpPr>
        <p:spPr>
          <a:xfrm>
            <a:off x="1219200" y="3200401"/>
            <a:ext cx="21945600" cy="90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Open Sans"/>
                <a:ea typeface="Open Sans"/>
                <a:cs typeface="Open Sans"/>
                <a:sym typeface="Open Sans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Open Sans"/>
                <a:ea typeface="Open Sans"/>
                <a:cs typeface="Open Sans"/>
                <a:sym typeface="Open Sans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Open Sans"/>
                <a:ea typeface="Open Sans"/>
                <a:cs typeface="Open Sans"/>
                <a:sym typeface="Open Sans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Open Sans"/>
                <a:ea typeface="Open Sans"/>
                <a:cs typeface="Open Sans"/>
                <a:sym typeface="Open Sans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Open Sans"/>
                <a:ea typeface="Open Sans"/>
                <a:cs typeface="Open Sans"/>
                <a:sym typeface="Open Sans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4" name="Google Shape;24;p137"/>
          <p:cNvSpPr txBox="1"/>
          <p:nvPr>
            <p:ph idx="12" type="sldNum"/>
          </p:nvPr>
        </p:nvSpPr>
        <p:spPr>
          <a:xfrm>
            <a:off x="22630189" y="12802238"/>
            <a:ext cx="534611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8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138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9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39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0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140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4" name="Google Shape;34;p140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4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1"/>
          <p:cNvSpPr txBox="1"/>
          <p:nvPr>
            <p:ph type="title"/>
          </p:nvPr>
        </p:nvSpPr>
        <p:spPr>
          <a:xfrm>
            <a:off x="3962400" y="180976"/>
            <a:ext cx="16459200" cy="301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141"/>
          <p:cNvSpPr txBox="1"/>
          <p:nvPr>
            <p:ph idx="1" type="body"/>
          </p:nvPr>
        </p:nvSpPr>
        <p:spPr>
          <a:xfrm>
            <a:off x="3962400" y="3200400"/>
            <a:ext cx="16459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3pPr>
            <a:lvl4pPr indent="-635000" lvl="3" marL="18288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4pPr>
            <a:lvl5pPr indent="-635000" lvl="4" marL="22860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8" name="Google Shape;38;p141"/>
          <p:cNvSpPr txBox="1"/>
          <p:nvPr>
            <p:ph idx="12" type="sldNum"/>
          </p:nvPr>
        </p:nvSpPr>
        <p:spPr>
          <a:xfrm>
            <a:off x="17990856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5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2"/>
          <p:cNvSpPr txBox="1"/>
          <p:nvPr>
            <p:ph type="title"/>
          </p:nvPr>
        </p:nvSpPr>
        <p:spPr>
          <a:xfrm>
            <a:off x="4419600" y="914400"/>
            <a:ext cx="15544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8000"/>
              <a:buFont typeface="Arial"/>
              <a:buNone/>
              <a:defRPr sz="8000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142"/>
          <p:cNvSpPr txBox="1"/>
          <p:nvPr>
            <p:ph idx="1" type="body"/>
          </p:nvPr>
        </p:nvSpPr>
        <p:spPr>
          <a:xfrm>
            <a:off x="4419600" y="3505200"/>
            <a:ext cx="15544800" cy="10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  <a:defRPr sz="5600">
                <a:latin typeface="Arial"/>
                <a:ea typeface="Arial"/>
                <a:cs typeface="Arial"/>
                <a:sym typeface="Arial"/>
              </a:defRPr>
            </a:lvl1pPr>
            <a:lvl2pPr indent="-5842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>
                <a:latin typeface="Arial"/>
                <a:ea typeface="Arial"/>
                <a:cs typeface="Arial"/>
                <a:sym typeface="Arial"/>
              </a:defRPr>
            </a:lvl2pPr>
            <a:lvl3pPr indent="-584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–"/>
              <a:defRPr sz="5600">
                <a:latin typeface="Arial"/>
                <a:ea typeface="Arial"/>
                <a:cs typeface="Arial"/>
                <a:sym typeface="Arial"/>
              </a:defRPr>
            </a:lvl3pPr>
            <a:lvl4pPr indent="-5842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4pPr>
            <a:lvl5pPr indent="-584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42" name="Google Shape;42;p142"/>
          <p:cNvSpPr txBox="1"/>
          <p:nvPr>
            <p:ph idx="12" type="sldNum"/>
          </p:nvPr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6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43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Calibri"/>
                <a:ea typeface="Calibri"/>
                <a:cs typeface="Calibri"/>
                <a:sym typeface="Calibri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Calibri"/>
                <a:ea typeface="Calibri"/>
                <a:cs typeface="Calibri"/>
                <a:sym typeface="Calibri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Calibri"/>
                <a:ea typeface="Calibri"/>
                <a:cs typeface="Calibri"/>
                <a:sym typeface="Calibri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46" name="Google Shape;46;p143"/>
          <p:cNvSpPr txBox="1"/>
          <p:nvPr>
            <p:ph idx="12" type="sldNum"/>
          </p:nvPr>
        </p:nvSpPr>
        <p:spPr>
          <a:xfrm>
            <a:off x="19917052" y="12835870"/>
            <a:ext cx="504548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4"/>
          <p:cNvSpPr txBox="1"/>
          <p:nvPr>
            <p:ph idx="12" type="sldNum"/>
          </p:nvPr>
        </p:nvSpPr>
        <p:spPr>
          <a:xfrm>
            <a:off x="19917052" y="12835870"/>
            <a:ext cx="504548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5"/>
          <p:cNvSpPr/>
          <p:nvPr>
            <p:ph idx="2" type="pic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45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45"/>
          <p:cNvSpPr txBox="1"/>
          <p:nvPr>
            <p:ph idx="1" type="body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54" name="Google Shape;54;p145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6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46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7"/>
          <p:cNvSpPr/>
          <p:nvPr>
            <p:ph idx="2" type="pic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7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47"/>
          <p:cNvSpPr txBox="1"/>
          <p:nvPr>
            <p:ph idx="1" type="body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2" name="Google Shape;62;p147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8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148"/>
          <p:cNvSpPr txBox="1"/>
          <p:nvPr>
            <p:ph idx="1" type="body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indent="-60960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indent="-60960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indent="-60960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indent="-60960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66" name="Google Shape;66;p148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9"/>
          <p:cNvSpPr/>
          <p:nvPr>
            <p:ph idx="2" type="pic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9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49"/>
          <p:cNvSpPr txBox="1"/>
          <p:nvPr>
            <p:ph idx="1" type="body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530225" lvl="0" marL="4572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1pPr>
            <a:lvl2pPr indent="-530225" lvl="1" marL="9144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2pPr>
            <a:lvl3pPr indent="-530225" lvl="2" marL="13716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3pPr>
            <a:lvl4pPr indent="-530225" lvl="3" marL="18288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4pPr>
            <a:lvl5pPr indent="-530225" lvl="4" marL="22860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71" name="Google Shape;71;p149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0"/>
          <p:cNvSpPr txBox="1"/>
          <p:nvPr>
            <p:ph idx="1" type="body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indent="-60960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indent="-60960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indent="-60960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indent="-60960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74" name="Google Shape;74;p150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1"/>
          <p:cNvSpPr/>
          <p:nvPr>
            <p:ph idx="2" type="pic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51"/>
          <p:cNvSpPr/>
          <p:nvPr>
            <p:ph idx="3" type="pic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51"/>
          <p:cNvSpPr/>
          <p:nvPr>
            <p:ph idx="4" type="pic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1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2"/>
          <p:cNvSpPr txBox="1"/>
          <p:nvPr>
            <p:ph idx="1" type="body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/>
            </a:lvl1pPr>
            <a:lvl2pPr indent="-37147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82" name="Google Shape;82;p152"/>
          <p:cNvSpPr txBox="1"/>
          <p:nvPr>
            <p:ph idx="2" type="body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7147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83" name="Google Shape;83;p152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3"/>
          <p:cNvSpPr/>
          <p:nvPr>
            <p:ph idx="2" type="pic"/>
          </p:nvPr>
        </p:nvSpPr>
        <p:spPr>
          <a:xfrm>
            <a:off x="0" y="0"/>
            <a:ext cx="24384000" cy="16264467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53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4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5"/>
          <p:cNvSpPr txBox="1"/>
          <p:nvPr>
            <p:ph type="title"/>
          </p:nvPr>
        </p:nvSpPr>
        <p:spPr>
          <a:xfrm>
            <a:off x="4833940" y="2303860"/>
            <a:ext cx="14716126" cy="4643439"/>
          </a:xfrm>
          <a:prstGeom prst="rect">
            <a:avLst/>
          </a:prstGeom>
          <a:noFill/>
          <a:ln>
            <a:noFill/>
          </a:ln>
        </p:spPr>
        <p:txBody>
          <a:bodyPr anchorCtr="0" anchor="b" bIns="71375" lIns="71375" spcFirstLastPara="1" rIns="71375" wrap="square" tIns="713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155"/>
          <p:cNvSpPr txBox="1"/>
          <p:nvPr>
            <p:ph idx="1" type="body"/>
          </p:nvPr>
        </p:nvSpPr>
        <p:spPr>
          <a:xfrm>
            <a:off x="4833940" y="7072313"/>
            <a:ext cx="14716126" cy="1589487"/>
          </a:xfrm>
          <a:prstGeom prst="rect">
            <a:avLst/>
          </a:prstGeom>
          <a:noFill/>
          <a:ln>
            <a:noFill/>
          </a:ln>
        </p:spPr>
        <p:txBody>
          <a:bodyPr anchorCtr="0" anchor="t" bIns="71375" lIns="71375" spcFirstLastPara="1" rIns="71375" wrap="square" tIns="713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92" name="Google Shape;92;p155"/>
          <p:cNvSpPr txBox="1"/>
          <p:nvPr>
            <p:ph idx="12" type="sldNum"/>
          </p:nvPr>
        </p:nvSpPr>
        <p:spPr>
          <a:xfrm>
            <a:off x="11942928" y="13010559"/>
            <a:ext cx="480310" cy="498395"/>
          </a:xfrm>
          <a:prstGeom prst="rect">
            <a:avLst/>
          </a:prstGeom>
          <a:noFill/>
          <a:ln>
            <a:noFill/>
          </a:ln>
        </p:spPr>
        <p:txBody>
          <a:bodyPr anchorCtr="0" anchor="t" bIns="71375" lIns="71375" spcFirstLastPara="1" rIns="71375" wrap="square" tIns="7137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6"/>
          <p:cNvSpPr txBox="1"/>
          <p:nvPr>
            <p:ph type="title"/>
          </p:nvPr>
        </p:nvSpPr>
        <p:spPr>
          <a:xfrm>
            <a:off x="1778014" y="2298701"/>
            <a:ext cx="20828003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750" lIns="50750" spcFirstLastPara="1" rIns="50750" wrap="square" tIns="50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156"/>
          <p:cNvSpPr txBox="1"/>
          <p:nvPr>
            <p:ph idx="1" type="body"/>
          </p:nvPr>
        </p:nvSpPr>
        <p:spPr>
          <a:xfrm>
            <a:off x="1778014" y="7073902"/>
            <a:ext cx="20828003" cy="1587501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96" name="Google Shape;96;p156"/>
          <p:cNvSpPr txBox="1"/>
          <p:nvPr>
            <p:ph idx="12" type="sldNum"/>
          </p:nvPr>
        </p:nvSpPr>
        <p:spPr>
          <a:xfrm>
            <a:off x="11966132" y="13081001"/>
            <a:ext cx="439060" cy="457145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3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7"/>
          <p:cNvSpPr txBox="1"/>
          <p:nvPr>
            <p:ph type="title"/>
          </p:nvPr>
        </p:nvSpPr>
        <p:spPr>
          <a:xfrm>
            <a:off x="1778014" y="2298701"/>
            <a:ext cx="20828003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157"/>
          <p:cNvSpPr txBox="1"/>
          <p:nvPr>
            <p:ph idx="1" type="body"/>
          </p:nvPr>
        </p:nvSpPr>
        <p:spPr>
          <a:xfrm>
            <a:off x="1778014" y="7073902"/>
            <a:ext cx="20828003" cy="15875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00" name="Google Shape;100;p157"/>
          <p:cNvSpPr txBox="1"/>
          <p:nvPr>
            <p:ph idx="12" type="sldNum"/>
          </p:nvPr>
        </p:nvSpPr>
        <p:spPr>
          <a:xfrm>
            <a:off x="11966104" y="13081001"/>
            <a:ext cx="439116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7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8"/>
          <p:cNvSpPr txBox="1"/>
          <p:nvPr>
            <p:ph type="title"/>
          </p:nvPr>
        </p:nvSpPr>
        <p:spPr>
          <a:xfrm>
            <a:off x="1689117" y="952500"/>
            <a:ext cx="210057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3" name="Google Shape;103;p158"/>
          <p:cNvSpPr txBox="1"/>
          <p:nvPr>
            <p:ph idx="1" type="body"/>
          </p:nvPr>
        </p:nvSpPr>
        <p:spPr>
          <a:xfrm>
            <a:off x="1689117" y="3238499"/>
            <a:ext cx="21005799" cy="9207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50" lIns="50750" spcFirstLastPara="1" rIns="50750" wrap="square" tIns="50750">
            <a:normAutofit/>
          </a:bodyPr>
          <a:lstStyle>
            <a:lvl1pPr indent="-47625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7625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7625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7625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7625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04" name="Google Shape;104;p158"/>
          <p:cNvSpPr txBox="1"/>
          <p:nvPr>
            <p:ph idx="12" type="sldNum"/>
          </p:nvPr>
        </p:nvSpPr>
        <p:spPr>
          <a:xfrm>
            <a:off x="17255670" y="12712700"/>
            <a:ext cx="439060" cy="457145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4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9"/>
          <p:cNvSpPr txBox="1"/>
          <p:nvPr>
            <p:ph type="title"/>
          </p:nvPr>
        </p:nvSpPr>
        <p:spPr>
          <a:xfrm>
            <a:off x="1778014" y="2298701"/>
            <a:ext cx="20828003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750" lIns="50750" spcFirstLastPara="1" rIns="50750" wrap="square" tIns="507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159"/>
          <p:cNvSpPr txBox="1"/>
          <p:nvPr>
            <p:ph idx="1" type="body"/>
          </p:nvPr>
        </p:nvSpPr>
        <p:spPr>
          <a:xfrm>
            <a:off x="1778014" y="7073902"/>
            <a:ext cx="20828003" cy="1587501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08" name="Google Shape;108;p159"/>
          <p:cNvSpPr txBox="1"/>
          <p:nvPr>
            <p:ph idx="12" type="sldNum"/>
          </p:nvPr>
        </p:nvSpPr>
        <p:spPr>
          <a:xfrm>
            <a:off x="11966132" y="13081001"/>
            <a:ext cx="439060" cy="457145"/>
          </a:xfrm>
          <a:prstGeom prst="rect">
            <a:avLst/>
          </a:prstGeom>
          <a:noFill/>
          <a:ln>
            <a:noFill/>
          </a:ln>
        </p:spPr>
        <p:txBody>
          <a:bodyPr anchorCtr="0" anchor="t" bIns="50750" lIns="50750" spcFirstLastPara="1" rIns="50750" wrap="square" tIns="507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  <a:defRPr sz="23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 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0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Helvetica Neue Light"/>
              <a:buNone/>
              <a:defRPr sz="7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160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1"/>
          <p:cNvSpPr txBox="1"/>
          <p:nvPr>
            <p:ph idx="1" type="body"/>
          </p:nvPr>
        </p:nvSpPr>
        <p:spPr>
          <a:xfrm>
            <a:off x="2387600" y="8953500"/>
            <a:ext cx="196215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7147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4" name="Google Shape;114;p161"/>
          <p:cNvSpPr txBox="1"/>
          <p:nvPr>
            <p:ph idx="2" type="body"/>
          </p:nvPr>
        </p:nvSpPr>
        <p:spPr>
          <a:xfrm>
            <a:off x="2387600" y="6070599"/>
            <a:ext cx="19621500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 Light"/>
              <a:buNone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7147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5" name="Google Shape;115;p161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2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Helvetica Neue Light"/>
              <a:buNone/>
              <a:defRPr sz="7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8" name="Google Shape;118;p162"/>
          <p:cNvSpPr txBox="1"/>
          <p:nvPr>
            <p:ph idx="1" type="body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60960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60960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60960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60960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9" name="Google Shape;119;p162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5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3"/>
          <p:cNvSpPr txBox="1"/>
          <p:nvPr>
            <p:ph type="title"/>
          </p:nvPr>
        </p:nvSpPr>
        <p:spPr>
          <a:xfrm>
            <a:off x="8053089" y="4296295"/>
            <a:ext cx="8277822" cy="261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0175" lIns="40175" spcFirstLastPara="1" rIns="40175" wrap="square" tIns="401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00"/>
              <a:buFont typeface="Helvetica Neue Light"/>
              <a:buNone/>
              <a:defRPr sz="10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2" name="Google Shape;122;p163"/>
          <p:cNvSpPr txBox="1"/>
          <p:nvPr>
            <p:ph idx="1" type="body"/>
          </p:nvPr>
        </p:nvSpPr>
        <p:spPr>
          <a:xfrm>
            <a:off x="8053089" y="6978550"/>
            <a:ext cx="8277822" cy="894086"/>
          </a:xfrm>
          <a:prstGeom prst="rect">
            <a:avLst/>
          </a:prstGeom>
          <a:noFill/>
          <a:ln>
            <a:noFill/>
          </a:ln>
        </p:spPr>
        <p:txBody>
          <a:bodyPr anchorCtr="0" anchor="t" bIns="40175" lIns="40175" spcFirstLastPara="1" rIns="40175" wrap="square" tIns="401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3" name="Google Shape;123;p163"/>
          <p:cNvSpPr txBox="1"/>
          <p:nvPr>
            <p:ph idx="12" type="sldNum"/>
          </p:nvPr>
        </p:nvSpPr>
        <p:spPr>
          <a:xfrm>
            <a:off x="12013341" y="10318812"/>
            <a:ext cx="347272" cy="35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0175" lIns="40175" spcFirstLastPara="1" rIns="40175" wrap="square" tIns="4017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6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4"/>
          <p:cNvSpPr txBox="1"/>
          <p:nvPr>
            <p:ph type="title"/>
          </p:nvPr>
        </p:nvSpPr>
        <p:spPr>
          <a:xfrm>
            <a:off x="6673453" y="3442394"/>
            <a:ext cx="11037095" cy="3482579"/>
          </a:xfrm>
          <a:prstGeom prst="rect">
            <a:avLst/>
          </a:prstGeom>
          <a:noFill/>
          <a:ln>
            <a:noFill/>
          </a:ln>
        </p:spPr>
        <p:txBody>
          <a:bodyPr anchorCtr="0" anchor="b" bIns="53575" lIns="53575" spcFirstLastPara="1" rIns="53575" wrap="square" tIns="53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Helvetica Neue Light"/>
              <a:buNone/>
              <a:defRPr sz="10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6" name="Google Shape;126;p164"/>
          <p:cNvSpPr txBox="1"/>
          <p:nvPr>
            <p:ph idx="1" type="body"/>
          </p:nvPr>
        </p:nvSpPr>
        <p:spPr>
          <a:xfrm>
            <a:off x="6673453" y="7018734"/>
            <a:ext cx="11037095" cy="1192114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4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7" name="Google Shape;127;p164"/>
          <p:cNvSpPr txBox="1"/>
          <p:nvPr>
            <p:ph idx="12" type="sldNum"/>
          </p:nvPr>
        </p:nvSpPr>
        <p:spPr>
          <a:xfrm>
            <a:off x="11970028" y="11472416"/>
            <a:ext cx="430550" cy="437357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 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5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165"/>
          <p:cNvSpPr txBox="1"/>
          <p:nvPr>
            <p:ph idx="12" type="sldNum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7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6"/>
          <p:cNvSpPr txBox="1"/>
          <p:nvPr>
            <p:ph type="title"/>
          </p:nvPr>
        </p:nvSpPr>
        <p:spPr>
          <a:xfrm>
            <a:off x="6673453" y="3442394"/>
            <a:ext cx="11037095" cy="3482579"/>
          </a:xfrm>
          <a:prstGeom prst="rect">
            <a:avLst/>
          </a:prstGeom>
          <a:noFill/>
          <a:ln>
            <a:noFill/>
          </a:ln>
        </p:spPr>
        <p:txBody>
          <a:bodyPr anchorCtr="0" anchor="b" bIns="53575" lIns="53575" spcFirstLastPara="1" rIns="53575" wrap="square" tIns="535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Helvetica Neue"/>
              <a:buNone/>
              <a:defRPr sz="10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166"/>
          <p:cNvSpPr txBox="1"/>
          <p:nvPr>
            <p:ph idx="1" type="body"/>
          </p:nvPr>
        </p:nvSpPr>
        <p:spPr>
          <a:xfrm>
            <a:off x="6673453" y="7018734"/>
            <a:ext cx="11037095" cy="1192114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4" name="Google Shape;134;p166"/>
          <p:cNvSpPr txBox="1"/>
          <p:nvPr>
            <p:ph idx="12" type="sldNum"/>
          </p:nvPr>
        </p:nvSpPr>
        <p:spPr>
          <a:xfrm>
            <a:off x="11970028" y="11472416"/>
            <a:ext cx="430550" cy="437357"/>
          </a:xfrm>
          <a:prstGeom prst="rect">
            <a:avLst/>
          </a:prstGeom>
          <a:noFill/>
          <a:ln>
            <a:noFill/>
          </a:ln>
        </p:spPr>
        <p:txBody>
          <a:bodyPr anchorCtr="0" anchor="t" bIns="53575" lIns="53575" spcFirstLastPara="1" rIns="53575" wrap="square" tIns="5357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7"/>
          <p:cNvSpPr txBox="1"/>
          <p:nvPr>
            <p:ph type="title"/>
          </p:nvPr>
        </p:nvSpPr>
        <p:spPr>
          <a:xfrm>
            <a:off x="1689100" y="9525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7" name="Google Shape;137;p167"/>
          <p:cNvSpPr txBox="1"/>
          <p:nvPr>
            <p:ph idx="1" type="body"/>
          </p:nvPr>
        </p:nvSpPr>
        <p:spPr>
          <a:xfrm>
            <a:off x="1689100" y="3238500"/>
            <a:ext cx="21005800" cy="92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7625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7625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7625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7625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7625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8" name="Google Shape;138;p167"/>
          <p:cNvSpPr txBox="1"/>
          <p:nvPr>
            <p:ph idx="12" type="sldNum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 8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8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1" name="Google Shape;141;p168"/>
          <p:cNvSpPr txBox="1"/>
          <p:nvPr>
            <p:ph idx="1" type="body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  <a:defRPr sz="4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2" name="Google Shape;142;p168"/>
          <p:cNvSpPr txBox="1"/>
          <p:nvPr>
            <p:ph idx="12" type="sldNum"/>
          </p:nvPr>
        </p:nvSpPr>
        <p:spPr>
          <a:xfrm>
            <a:off x="11959031" y="13081000"/>
            <a:ext cx="453238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8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9"/>
          <p:cNvSpPr txBox="1"/>
          <p:nvPr>
            <p:ph type="title"/>
          </p:nvPr>
        </p:nvSpPr>
        <p:spPr>
          <a:xfrm>
            <a:off x="4305299" y="2262187"/>
            <a:ext cx="15773403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Helvetica Neue Light"/>
              <a:buNone/>
              <a:defRPr sz="8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169"/>
          <p:cNvSpPr txBox="1"/>
          <p:nvPr>
            <p:ph idx="1" type="body"/>
          </p:nvPr>
        </p:nvSpPr>
        <p:spPr>
          <a:xfrm>
            <a:off x="4305299" y="4452937"/>
            <a:ext cx="15773403" cy="6527008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5588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5588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5588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5588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5588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46" name="Google Shape;146;p169"/>
          <p:cNvSpPr txBox="1"/>
          <p:nvPr>
            <p:ph idx="12" type="sldNum"/>
          </p:nvPr>
        </p:nvSpPr>
        <p:spPr>
          <a:xfrm>
            <a:off x="19618147" y="11286891"/>
            <a:ext cx="460554" cy="471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Helvetica Neue Light"/>
              <a:buNone/>
              <a:defRPr sz="2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0"/>
          <p:cNvSpPr txBox="1"/>
          <p:nvPr>
            <p:ph type="title"/>
          </p:nvPr>
        </p:nvSpPr>
        <p:spPr>
          <a:xfrm>
            <a:off x="3962400" y="0"/>
            <a:ext cx="16459200" cy="178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 Light"/>
              <a:buNone/>
              <a:defRPr sz="8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9" name="Google Shape;149;p170"/>
          <p:cNvSpPr txBox="1"/>
          <p:nvPr>
            <p:ph idx="1" type="body"/>
          </p:nvPr>
        </p:nvSpPr>
        <p:spPr>
          <a:xfrm>
            <a:off x="3962400" y="2162175"/>
            <a:ext cx="16459200" cy="100901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»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0" name="Google Shape;150;p170"/>
          <p:cNvSpPr txBox="1"/>
          <p:nvPr>
            <p:ph idx="12" type="sldNum"/>
          </p:nvPr>
        </p:nvSpPr>
        <p:spPr>
          <a:xfrm>
            <a:off x="19887082" y="12806655"/>
            <a:ext cx="534519" cy="542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10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1"/>
          <p:cNvSpPr/>
          <p:nvPr/>
        </p:nvSpPr>
        <p:spPr>
          <a:xfrm>
            <a:off x="3048000" y="441571"/>
            <a:ext cx="18288000" cy="4572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71"/>
          <p:cNvSpPr txBox="1"/>
          <p:nvPr>
            <p:ph type="title"/>
          </p:nvPr>
        </p:nvSpPr>
        <p:spPr>
          <a:xfrm>
            <a:off x="3962400" y="1066800"/>
            <a:ext cx="16459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533C"/>
              </a:buClr>
              <a:buSzPts val="8000"/>
              <a:buFont typeface="Helvetica Neue"/>
              <a:buNone/>
              <a:defRPr sz="8000">
                <a:solidFill>
                  <a:srgbClr val="D2533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171"/>
          <p:cNvSpPr txBox="1"/>
          <p:nvPr>
            <p:ph idx="1" type="body"/>
          </p:nvPr>
        </p:nvSpPr>
        <p:spPr>
          <a:xfrm>
            <a:off x="3962400" y="3200400"/>
            <a:ext cx="16459200" cy="9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8768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3A299"/>
              </a:buClr>
              <a:buSzPts val="4080"/>
              <a:buFont typeface="Helvetica Neue"/>
              <a:buChar char="•"/>
              <a:defRPr sz="4800">
                <a:solidFill>
                  <a:srgbClr val="292934"/>
                </a:solidFill>
              </a:defRPr>
            </a:lvl1pPr>
            <a:lvl2pPr indent="-48768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3A299"/>
              </a:buClr>
              <a:buSzPts val="4080"/>
              <a:buFont typeface="Helvetica Neue"/>
              <a:buChar char="•"/>
              <a:defRPr sz="4800">
                <a:solidFill>
                  <a:srgbClr val="292934"/>
                </a:solidFill>
              </a:defRPr>
            </a:lvl2pPr>
            <a:lvl3pPr indent="-502919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3A299"/>
              </a:buClr>
              <a:buSzPts val="4320"/>
              <a:buFont typeface="Helvetica Neue"/>
              <a:buChar char="•"/>
              <a:defRPr sz="4800">
                <a:solidFill>
                  <a:srgbClr val="292934"/>
                </a:solidFill>
              </a:defRPr>
            </a:lvl3pPr>
            <a:lvl4pPr indent="-53340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3A299"/>
              </a:buClr>
              <a:buSzPts val="4800"/>
              <a:buFont typeface="Helvetica Neue"/>
              <a:buChar char="•"/>
              <a:defRPr sz="4800">
                <a:solidFill>
                  <a:srgbClr val="292934"/>
                </a:solidFill>
              </a:defRPr>
            </a:lvl4pPr>
            <a:lvl5pPr indent="-53340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3A299"/>
              </a:buClr>
              <a:buSzPts val="4800"/>
              <a:buFont typeface="Helvetica Neue"/>
              <a:buChar char="•"/>
              <a:defRPr sz="4800">
                <a:solidFill>
                  <a:srgbClr val="292934"/>
                </a:solidFill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5" name="Google Shape;155;p171"/>
          <p:cNvSpPr txBox="1"/>
          <p:nvPr>
            <p:ph idx="12" type="sldNum"/>
          </p:nvPr>
        </p:nvSpPr>
        <p:spPr>
          <a:xfrm>
            <a:off x="18288000" y="63577"/>
            <a:ext cx="591008" cy="604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240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cture slide">
  <p:cSld name="Lecture slid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2"/>
          <p:cNvSpPr txBox="1"/>
          <p:nvPr>
            <p:ph type="title"/>
          </p:nvPr>
        </p:nvSpPr>
        <p:spPr>
          <a:xfrm>
            <a:off x="1689100" y="101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Helvetica Neue"/>
              <a:buNone/>
              <a:defRPr sz="10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172"/>
          <p:cNvSpPr txBox="1"/>
          <p:nvPr>
            <p:ph idx="1" type="body"/>
          </p:nvPr>
        </p:nvSpPr>
        <p:spPr>
          <a:xfrm>
            <a:off x="1689100" y="30988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60960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60960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60960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60960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609600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Char char="•"/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9" name="Google Shape;159;p172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1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 Light"/>
              <a:buNone/>
              <a:defRPr sz="8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2" name="Google Shape;162;p173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–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»"/>
              <a:defRPr sz="6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63" name="Google Shape;163;p173"/>
          <p:cNvSpPr txBox="1"/>
          <p:nvPr>
            <p:ph idx="12" type="sldNum"/>
          </p:nvPr>
        </p:nvSpPr>
        <p:spPr>
          <a:xfrm>
            <a:off x="19887082" y="12806655"/>
            <a:ext cx="534519" cy="542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 Light"/>
              <a:buNone/>
              <a:defRPr sz="8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6" name="Google Shape;166;p174"/>
          <p:cNvSpPr txBox="1"/>
          <p:nvPr>
            <p:ph idx="12" type="sldNum"/>
          </p:nvPr>
        </p:nvSpPr>
        <p:spPr>
          <a:xfrm>
            <a:off x="19887082" y="12806655"/>
            <a:ext cx="534519" cy="542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5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 Light"/>
              <a:buNone/>
              <a:defRPr sz="8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175"/>
          <p:cNvSpPr txBox="1"/>
          <p:nvPr>
            <p:ph idx="12" type="sldNum"/>
          </p:nvPr>
        </p:nvSpPr>
        <p:spPr>
          <a:xfrm>
            <a:off x="19887082" y="12806655"/>
            <a:ext cx="534519" cy="542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Helvetica Neue Light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6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 Light"/>
              <a:buNone/>
              <a:defRPr sz="8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2" name="Google Shape;172;p176"/>
          <p:cNvSpPr txBox="1"/>
          <p:nvPr>
            <p:ph idx="1" type="body"/>
          </p:nvPr>
        </p:nvSpPr>
        <p:spPr>
          <a:xfrm>
            <a:off x="3962400" y="3200400"/>
            <a:ext cx="8077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584200" lvl="1" marL="9144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–"/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584200" lvl="2" marL="1371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584200" lvl="3" marL="18288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–"/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584200" lvl="4" marL="22860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»"/>
              <a:defRPr sz="56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73" name="Google Shape;173;p176"/>
          <p:cNvSpPr txBox="1"/>
          <p:nvPr>
            <p:ph idx="12" type="sldNum"/>
          </p:nvPr>
        </p:nvSpPr>
        <p:spPr>
          <a:xfrm>
            <a:off x="19887082" y="12806655"/>
            <a:ext cx="534519" cy="542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Helvetica Neue Light"/>
              <a:buNone/>
              <a:defRPr>
                <a:solidFill>
                  <a:srgbClr val="89898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7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6" name="Google Shape;176;p177"/>
          <p:cNvSpPr txBox="1"/>
          <p:nvPr>
            <p:ph idx="12" type="sldNum"/>
          </p:nvPr>
        </p:nvSpPr>
        <p:spPr>
          <a:xfrm>
            <a:off x="19906337" y="12808585"/>
            <a:ext cx="515264" cy="5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p178"/>
          <p:cNvSpPr txBox="1"/>
          <p:nvPr>
            <p:ph idx="12" type="sldNum"/>
          </p:nvPr>
        </p:nvSpPr>
        <p:spPr>
          <a:xfrm>
            <a:off x="19906337" y="12808585"/>
            <a:ext cx="515264" cy="5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1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9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179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Calibri"/>
                <a:ea typeface="Calibri"/>
                <a:cs typeface="Calibri"/>
                <a:sym typeface="Calibri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Calibri"/>
                <a:ea typeface="Calibri"/>
                <a:cs typeface="Calibri"/>
                <a:sym typeface="Calibri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Calibri"/>
                <a:ea typeface="Calibri"/>
                <a:cs typeface="Calibri"/>
                <a:sym typeface="Calibri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Calibri"/>
                <a:ea typeface="Calibri"/>
                <a:cs typeface="Calibri"/>
                <a:sym typeface="Calibri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83" name="Google Shape;183;p179"/>
          <p:cNvSpPr txBox="1"/>
          <p:nvPr>
            <p:ph idx="12" type="sldNum"/>
          </p:nvPr>
        </p:nvSpPr>
        <p:spPr>
          <a:xfrm>
            <a:off x="19906337" y="12808585"/>
            <a:ext cx="515264" cy="5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13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0"/>
          <p:cNvSpPr txBox="1"/>
          <p:nvPr>
            <p:ph type="title"/>
          </p:nvPr>
        </p:nvSpPr>
        <p:spPr>
          <a:xfrm>
            <a:off x="3962400" y="180976"/>
            <a:ext cx="16459200" cy="301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6" name="Google Shape;186;p180"/>
          <p:cNvSpPr txBox="1"/>
          <p:nvPr>
            <p:ph idx="1" type="body"/>
          </p:nvPr>
        </p:nvSpPr>
        <p:spPr>
          <a:xfrm>
            <a:off x="3962400" y="3200400"/>
            <a:ext cx="16459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3pPr>
            <a:lvl4pPr indent="-635000" lvl="3" marL="18288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4pPr>
            <a:lvl5pPr indent="-635000" lvl="4" marL="22860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87" name="Google Shape;187;p180"/>
          <p:cNvSpPr txBox="1"/>
          <p:nvPr>
            <p:ph idx="12" type="sldNum"/>
          </p:nvPr>
        </p:nvSpPr>
        <p:spPr>
          <a:xfrm>
            <a:off x="17990856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14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1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181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6350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1pPr>
            <a:lvl2pPr indent="-63500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2pPr>
            <a:lvl3pPr indent="-635000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  <a:defRPr sz="6400">
                <a:latin typeface="Arial"/>
                <a:ea typeface="Arial"/>
                <a:cs typeface="Arial"/>
                <a:sym typeface="Arial"/>
              </a:defRPr>
            </a:lvl3pPr>
            <a:lvl4pPr indent="-635000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–"/>
              <a:defRPr sz="6400">
                <a:latin typeface="Arial"/>
                <a:ea typeface="Arial"/>
                <a:cs typeface="Arial"/>
                <a:sym typeface="Arial"/>
              </a:defRPr>
            </a:lvl4pPr>
            <a:lvl5pPr indent="-635000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»"/>
              <a:defRPr sz="6400"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91" name="Google Shape;191;p181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7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2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Open Sans"/>
              <a:buNone/>
              <a:defRPr b="1" sz="88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4" name="Google Shape;194;p182"/>
          <p:cNvSpPr txBox="1"/>
          <p:nvPr>
            <p:ph idx="12" type="sldNum"/>
          </p:nvPr>
        </p:nvSpPr>
        <p:spPr>
          <a:xfrm>
            <a:off x="22630189" y="12802238"/>
            <a:ext cx="534611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  <a:defRPr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7" name="Google Shape;197;p183"/>
          <p:cNvSpPr txBox="1"/>
          <p:nvPr>
            <p:ph idx="1" type="body"/>
          </p:nvPr>
        </p:nvSpPr>
        <p:spPr>
          <a:xfrm>
            <a:off x="3962400" y="3200400"/>
            <a:ext cx="8077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–"/>
              <a:defRPr sz="5600">
                <a:latin typeface="Calibri"/>
                <a:ea typeface="Calibri"/>
                <a:cs typeface="Calibri"/>
                <a:sym typeface="Calibri"/>
              </a:defRPr>
            </a:lvl2pPr>
            <a:lvl3pPr indent="-584200" lvl="2" marL="13716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>
                <a:latin typeface="Calibri"/>
                <a:ea typeface="Calibri"/>
                <a:cs typeface="Calibri"/>
                <a:sym typeface="Calibri"/>
              </a:defRPr>
            </a:lvl3pPr>
            <a:lvl4pPr indent="-584200" lvl="3" marL="18288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–"/>
              <a:defRPr sz="5600">
                <a:latin typeface="Calibri"/>
                <a:ea typeface="Calibri"/>
                <a:cs typeface="Calibri"/>
                <a:sym typeface="Calibri"/>
              </a:defRPr>
            </a:lvl4pPr>
            <a:lvl5pPr indent="-584200" lvl="4" marL="228600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»"/>
              <a:defRPr sz="5600">
                <a:latin typeface="Calibri"/>
                <a:ea typeface="Calibri"/>
                <a:cs typeface="Calibri"/>
                <a:sym typeface="Calibri"/>
              </a:defRPr>
            </a:lvl5pPr>
            <a:lvl6pPr indent="-37147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98" name="Google Shape;198;p183"/>
          <p:cNvSpPr txBox="1"/>
          <p:nvPr>
            <p:ph idx="12" type="sldNum"/>
          </p:nvPr>
        </p:nvSpPr>
        <p:spPr>
          <a:xfrm>
            <a:off x="19906337" y="12808585"/>
            <a:ext cx="515264" cy="5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  <a:defRPr sz="8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1" name="Google Shape;201;p18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3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33"/>
          <p:cNvSpPr txBox="1"/>
          <p:nvPr>
            <p:ph idx="12" type="sldNum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33"/>
          <p:cNvSpPr txBox="1"/>
          <p:nvPr>
            <p:ph idx="1" type="body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64135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4135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4135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4135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4135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4135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4135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4135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4135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6.png"/><Relationship Id="rId11" Type="http://schemas.openxmlformats.org/officeDocument/2006/relationships/image" Target="../media/image18.png"/><Relationship Id="rId10" Type="http://schemas.openxmlformats.org/officeDocument/2006/relationships/image" Target="../media/image15.png"/><Relationship Id="rId12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2.jp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jp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5.png"/><Relationship Id="rId4" Type="http://schemas.openxmlformats.org/officeDocument/2006/relationships/image" Target="../media/image45.png"/><Relationship Id="rId5" Type="http://schemas.openxmlformats.org/officeDocument/2006/relationships/hyperlink" Target="https://en.wikipedia.org/wiki/Stereoscop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39.png"/><Relationship Id="rId6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Relationship Id="rId4" Type="http://schemas.openxmlformats.org/officeDocument/2006/relationships/image" Target="../media/image42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Relationship Id="rId4" Type="http://schemas.openxmlformats.org/officeDocument/2006/relationships/image" Target="../media/image47.png"/><Relationship Id="rId5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39.png"/><Relationship Id="rId6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0.png"/><Relationship Id="rId4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1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Relationship Id="rId6" Type="http://schemas.openxmlformats.org/officeDocument/2006/relationships/image" Target="../media/image6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www.robots.ox.ac.uk/~vgg/hzbook/hzbook2/HZepipolar.pdf" TargetMode="External"/><Relationship Id="rId4" Type="http://schemas.openxmlformats.org/officeDocument/2006/relationships/image" Target="../media/image56.png"/><Relationship Id="rId5" Type="http://schemas.openxmlformats.org/officeDocument/2006/relationships/image" Target="../media/image5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www.robots.ox.ac.uk/~vgg/hzbook/hzbook2/HZepipolar.pdf" TargetMode="External"/><Relationship Id="rId4" Type="http://schemas.openxmlformats.org/officeDocument/2006/relationships/image" Target="../media/image56.png"/><Relationship Id="rId5" Type="http://schemas.openxmlformats.org/officeDocument/2006/relationships/image" Target="../media/image5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5" Type="http://schemas.openxmlformats.org/officeDocument/2006/relationships/image" Target="../media/image6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1.png"/><Relationship Id="rId4" Type="http://schemas.openxmlformats.org/officeDocument/2006/relationships/image" Target="../media/image6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3.png"/><Relationship Id="rId4" Type="http://schemas.openxmlformats.org/officeDocument/2006/relationships/image" Target="../media/image7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3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3.jpg"/><Relationship Id="rId4" Type="http://schemas.openxmlformats.org/officeDocument/2006/relationships/image" Target="../media/image87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3.jpg"/><Relationship Id="rId4" Type="http://schemas.openxmlformats.org/officeDocument/2006/relationships/image" Target="../media/image8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3.jpg"/><Relationship Id="rId4" Type="http://schemas.openxmlformats.org/officeDocument/2006/relationships/image" Target="../media/image124.png"/><Relationship Id="rId5" Type="http://schemas.openxmlformats.org/officeDocument/2006/relationships/image" Target="../media/image10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95.jpg"/><Relationship Id="rId4" Type="http://schemas.openxmlformats.org/officeDocument/2006/relationships/image" Target="../media/image97.jpg"/><Relationship Id="rId5" Type="http://schemas.openxmlformats.org/officeDocument/2006/relationships/image" Target="../media/image99.png"/><Relationship Id="rId6" Type="http://schemas.openxmlformats.org/officeDocument/2006/relationships/image" Target="../media/image14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5.jpg"/><Relationship Id="rId4" Type="http://schemas.openxmlformats.org/officeDocument/2006/relationships/image" Target="../media/image98.png"/><Relationship Id="rId5" Type="http://schemas.openxmlformats.org/officeDocument/2006/relationships/image" Target="../media/image93.png"/><Relationship Id="rId6" Type="http://schemas.openxmlformats.org/officeDocument/2006/relationships/image" Target="../media/image10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6.png"/><Relationship Id="rId4" Type="http://schemas.openxmlformats.org/officeDocument/2006/relationships/image" Target="../media/image101.png"/><Relationship Id="rId5" Type="http://schemas.openxmlformats.org/officeDocument/2006/relationships/image" Target="../media/image108.png"/><Relationship Id="rId6" Type="http://schemas.openxmlformats.org/officeDocument/2006/relationships/image" Target="../media/image12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0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10.png"/><Relationship Id="rId4" Type="http://schemas.openxmlformats.org/officeDocument/2006/relationships/image" Target="../media/image11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14.png"/><Relationship Id="rId4" Type="http://schemas.openxmlformats.org/officeDocument/2006/relationships/image" Target="../media/image2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4.png"/><Relationship Id="rId4" Type="http://schemas.openxmlformats.org/officeDocument/2006/relationships/image" Target="../media/image12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9.png"/><Relationship Id="rId4" Type="http://schemas.openxmlformats.org/officeDocument/2006/relationships/image" Target="../media/image117.png"/><Relationship Id="rId5" Type="http://schemas.openxmlformats.org/officeDocument/2006/relationships/image" Target="../media/image122.png"/><Relationship Id="rId6" Type="http://schemas.openxmlformats.org/officeDocument/2006/relationships/image" Target="../media/image11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2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12.png"/><Relationship Id="rId4" Type="http://schemas.openxmlformats.org/officeDocument/2006/relationships/image" Target="../media/image111.jpg"/><Relationship Id="rId5" Type="http://schemas.openxmlformats.org/officeDocument/2006/relationships/image" Target="../media/image120.png"/><Relationship Id="rId6" Type="http://schemas.openxmlformats.org/officeDocument/2006/relationships/image" Target="../media/image125.png"/><Relationship Id="rId7" Type="http://schemas.openxmlformats.org/officeDocument/2006/relationships/image" Target="../media/image11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26.png"/><Relationship Id="rId4" Type="http://schemas.openxmlformats.org/officeDocument/2006/relationships/image" Target="../media/image133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12.png"/><Relationship Id="rId4" Type="http://schemas.openxmlformats.org/officeDocument/2006/relationships/image" Target="../media/image11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36.png"/><Relationship Id="rId4" Type="http://schemas.openxmlformats.org/officeDocument/2006/relationships/image" Target="../media/image132.png"/><Relationship Id="rId9" Type="http://schemas.openxmlformats.org/officeDocument/2006/relationships/image" Target="../media/image149.png"/><Relationship Id="rId5" Type="http://schemas.openxmlformats.org/officeDocument/2006/relationships/image" Target="../media/image128.png"/><Relationship Id="rId6" Type="http://schemas.openxmlformats.org/officeDocument/2006/relationships/image" Target="../media/image131.png"/><Relationship Id="rId7" Type="http://schemas.openxmlformats.org/officeDocument/2006/relationships/image" Target="../media/image150.png"/><Relationship Id="rId8" Type="http://schemas.openxmlformats.org/officeDocument/2006/relationships/image" Target="../media/image134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35.png"/><Relationship Id="rId4" Type="http://schemas.openxmlformats.org/officeDocument/2006/relationships/image" Target="../media/image127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2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4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47.png"/><Relationship Id="rId4" Type="http://schemas.openxmlformats.org/officeDocument/2006/relationships/image" Target="../media/image14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83.jpg"/><Relationship Id="rId4" Type="http://schemas.openxmlformats.org/officeDocument/2006/relationships/image" Target="../media/image87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83.jpg"/><Relationship Id="rId4" Type="http://schemas.openxmlformats.org/officeDocument/2006/relationships/image" Target="../media/image87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83.jpg"/><Relationship Id="rId4" Type="http://schemas.openxmlformats.org/officeDocument/2006/relationships/image" Target="../media/image87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4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76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70.png"/><Relationship Id="rId4" Type="http://schemas.openxmlformats.org/officeDocument/2006/relationships/image" Target="../media/image77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73.jpg"/><Relationship Id="rId4" Type="http://schemas.openxmlformats.org/officeDocument/2006/relationships/image" Target="../media/image81.jpg"/><Relationship Id="rId5" Type="http://schemas.openxmlformats.org/officeDocument/2006/relationships/image" Target="../media/image78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8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idx="12" type="sldNum"/>
          </p:nvPr>
        </p:nvSpPr>
        <p:spPr>
          <a:xfrm>
            <a:off x="12043765" y="13081000"/>
            <a:ext cx="28377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b="0"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07" name="Google Shape;207;p1"/>
          <p:cNvSpPr txBox="1"/>
          <p:nvPr>
            <p:ph idx="4294967295" type="ctrTitle"/>
          </p:nvPr>
        </p:nvSpPr>
        <p:spPr>
          <a:xfrm>
            <a:off x="4237099" y="6059093"/>
            <a:ext cx="15909802" cy="159781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5"/>
              <a:buFont typeface="Helvetica Neue"/>
              <a:buNone/>
            </a:pPr>
            <a:r>
              <a:rPr b="0" i="0" lang="en-US" sz="877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Lecture </a:t>
            </a:r>
            <a:r>
              <a:rPr lang="en-US" sz="8775"/>
              <a:t>6</a:t>
            </a:r>
            <a:r>
              <a:rPr b="0" i="0" lang="en-US" sz="8775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-US" sz="8775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Multi-view geometry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Helvetica Neue"/>
              <a:buNone/>
            </a:pPr>
            <a:r>
              <a:rPr lang="en-US" sz="10000"/>
              <a:t>Announcements</a:t>
            </a:r>
            <a:endParaRPr/>
          </a:p>
        </p:txBody>
      </p:sp>
      <p:sp>
        <p:nvSpPr>
          <p:cNvPr id="213" name="Google Shape;213;p5"/>
          <p:cNvSpPr txBox="1"/>
          <p:nvPr>
            <p:ph idx="1" type="body"/>
          </p:nvPr>
        </p:nvSpPr>
        <p:spPr>
          <a:xfrm>
            <a:off x="1422400" y="3200400"/>
            <a:ext cx="21577500" cy="9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223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None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Jun’s start date at Michigan is pushed back to January</a:t>
            </a:r>
            <a:endParaRPr sz="82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6223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None/>
            </a:pPr>
            <a:r>
              <a:t/>
            </a:r>
            <a:endParaRPr sz="82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6223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None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Bernadette is the sole instructor for the course</a:t>
            </a:r>
            <a:endParaRPr sz="82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6223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None/>
            </a:pPr>
            <a:r>
              <a:t/>
            </a:r>
            <a:endParaRPr sz="82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6223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None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Will be out of town the week of Sept 29th (office hours cancelled and lecture plan TBD)</a:t>
            </a:r>
            <a:endParaRPr sz="8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4" name="Google Shape;214;p5"/>
          <p:cNvSpPr txBox="1"/>
          <p:nvPr>
            <p:ph idx="12" type="sldNum"/>
          </p:nvPr>
        </p:nvSpPr>
        <p:spPr>
          <a:xfrm>
            <a:off x="20008748" y="12490450"/>
            <a:ext cx="412852" cy="60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fld id="{00000000-1234-1234-1234-123412341234}" type="slidenum"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a6953ca6e_0_0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Announcements</a:t>
            </a:r>
            <a:endParaRPr/>
          </a:p>
        </p:txBody>
      </p:sp>
      <p:sp>
        <p:nvSpPr>
          <p:cNvPr id="220" name="Google Shape;220;g38a6953ca6e_0_0"/>
          <p:cNvSpPr txBox="1"/>
          <p:nvPr>
            <p:ph idx="1" type="body"/>
          </p:nvPr>
        </p:nvSpPr>
        <p:spPr>
          <a:xfrm>
            <a:off x="3962400" y="3200400"/>
            <a:ext cx="16459200" cy="90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/>
              <a:t>PS2 released and due Wednesday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/>
              <a:t>First lecture quiz (they are very short) out today and due in 24 hours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Helvetica Neue"/>
              <a:buNone/>
            </a:pPr>
            <a:r>
              <a:rPr lang="en-US" sz="10000"/>
              <a:t>Today</a:t>
            </a:r>
            <a:endParaRPr/>
          </a:p>
        </p:txBody>
      </p:sp>
      <p:sp>
        <p:nvSpPr>
          <p:cNvPr id="226" name="Google Shape;226;p2"/>
          <p:cNvSpPr txBox="1"/>
          <p:nvPr>
            <p:ph idx="1" type="body"/>
          </p:nvPr>
        </p:nvSpPr>
        <p:spPr>
          <a:xfrm>
            <a:off x="1422400" y="3200400"/>
            <a:ext cx="21577437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43000" lvl="0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Char char="•"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Epipolar geometry </a:t>
            </a:r>
            <a:endParaRPr/>
          </a:p>
          <a:p>
            <a:pPr indent="-1143000" lvl="0" marL="11430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Char char="•"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Stereo matching</a:t>
            </a:r>
            <a:endParaRPr/>
          </a:p>
          <a:p>
            <a:pPr indent="-1143000" lvl="0" marL="11430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 Light"/>
              <a:buChar char="•"/>
            </a:pPr>
            <a:r>
              <a:rPr lang="en-US" sz="8200">
                <a:latin typeface="Helvetica Neue Light"/>
                <a:ea typeface="Helvetica Neue Light"/>
                <a:cs typeface="Helvetica Neue Light"/>
                <a:sym typeface="Helvetica Neue Light"/>
              </a:rPr>
              <a:t>Image alignment</a:t>
            </a:r>
            <a:endParaRPr/>
          </a:p>
        </p:txBody>
      </p:sp>
      <p:sp>
        <p:nvSpPr>
          <p:cNvPr id="227" name="Google Shape;227;p2"/>
          <p:cNvSpPr txBox="1"/>
          <p:nvPr>
            <p:ph idx="12" type="sldNum"/>
          </p:nvPr>
        </p:nvSpPr>
        <p:spPr>
          <a:xfrm>
            <a:off x="20028306" y="12490450"/>
            <a:ext cx="393295" cy="60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fld id="{00000000-1234-1234-1234-123412341234}" type="slidenum"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PS</a:t>
            </a:r>
            <a:r>
              <a:rPr b="0" lang="en-US"/>
              <a:t>3</a:t>
            </a: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: making panoramas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  <p:grpSp>
        <p:nvGrpSpPr>
          <p:cNvPr id="234" name="Google Shape;234;p4"/>
          <p:cNvGrpSpPr/>
          <p:nvPr/>
        </p:nvGrpSpPr>
        <p:grpSpPr>
          <a:xfrm>
            <a:off x="440751" y="4647715"/>
            <a:ext cx="12092688" cy="4420571"/>
            <a:chOff x="0" y="0"/>
            <a:chExt cx="12092686" cy="4420570"/>
          </a:xfrm>
        </p:grpSpPr>
        <p:pic>
          <p:nvPicPr>
            <p:cNvPr descr="seoul1.jpg" id="235" name="Google Shape;23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03638" y="0"/>
              <a:ext cx="5889048" cy="44205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eoul2.jpg" id="236" name="Google Shape;23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889048" cy="44205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seoul_panorama.png" id="237" name="Google Shape;237;p4"/>
          <p:cNvPicPr preferRelativeResize="0"/>
          <p:nvPr/>
        </p:nvPicPr>
        <p:blipFill rotWithShape="1">
          <a:blip r:embed="rId5">
            <a:alphaModFix/>
          </a:blip>
          <a:srcRect b="0" l="0" r="0" t="113"/>
          <a:stretch/>
        </p:blipFill>
        <p:spPr>
          <a:xfrm>
            <a:off x="13802377" y="3738982"/>
            <a:ext cx="10211580" cy="6720272"/>
          </a:xfrm>
          <a:custGeom>
            <a:rect b="b" l="l" r="r" t="t"/>
            <a:pathLst>
              <a:path extrusionOk="0" h="21600" w="21600">
                <a:moveTo>
                  <a:pt x="20003" y="0"/>
                </a:moveTo>
                <a:cubicBezTo>
                  <a:pt x="19830" y="14"/>
                  <a:pt x="19708" y="35"/>
                  <a:pt x="19683" y="56"/>
                </a:cubicBezTo>
                <a:cubicBezTo>
                  <a:pt x="19632" y="100"/>
                  <a:pt x="17712" y="632"/>
                  <a:pt x="15417" y="1239"/>
                </a:cubicBezTo>
                <a:lnTo>
                  <a:pt x="11245" y="2342"/>
                </a:lnTo>
                <a:lnTo>
                  <a:pt x="5622" y="2342"/>
                </a:lnTo>
                <a:lnTo>
                  <a:pt x="0" y="2342"/>
                </a:lnTo>
                <a:lnTo>
                  <a:pt x="0" y="8152"/>
                </a:lnTo>
                <a:lnTo>
                  <a:pt x="0" y="10788"/>
                </a:lnTo>
                <a:lnTo>
                  <a:pt x="0" y="11970"/>
                </a:lnTo>
                <a:lnTo>
                  <a:pt x="0" y="16329"/>
                </a:lnTo>
                <a:lnTo>
                  <a:pt x="2747" y="16329"/>
                </a:lnTo>
                <a:lnTo>
                  <a:pt x="5494" y="16329"/>
                </a:lnTo>
                <a:lnTo>
                  <a:pt x="7315" y="16925"/>
                </a:lnTo>
                <a:cubicBezTo>
                  <a:pt x="8317" y="17252"/>
                  <a:pt x="10907" y="18096"/>
                  <a:pt x="13071" y="18803"/>
                </a:cubicBezTo>
                <a:cubicBezTo>
                  <a:pt x="15234" y="19509"/>
                  <a:pt x="17978" y="20402"/>
                  <a:pt x="19168" y="20789"/>
                </a:cubicBezTo>
                <a:cubicBezTo>
                  <a:pt x="20358" y="21175"/>
                  <a:pt x="21356" y="21514"/>
                  <a:pt x="21386" y="21543"/>
                </a:cubicBezTo>
                <a:cubicBezTo>
                  <a:pt x="21415" y="21571"/>
                  <a:pt x="21475" y="21596"/>
                  <a:pt x="21519" y="21597"/>
                </a:cubicBezTo>
                <a:lnTo>
                  <a:pt x="21600" y="21600"/>
                </a:lnTo>
                <a:lnTo>
                  <a:pt x="21600" y="21313"/>
                </a:lnTo>
                <a:cubicBezTo>
                  <a:pt x="21600" y="21155"/>
                  <a:pt x="21592" y="21012"/>
                  <a:pt x="21582" y="20995"/>
                </a:cubicBezTo>
                <a:cubicBezTo>
                  <a:pt x="21571" y="20978"/>
                  <a:pt x="21552" y="20810"/>
                  <a:pt x="21538" y="20622"/>
                </a:cubicBezTo>
                <a:cubicBezTo>
                  <a:pt x="21524" y="20433"/>
                  <a:pt x="21498" y="20088"/>
                  <a:pt x="21481" y="19855"/>
                </a:cubicBezTo>
                <a:cubicBezTo>
                  <a:pt x="21464" y="19622"/>
                  <a:pt x="21445" y="19368"/>
                  <a:pt x="21439" y="19290"/>
                </a:cubicBezTo>
                <a:cubicBezTo>
                  <a:pt x="21433" y="19212"/>
                  <a:pt x="21399" y="18757"/>
                  <a:pt x="21364" y="18278"/>
                </a:cubicBezTo>
                <a:cubicBezTo>
                  <a:pt x="21329" y="17800"/>
                  <a:pt x="21285" y="17218"/>
                  <a:pt x="21267" y="16985"/>
                </a:cubicBezTo>
                <a:cubicBezTo>
                  <a:pt x="21249" y="16752"/>
                  <a:pt x="21224" y="16422"/>
                  <a:pt x="21213" y="16251"/>
                </a:cubicBezTo>
                <a:cubicBezTo>
                  <a:pt x="21201" y="16081"/>
                  <a:pt x="21183" y="15831"/>
                  <a:pt x="21171" y="15696"/>
                </a:cubicBezTo>
                <a:cubicBezTo>
                  <a:pt x="21159" y="15562"/>
                  <a:pt x="21130" y="15180"/>
                  <a:pt x="21106" y="14848"/>
                </a:cubicBezTo>
                <a:cubicBezTo>
                  <a:pt x="20997" y="13313"/>
                  <a:pt x="20966" y="12903"/>
                  <a:pt x="20879" y="11783"/>
                </a:cubicBezTo>
                <a:cubicBezTo>
                  <a:pt x="20861" y="11559"/>
                  <a:pt x="20809" y="10846"/>
                  <a:pt x="20762" y="10200"/>
                </a:cubicBezTo>
                <a:cubicBezTo>
                  <a:pt x="20680" y="9063"/>
                  <a:pt x="20648" y="8650"/>
                  <a:pt x="20579" y="7754"/>
                </a:cubicBezTo>
                <a:cubicBezTo>
                  <a:pt x="20561" y="7521"/>
                  <a:pt x="20518" y="6926"/>
                  <a:pt x="20483" y="6433"/>
                </a:cubicBezTo>
                <a:cubicBezTo>
                  <a:pt x="20447" y="5940"/>
                  <a:pt x="20409" y="5427"/>
                  <a:pt x="20398" y="5293"/>
                </a:cubicBezTo>
                <a:cubicBezTo>
                  <a:pt x="20387" y="5158"/>
                  <a:pt x="20363" y="4842"/>
                  <a:pt x="20345" y="4591"/>
                </a:cubicBezTo>
                <a:cubicBezTo>
                  <a:pt x="20266" y="3501"/>
                  <a:pt x="20203" y="2637"/>
                  <a:pt x="20173" y="2243"/>
                </a:cubicBezTo>
                <a:cubicBezTo>
                  <a:pt x="20155" y="2009"/>
                  <a:pt x="20127" y="1634"/>
                  <a:pt x="20110" y="1410"/>
                </a:cubicBezTo>
                <a:cubicBezTo>
                  <a:pt x="20093" y="1185"/>
                  <a:pt x="20062" y="771"/>
                  <a:pt x="20040" y="489"/>
                </a:cubicBezTo>
                <a:lnTo>
                  <a:pt x="20003" y="0"/>
                </a:lnTo>
                <a:close/>
              </a:path>
            </a:pathLst>
          </a:custGeom>
          <a:noFill/>
          <a:ln>
            <a:noFill/>
          </a:ln>
        </p:spPr>
      </p:pic>
      <p:cxnSp>
        <p:nvCxnSpPr>
          <p:cNvPr id="238" name="Google Shape;238;p4"/>
          <p:cNvCxnSpPr/>
          <p:nvPr/>
        </p:nvCxnSpPr>
        <p:spPr>
          <a:xfrm>
            <a:off x="12705942" y="6853057"/>
            <a:ext cx="995112" cy="4944"/>
          </a:xfrm>
          <a:prstGeom prst="straightConnector1">
            <a:avLst/>
          </a:prstGeom>
          <a:noFill/>
          <a:ln cap="flat" cmpd="sng" w="152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1689100" y="-1524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 sz="8800">
                <a:latin typeface="Helvetica Neue"/>
                <a:ea typeface="Helvetica Neue"/>
                <a:cs typeface="Helvetica Neue"/>
                <a:sym typeface="Helvetica Neue"/>
              </a:rPr>
              <a:t>Recall: camera parameters</a:t>
            </a:r>
            <a:endParaRPr/>
          </a:p>
        </p:txBody>
      </p:sp>
      <p:pic>
        <p:nvPicPr>
          <p:cNvPr descr="Picture 3"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4622800"/>
            <a:ext cx="9296400" cy="608623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 txBox="1"/>
          <p:nvPr/>
        </p:nvSpPr>
        <p:spPr>
          <a:xfrm>
            <a:off x="14417055" y="10718800"/>
            <a:ext cx="388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Open San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“The World”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3596640" y="4318000"/>
            <a:ext cx="1821677" cy="7289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Open San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Camera</a:t>
            </a:r>
            <a:endParaRPr/>
          </a:p>
        </p:txBody>
      </p:sp>
      <p:grpSp>
        <p:nvGrpSpPr>
          <p:cNvPr id="247" name="Google Shape;247;p7"/>
          <p:cNvGrpSpPr/>
          <p:nvPr/>
        </p:nvGrpSpPr>
        <p:grpSpPr>
          <a:xfrm>
            <a:off x="11081656" y="4753429"/>
            <a:ext cx="7916325" cy="7235375"/>
            <a:chOff x="0" y="0"/>
            <a:chExt cx="7916324" cy="7235372"/>
          </a:xfrm>
        </p:grpSpPr>
        <p:cxnSp>
          <p:nvCxnSpPr>
            <p:cNvPr id="248" name="Google Shape;248;p7"/>
            <p:cNvCxnSpPr/>
            <p:nvPr/>
          </p:nvCxnSpPr>
          <p:spPr>
            <a:xfrm>
              <a:off x="2940784" y="4985657"/>
              <a:ext cx="3764817" cy="217716"/>
            </a:xfrm>
            <a:prstGeom prst="straightConnector1">
              <a:avLst/>
            </a:prstGeom>
            <a:noFill/>
            <a:ln cap="flat" cmpd="sng" w="1143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9" name="Google Shape;249;p7"/>
            <p:cNvCxnSpPr/>
            <p:nvPr/>
          </p:nvCxnSpPr>
          <p:spPr>
            <a:xfrm flipH="1" rot="10800000">
              <a:off x="2919012" y="631371"/>
              <a:ext cx="128989" cy="4355929"/>
            </a:xfrm>
            <a:prstGeom prst="straightConnector1">
              <a:avLst/>
            </a:prstGeom>
            <a:noFill/>
            <a:ln cap="flat" cmpd="sng" w="12700">
              <a:solidFill>
                <a:srgbClr val="4A7EBB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0" name="Google Shape;250;p7"/>
            <p:cNvCxnSpPr/>
            <p:nvPr/>
          </p:nvCxnSpPr>
          <p:spPr>
            <a:xfrm flipH="1" rot="10800000">
              <a:off x="2895600" y="631371"/>
              <a:ext cx="128989" cy="4355929"/>
            </a:xfrm>
            <a:prstGeom prst="straightConnector1">
              <a:avLst/>
            </a:prstGeom>
            <a:noFill/>
            <a:ln cap="flat" cmpd="sng" w="1143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1" name="Google Shape;251;p7"/>
            <p:cNvCxnSpPr/>
            <p:nvPr/>
          </p:nvCxnSpPr>
          <p:spPr>
            <a:xfrm flipH="1">
              <a:off x="0" y="5007423"/>
              <a:ext cx="2895601" cy="1110348"/>
            </a:xfrm>
            <a:prstGeom prst="straightConnector1">
              <a:avLst/>
            </a:prstGeom>
            <a:noFill/>
            <a:ln cap="flat" cmpd="sng" w="1143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2" name="Google Shape;252;p7"/>
            <p:cNvCxnSpPr/>
            <p:nvPr/>
          </p:nvCxnSpPr>
          <p:spPr>
            <a:xfrm>
              <a:off x="6646323" y="4816807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53" name="Google Shape;253;p7"/>
            <p:cNvCxnSpPr/>
            <p:nvPr/>
          </p:nvCxnSpPr>
          <p:spPr>
            <a:xfrm>
              <a:off x="3122376" y="0"/>
              <a:ext cx="1270001" cy="127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54" name="Google Shape;254;p7"/>
            <p:cNvCxnSpPr/>
            <p:nvPr/>
          </p:nvCxnSpPr>
          <p:spPr>
            <a:xfrm>
              <a:off x="93124" y="5965371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pic>
        <p:nvPicPr>
          <p:cNvPr descr="Picture 3" id="255" name="Google Shape;2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6471" y="5103898"/>
            <a:ext cx="2550449" cy="18756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7"/>
          <p:cNvGrpSpPr/>
          <p:nvPr/>
        </p:nvGrpSpPr>
        <p:grpSpPr>
          <a:xfrm>
            <a:off x="4790603" y="4444038"/>
            <a:ext cx="4297857" cy="4616987"/>
            <a:chOff x="-1" y="0"/>
            <a:chExt cx="4297855" cy="4616986"/>
          </a:xfrm>
        </p:grpSpPr>
        <p:cxnSp>
          <p:nvCxnSpPr>
            <p:cNvPr id="257" name="Google Shape;257;p7"/>
            <p:cNvCxnSpPr/>
            <p:nvPr/>
          </p:nvCxnSpPr>
          <p:spPr>
            <a:xfrm flipH="1" rot="10800000">
              <a:off x="760" y="659861"/>
              <a:ext cx="2910935" cy="1159817"/>
            </a:xfrm>
            <a:prstGeom prst="straightConnector1">
              <a:avLst/>
            </a:prstGeom>
            <a:noFill/>
            <a:ln cap="flat" cmpd="sng" w="63500">
              <a:solidFill>
                <a:srgbClr val="37609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8" name="Google Shape;258;p7"/>
            <p:cNvCxnSpPr/>
            <p:nvPr/>
          </p:nvCxnSpPr>
          <p:spPr>
            <a:xfrm flipH="1">
              <a:off x="-1" y="1819677"/>
              <a:ext cx="2" cy="2020541"/>
            </a:xfrm>
            <a:prstGeom prst="straightConnector1">
              <a:avLst/>
            </a:prstGeom>
            <a:noFill/>
            <a:ln cap="flat" cmpd="sng" w="63500">
              <a:solidFill>
                <a:srgbClr val="37609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9" name="Google Shape;259;p7"/>
            <p:cNvCxnSpPr/>
            <p:nvPr/>
          </p:nvCxnSpPr>
          <p:spPr>
            <a:xfrm>
              <a:off x="756" y="1819675"/>
              <a:ext cx="3044518" cy="434932"/>
            </a:xfrm>
            <a:prstGeom prst="straightConnector1">
              <a:avLst/>
            </a:prstGeom>
            <a:noFill/>
            <a:ln cap="flat" cmpd="sng" w="63500">
              <a:solidFill>
                <a:srgbClr val="37609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0" name="Google Shape;260;p7"/>
            <p:cNvCxnSpPr/>
            <p:nvPr/>
          </p:nvCxnSpPr>
          <p:spPr>
            <a:xfrm>
              <a:off x="114853" y="3346985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61" name="Google Shape;261;p7"/>
            <p:cNvCxnSpPr/>
            <p:nvPr/>
          </p:nvCxnSpPr>
          <p:spPr>
            <a:xfrm>
              <a:off x="2424338" y="0"/>
              <a:ext cx="1270001" cy="127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62" name="Google Shape;262;p7"/>
            <p:cNvCxnSpPr/>
            <p:nvPr/>
          </p:nvCxnSpPr>
          <p:spPr>
            <a:xfrm>
              <a:off x="3027853" y="1838813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grpSp>
        <p:nvGrpSpPr>
          <p:cNvPr id="263" name="Google Shape;263;p7"/>
          <p:cNvGrpSpPr/>
          <p:nvPr/>
        </p:nvGrpSpPr>
        <p:grpSpPr>
          <a:xfrm>
            <a:off x="13760507" y="9477827"/>
            <a:ext cx="1270001" cy="1514810"/>
            <a:chOff x="0" y="0"/>
            <a:chExt cx="1270000" cy="1514808"/>
          </a:xfrm>
        </p:grpSpPr>
        <p:sp>
          <p:nvSpPr>
            <p:cNvPr id="264" name="Google Shape;264;p7"/>
            <p:cNvSpPr/>
            <p:nvPr/>
          </p:nvSpPr>
          <p:spPr>
            <a:xfrm>
              <a:off x="20804" y="0"/>
              <a:ext cx="457201" cy="457200"/>
            </a:xfrm>
            <a:prstGeom prst="ellipse">
              <a:avLst/>
            </a:prstGeom>
            <a:solidFill>
              <a:srgbClr val="FF0000"/>
            </a:solidFill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Open Sans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65" name="Google Shape;265;p7"/>
            <p:cNvCxnSpPr/>
            <p:nvPr/>
          </p:nvCxnSpPr>
          <p:spPr>
            <a:xfrm>
              <a:off x="0" y="244807"/>
              <a:ext cx="1270000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grpSp>
        <p:nvGrpSpPr>
          <p:cNvPr id="266" name="Google Shape;266;p7"/>
          <p:cNvGrpSpPr/>
          <p:nvPr/>
        </p:nvGrpSpPr>
        <p:grpSpPr>
          <a:xfrm>
            <a:off x="3538947" y="5738565"/>
            <a:ext cx="1354840" cy="792482"/>
            <a:chOff x="0" y="0"/>
            <a:chExt cx="1354839" cy="792480"/>
          </a:xfrm>
        </p:grpSpPr>
        <p:sp>
          <p:nvSpPr>
            <p:cNvPr id="267" name="Google Shape;267;p7"/>
            <p:cNvSpPr/>
            <p:nvPr/>
          </p:nvSpPr>
          <p:spPr>
            <a:xfrm>
              <a:off x="1050038" y="413656"/>
              <a:ext cx="304801" cy="304801"/>
            </a:xfrm>
            <a:prstGeom prst="ellipse">
              <a:avLst/>
            </a:prstGeom>
            <a:solidFill>
              <a:srgbClr val="00FF00"/>
            </a:solidFill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Open Sans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0" y="0"/>
              <a:ext cx="1296413" cy="792480"/>
            </a:xfrm>
            <a:prstGeom prst="rect">
              <a:avLst/>
            </a:prstGeom>
            <a:solidFill>
              <a:srgbClr val="EEECE1">
                <a:alpha val="14901"/>
              </a:srgbClr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Open Sans"/>
                <a:buNone/>
              </a:pPr>
              <a:r>
                <a:rPr b="1" i="1" lang="en-US" sz="40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COP</a:t>
              </a:r>
              <a:endParaRPr/>
            </a:p>
          </p:txBody>
        </p:sp>
      </p:grpSp>
      <p:sp>
        <p:nvSpPr>
          <p:cNvPr id="269" name="Google Shape;269;p7"/>
          <p:cNvSpPr txBox="1"/>
          <p:nvPr/>
        </p:nvSpPr>
        <p:spPr>
          <a:xfrm>
            <a:off x="1615439" y="8890000"/>
            <a:ext cx="11185037" cy="3230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Three important coordinate systems:</a:t>
            </a:r>
            <a:endParaRPr/>
          </a:p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AutoNum type="arabicPeriod"/>
            </a:pPr>
            <a:r>
              <a:rPr b="0" i="1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World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coordinates</a:t>
            </a:r>
            <a:endParaRPr b="1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AutoNum type="arabicPeriod"/>
            </a:pPr>
            <a:r>
              <a:rPr b="0" i="1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Camera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coordinates</a:t>
            </a:r>
            <a:endParaRPr b="1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AutoNum type="arabicPeriod"/>
            </a:pPr>
            <a:r>
              <a:rPr b="0" i="1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coordinates</a:t>
            </a:r>
            <a:endParaRPr/>
          </a:p>
        </p:txBody>
      </p:sp>
      <p:grpSp>
        <p:nvGrpSpPr>
          <p:cNvPr id="270" name="Google Shape;270;p7"/>
          <p:cNvGrpSpPr/>
          <p:nvPr/>
        </p:nvGrpSpPr>
        <p:grpSpPr>
          <a:xfrm>
            <a:off x="17769840" y="5080001"/>
            <a:ext cx="1660274" cy="1186210"/>
            <a:chOff x="0" y="0"/>
            <a:chExt cx="1660272" cy="1186208"/>
          </a:xfrm>
        </p:grpSpPr>
        <p:sp>
          <p:nvSpPr>
            <p:cNvPr id="271" name="Google Shape;271;p7"/>
            <p:cNvSpPr/>
            <p:nvPr/>
          </p:nvSpPr>
          <p:spPr>
            <a:xfrm>
              <a:off x="96747" y="725711"/>
              <a:ext cx="460501" cy="460497"/>
            </a:xfrm>
            <a:prstGeom prst="ellipse">
              <a:avLst/>
            </a:prstGeom>
            <a:solidFill>
              <a:srgbClr val="FFFF00"/>
            </a:solidFill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Open Sans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0" y="0"/>
              <a:ext cx="1660272" cy="728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C000"/>
                </a:buClr>
                <a:buSzPts val="3600"/>
                <a:buFont typeface="Open Sans"/>
                <a:buNone/>
              </a:pPr>
              <a:r>
                <a:rPr b="0" i="0" lang="en-US" sz="36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(x, y, z)</a:t>
              </a:r>
              <a:endParaRPr/>
            </a:p>
          </p:txBody>
        </p:sp>
      </p:grpSp>
      <p:sp>
        <p:nvSpPr>
          <p:cNvPr id="273" name="Google Shape;273;p7"/>
          <p:cNvSpPr txBox="1"/>
          <p:nvPr/>
        </p:nvSpPr>
        <p:spPr>
          <a:xfrm>
            <a:off x="1615439" y="11633200"/>
            <a:ext cx="20391121" cy="7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pen Sans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do we project a given world point (x, y, z) to an image point?</a:t>
            </a:r>
            <a:endParaRPr/>
          </a:p>
        </p:txBody>
      </p:sp>
      <p:sp>
        <p:nvSpPr>
          <p:cNvPr id="274" name="Google Shape;274;p7"/>
          <p:cNvSpPr txBox="1"/>
          <p:nvPr>
            <p:ph idx="12" type="sldNum"/>
          </p:nvPr>
        </p:nvSpPr>
        <p:spPr>
          <a:xfrm>
            <a:off x="12041022" y="12065000"/>
            <a:ext cx="289256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</a:pPr>
            <a:fld id="{00000000-1234-1234-1234-123412341234}" type="slidenum">
              <a:rPr b="0" lang="en-US" sz="2400"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20657248" y="12947010"/>
            <a:ext cx="3338704" cy="57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Open Sans"/>
              <a:buNone/>
            </a:pPr>
            <a:r>
              <a:rPr b="1" lang="en-US" sz="8800">
                <a:latin typeface="Open Sans"/>
                <a:ea typeface="Open Sans"/>
                <a:cs typeface="Open Sans"/>
                <a:sym typeface="Open Sans"/>
              </a:rPr>
              <a:t>Coordinate frames</a:t>
            </a:r>
            <a:endParaRPr/>
          </a:p>
        </p:txBody>
      </p:sp>
      <p:pic>
        <p:nvPicPr>
          <p:cNvPr descr="Picture 3" id="281" name="Google Shape;2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3068041"/>
            <a:ext cx="21031200" cy="757991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 txBox="1"/>
          <p:nvPr/>
        </p:nvSpPr>
        <p:spPr>
          <a:xfrm>
            <a:off x="3000999" y="10668000"/>
            <a:ext cx="5097682" cy="91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pen San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World coordinates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9956717" y="10668000"/>
            <a:ext cx="5684660" cy="91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pen San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Camera coordinates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17338010" y="10668000"/>
            <a:ext cx="5210791" cy="91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Open Sans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Image coordinates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18338657" y="12954000"/>
            <a:ext cx="5938486" cy="7289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Open San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Figure credit: Peter Hedman</a:t>
            </a:r>
            <a:endParaRPr/>
          </a:p>
        </p:txBody>
      </p:sp>
      <p:sp>
        <p:nvSpPr>
          <p:cNvPr id="286" name="Google Shape;286;p8"/>
          <p:cNvSpPr txBox="1"/>
          <p:nvPr>
            <p:ph idx="12" type="sldNum"/>
          </p:nvPr>
        </p:nvSpPr>
        <p:spPr>
          <a:xfrm>
            <a:off x="22765920" y="12802238"/>
            <a:ext cx="398880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20847748" y="12540610"/>
            <a:ext cx="3338704" cy="57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 txBox="1"/>
          <p:nvPr>
            <p:ph type="title"/>
          </p:nvPr>
        </p:nvSpPr>
        <p:spPr>
          <a:xfrm>
            <a:off x="3962400" y="-152400"/>
            <a:ext cx="1645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Recall: camera parameters</a:t>
            </a:r>
            <a:endParaRPr/>
          </a:p>
        </p:txBody>
      </p:sp>
      <p:sp>
        <p:nvSpPr>
          <p:cNvPr id="293" name="Google Shape;293;p9"/>
          <p:cNvSpPr txBox="1"/>
          <p:nvPr>
            <p:ph idx="12" type="sldNum"/>
          </p:nvPr>
        </p:nvSpPr>
        <p:spPr>
          <a:xfrm>
            <a:off x="22799704" y="12802238"/>
            <a:ext cx="365096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20732242" y="13042444"/>
            <a:ext cx="3442717" cy="585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  <p:grpSp>
        <p:nvGrpSpPr>
          <p:cNvPr id="295" name="Google Shape;295;p9"/>
          <p:cNvGrpSpPr/>
          <p:nvPr/>
        </p:nvGrpSpPr>
        <p:grpSpPr>
          <a:xfrm>
            <a:off x="2452416" y="5412405"/>
            <a:ext cx="19479166" cy="4498422"/>
            <a:chOff x="-1" y="196266"/>
            <a:chExt cx="19479164" cy="4498421"/>
          </a:xfrm>
        </p:grpSpPr>
        <p:pic>
          <p:nvPicPr>
            <p:cNvPr descr="Picture 171" id="296" name="Google Shape;296;p9"/>
            <p:cNvPicPr preferRelativeResize="0"/>
            <p:nvPr/>
          </p:nvPicPr>
          <p:blipFill rotWithShape="1">
            <a:blip r:embed="rId3">
              <a:alphaModFix/>
            </a:blip>
            <a:srcRect b="0" l="0" r="69328" t="0"/>
            <a:stretch/>
          </p:blipFill>
          <p:spPr>
            <a:xfrm>
              <a:off x="-1" y="196266"/>
              <a:ext cx="7713740" cy="33827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9"/>
            <p:cNvSpPr txBox="1"/>
            <p:nvPr/>
          </p:nvSpPr>
          <p:spPr>
            <a:xfrm>
              <a:off x="3577413" y="3612503"/>
              <a:ext cx="2779471" cy="108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Helvetica Neue"/>
                <a:buNone/>
              </a:pPr>
              <a:r>
                <a:rPr b="0" i="0" lang="en-US" sz="3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intrinsics</a:t>
              </a:r>
              <a:endParaRPr/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9444372" y="3612503"/>
              <a:ext cx="2432512" cy="108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Helvetica Neue"/>
                <a:buNone/>
              </a:pPr>
              <a:r>
                <a:rPr b="0" i="0" lang="en-US" sz="3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rotation</a:t>
              </a:r>
              <a:endParaRPr/>
            </a:p>
          </p:txBody>
        </p:sp>
        <p:sp>
          <p:nvSpPr>
            <p:cNvPr id="299" name="Google Shape;299;p9"/>
            <p:cNvSpPr txBox="1"/>
            <p:nvPr/>
          </p:nvSpPr>
          <p:spPr>
            <a:xfrm>
              <a:off x="15308060" y="3612503"/>
              <a:ext cx="3232813" cy="108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Helvetica Neue"/>
                <a:buNone/>
              </a:pPr>
              <a:r>
                <a:rPr b="0" i="0" lang="en-US" sz="3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translation</a:t>
              </a:r>
              <a:endParaRPr/>
            </a:p>
          </p:txBody>
        </p:sp>
        <p:pic>
          <p:nvPicPr>
            <p:cNvPr descr="Picture 171" id="300" name="Google Shape;300;p9"/>
            <p:cNvPicPr preferRelativeResize="0"/>
            <p:nvPr/>
          </p:nvPicPr>
          <p:blipFill rotWithShape="1">
            <a:blip r:embed="rId3">
              <a:alphaModFix/>
            </a:blip>
            <a:srcRect b="0" l="54059" r="0" t="0"/>
            <a:stretch/>
          </p:blipFill>
          <p:spPr>
            <a:xfrm>
              <a:off x="7925372" y="196266"/>
              <a:ext cx="11553791" cy="3382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>
            <p:ph type="title"/>
          </p:nvPr>
        </p:nvSpPr>
        <p:spPr>
          <a:xfrm>
            <a:off x="355897" y="-85724"/>
            <a:ext cx="23672206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Recall: homogeneous coordinates</a:t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472440" y="3810000"/>
            <a:ext cx="15361920" cy="889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translations: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3125331" y="7200902"/>
            <a:ext cx="5898389" cy="16129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 Light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homogeneous image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 Light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coordinates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472440" y="9931400"/>
            <a:ext cx="13533120" cy="889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back to image coordinates</a:t>
            </a:r>
            <a:endParaRPr/>
          </a:p>
        </p:txBody>
      </p:sp>
      <p:pic>
        <p:nvPicPr>
          <p:cNvPr descr="Picture 35" id="309" name="Google Shape;3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7178" y="4899023"/>
            <a:ext cx="3686174" cy="2070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9" id="310" name="Google Shape;3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11125200"/>
            <a:ext cx="5245100" cy="20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6"/>
          <p:cNvSpPr txBox="1"/>
          <p:nvPr>
            <p:ph idx="12" type="sldNum"/>
          </p:nvPr>
        </p:nvSpPr>
        <p:spPr>
          <a:xfrm>
            <a:off x="22799704" y="12802238"/>
            <a:ext cx="365096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20657248" y="12947010"/>
            <a:ext cx="3338704" cy="57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  <p:pic>
        <p:nvPicPr>
          <p:cNvPr descr="Group" id="313" name="Google Shape;31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2672" y="4465454"/>
            <a:ext cx="12432536" cy="3327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7" id="318" name="Google Shape;3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5048" y="8459179"/>
            <a:ext cx="525679" cy="32520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 txBox="1"/>
          <p:nvPr>
            <p:ph type="title"/>
          </p:nvPr>
        </p:nvSpPr>
        <p:spPr>
          <a:xfrm>
            <a:off x="1219200" y="549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Open Sans"/>
              <a:buNone/>
            </a:pPr>
            <a:r>
              <a:rPr b="1" lang="en-US" sz="8800">
                <a:latin typeface="Open Sans"/>
                <a:ea typeface="Open Sans"/>
                <a:cs typeface="Open Sans"/>
                <a:sym typeface="Open Sans"/>
              </a:rPr>
              <a:t>Projection matrix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 flipH="1" rot="-10247244">
            <a:off x="11196625" y="5866415"/>
            <a:ext cx="4114801" cy="2286001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3000" y="0"/>
                </a:lnTo>
                <a:lnTo>
                  <a:pt x="21600" y="0"/>
                </a:lnTo>
                <a:lnTo>
                  <a:pt x="18600" y="21600"/>
                </a:lnTo>
                <a:close/>
              </a:path>
            </a:pathLst>
          </a:cu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2214797" y="9099461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22" name="Google Shape;322;p10"/>
          <p:cNvCxnSpPr/>
          <p:nvPr/>
        </p:nvCxnSpPr>
        <p:spPr>
          <a:xfrm rot="10800000">
            <a:off x="11605197" y="7880261"/>
            <a:ext cx="740229" cy="137160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0"/>
          <p:cNvCxnSpPr/>
          <p:nvPr/>
        </p:nvCxnSpPr>
        <p:spPr>
          <a:xfrm flipH="1" rot="10800000">
            <a:off x="12323664" y="8446321"/>
            <a:ext cx="2764967" cy="80554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0"/>
          <p:cNvCxnSpPr/>
          <p:nvPr/>
        </p:nvCxnSpPr>
        <p:spPr>
          <a:xfrm flipH="1" rot="10800000">
            <a:off x="12367200" y="6116780"/>
            <a:ext cx="2525487" cy="313508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0"/>
          <p:cNvCxnSpPr/>
          <p:nvPr/>
        </p:nvCxnSpPr>
        <p:spPr>
          <a:xfrm rot="10800000">
            <a:off x="11452797" y="5594261"/>
            <a:ext cx="914401" cy="3657601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0"/>
          <p:cNvCxnSpPr/>
          <p:nvPr/>
        </p:nvCxnSpPr>
        <p:spPr>
          <a:xfrm>
            <a:off x="12367198" y="9251861"/>
            <a:ext cx="1066801" cy="15240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10"/>
          <p:cNvCxnSpPr/>
          <p:nvPr/>
        </p:nvCxnSpPr>
        <p:spPr>
          <a:xfrm>
            <a:off x="12365618" y="9253457"/>
            <a:ext cx="94585" cy="1109743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10"/>
          <p:cNvCxnSpPr/>
          <p:nvPr/>
        </p:nvCxnSpPr>
        <p:spPr>
          <a:xfrm flipH="1" rot="10800000">
            <a:off x="12367207" y="8137672"/>
            <a:ext cx="703827" cy="1114197"/>
          </a:xfrm>
          <a:prstGeom prst="straightConnector1">
            <a:avLst/>
          </a:prstGeom>
          <a:noFill/>
          <a:ln cap="flat" cmpd="sng" w="38100">
            <a:solidFill>
              <a:srgbClr val="3333F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icture 5" id="329" name="Google Shape;3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5836" y="9179748"/>
            <a:ext cx="472223" cy="369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330" name="Google Shape;3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49200" y="10037991"/>
            <a:ext cx="387577" cy="3252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331" name="Google Shape;33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90064" y="9300203"/>
            <a:ext cx="329663" cy="3252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0"/>
          <p:cNvGrpSpPr/>
          <p:nvPr/>
        </p:nvGrpSpPr>
        <p:grpSpPr>
          <a:xfrm>
            <a:off x="2227320" y="4848450"/>
            <a:ext cx="5943605" cy="5671742"/>
            <a:chOff x="-1" y="-1"/>
            <a:chExt cx="5943603" cy="5671740"/>
          </a:xfrm>
        </p:grpSpPr>
        <p:pic>
          <p:nvPicPr>
            <p:cNvPr descr="Picture 9" id="333" name="Google Shape;33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7201" y="3047998"/>
              <a:ext cx="654587" cy="5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334" name="Google Shape;334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18009" y="4996260"/>
              <a:ext cx="619769" cy="675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335" name="Google Shape;335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70071" y="353329"/>
              <a:ext cx="473531" cy="53620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6" name="Google Shape;336;p10"/>
            <p:cNvCxnSpPr/>
            <p:nvPr/>
          </p:nvCxnSpPr>
          <p:spPr>
            <a:xfrm>
              <a:off x="2284411" y="1214433"/>
              <a:ext cx="3659191" cy="1"/>
            </a:xfrm>
            <a:prstGeom prst="straightConnector1">
              <a:avLst/>
            </a:prstGeom>
            <a:noFill/>
            <a:ln cap="flat" cmpd="sng" w="1143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7" name="Google Shape;337;p10"/>
            <p:cNvCxnSpPr/>
            <p:nvPr/>
          </p:nvCxnSpPr>
          <p:spPr>
            <a:xfrm flipH="1">
              <a:off x="2282823" y="1219198"/>
              <a:ext cx="1" cy="4114803"/>
            </a:xfrm>
            <a:prstGeom prst="straightConnector1">
              <a:avLst/>
            </a:prstGeom>
            <a:noFill/>
            <a:ln cap="flat" cmpd="sng" w="114300">
              <a:solidFill>
                <a:srgbClr val="00FF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8" name="Google Shape;338;p10"/>
            <p:cNvCxnSpPr/>
            <p:nvPr/>
          </p:nvCxnSpPr>
          <p:spPr>
            <a:xfrm flipH="1">
              <a:off x="-1" y="1217609"/>
              <a:ext cx="2281237" cy="2135189"/>
            </a:xfrm>
            <a:prstGeom prst="straightConnector1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9" name="Google Shape;339;p10"/>
            <p:cNvSpPr/>
            <p:nvPr/>
          </p:nvSpPr>
          <p:spPr>
            <a:xfrm>
              <a:off x="2133600" y="1066797"/>
              <a:ext cx="304800" cy="3048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Open Sans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10"/>
            <p:cNvSpPr txBox="1"/>
            <p:nvPr/>
          </p:nvSpPr>
          <p:spPr>
            <a:xfrm>
              <a:off x="1552858" y="-1"/>
              <a:ext cx="647621" cy="1160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Open Sans"/>
                <a:buNone/>
              </a:pPr>
              <a:r>
                <a:rPr b="1" i="0" lang="en-US" sz="6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/>
            </a:p>
          </p:txBody>
        </p:sp>
      </p:grpSp>
      <p:cxnSp>
        <p:nvCxnSpPr>
          <p:cNvPr id="341" name="Google Shape;341;p10"/>
          <p:cNvCxnSpPr/>
          <p:nvPr/>
        </p:nvCxnSpPr>
        <p:spPr>
          <a:xfrm flipH="1">
            <a:off x="12259437" y="4267202"/>
            <a:ext cx="2523367" cy="509242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42" name="Google Shape;342;p10"/>
          <p:cNvSpPr/>
          <p:nvPr/>
        </p:nvSpPr>
        <p:spPr>
          <a:xfrm>
            <a:off x="13292148" y="6792686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3" name="Google Shape;343;p10"/>
          <p:cNvGrpSpPr/>
          <p:nvPr/>
        </p:nvGrpSpPr>
        <p:grpSpPr>
          <a:xfrm>
            <a:off x="14641977" y="3374570"/>
            <a:ext cx="3624224" cy="1033782"/>
            <a:chOff x="0" y="-1"/>
            <a:chExt cx="3624223" cy="1033781"/>
          </a:xfrm>
        </p:grpSpPr>
        <p:pic>
          <p:nvPicPr>
            <p:cNvPr descr="Picture 2" id="344" name="Google Shape;344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93344" y="291187"/>
              <a:ext cx="2130879" cy="5650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0"/>
            <p:cNvSpPr/>
            <p:nvPr/>
          </p:nvSpPr>
          <p:spPr>
            <a:xfrm>
              <a:off x="0" y="631369"/>
              <a:ext cx="304801" cy="3048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Open Sans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descr="Picture 3" id="346" name="Google Shape;346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60596" y="371478"/>
              <a:ext cx="486019" cy="5211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10"/>
            <p:cNvSpPr txBox="1"/>
            <p:nvPr/>
          </p:nvSpPr>
          <p:spPr>
            <a:xfrm>
              <a:off x="950720" y="-1"/>
              <a:ext cx="610910" cy="1033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600"/>
                <a:buFont typeface="Open Sans"/>
                <a:buNone/>
              </a:pPr>
              <a:r>
                <a:rPr b="0" i="0" lang="en-US" sz="56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=</a:t>
              </a:r>
              <a:endParaRPr/>
            </a:p>
          </p:txBody>
        </p:sp>
      </p:grpSp>
      <p:pic>
        <p:nvPicPr>
          <p:cNvPr descr="Picture 4" id="348" name="Google Shape;34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220575" y="6442983"/>
            <a:ext cx="1060141" cy="63273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 txBox="1"/>
          <p:nvPr/>
        </p:nvSpPr>
        <p:spPr>
          <a:xfrm>
            <a:off x="15635211" y="7467602"/>
            <a:ext cx="6066454" cy="614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(in homogeneous image coordinates)</a:t>
            </a:r>
            <a:endParaRPr/>
          </a:p>
        </p:txBody>
      </p:sp>
      <p:cxnSp>
        <p:nvCxnSpPr>
          <p:cNvPr id="350" name="Google Shape;350;p10"/>
          <p:cNvCxnSpPr/>
          <p:nvPr/>
        </p:nvCxnSpPr>
        <p:spPr>
          <a:xfrm rot="10800000">
            <a:off x="13715999" y="7032176"/>
            <a:ext cx="1827773" cy="743206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0"/>
          <p:cNvSpPr txBox="1"/>
          <p:nvPr>
            <p:ph idx="12" type="sldNum"/>
          </p:nvPr>
        </p:nvSpPr>
        <p:spPr>
          <a:xfrm>
            <a:off x="22799704" y="12802238"/>
            <a:ext cx="365096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20911248" y="13175610"/>
            <a:ext cx="3338704" cy="57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"/>
          <p:cNvSpPr txBox="1"/>
          <p:nvPr>
            <p:ph idx="12" type="sldNum"/>
          </p:nvPr>
        </p:nvSpPr>
        <p:spPr>
          <a:xfrm>
            <a:off x="22799704" y="12802238"/>
            <a:ext cx="365096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2713101" y="6137401"/>
            <a:ext cx="18957799" cy="144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Helvetica Neue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Estimating depth from multiple views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Vision systems</a:t>
            </a:r>
            <a:endParaRPr/>
          </a:p>
        </p:txBody>
      </p:sp>
      <p:pic>
        <p:nvPicPr>
          <p:cNvPr descr="image2.png" id="364" name="Google Shape;3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4267200"/>
            <a:ext cx="4419600" cy="491795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 txBox="1"/>
          <p:nvPr/>
        </p:nvSpPr>
        <p:spPr>
          <a:xfrm>
            <a:off x="4571998" y="3657600"/>
            <a:ext cx="271129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camera</a:t>
            </a:r>
            <a:endParaRPr/>
          </a:p>
        </p:txBody>
      </p:sp>
      <p:pic>
        <p:nvPicPr>
          <p:cNvPr descr="image3.jpg" id="366" name="Google Shape;3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0" y="4114800"/>
            <a:ext cx="4314827" cy="4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 txBox="1"/>
          <p:nvPr/>
        </p:nvSpPr>
        <p:spPr>
          <a:xfrm>
            <a:off x="10363200" y="3352800"/>
            <a:ext cx="2914224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cameras</a:t>
            </a:r>
            <a:endParaRPr/>
          </a:p>
        </p:txBody>
      </p:sp>
      <p:pic>
        <p:nvPicPr>
          <p:cNvPr descr="image4.png" id="368" name="Google Shape;368;p12"/>
          <p:cNvPicPr preferRelativeResize="0"/>
          <p:nvPr/>
        </p:nvPicPr>
        <p:blipFill rotWithShape="1">
          <a:blip r:embed="rId5">
            <a:alphaModFix/>
          </a:blip>
          <a:srcRect b="0" l="6875" r="27499" t="0"/>
          <a:stretch/>
        </p:blipFill>
        <p:spPr>
          <a:xfrm>
            <a:off x="15392400" y="3962400"/>
            <a:ext cx="5334000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2"/>
          <p:cNvSpPr txBox="1"/>
          <p:nvPr/>
        </p:nvSpPr>
        <p:spPr>
          <a:xfrm>
            <a:off x="16611600" y="3200400"/>
            <a:ext cx="2405901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cameras</a:t>
            </a:r>
            <a:endParaRPr/>
          </a:p>
        </p:txBody>
      </p:sp>
      <p:sp>
        <p:nvSpPr>
          <p:cNvPr id="370" name="Google Shape;370;p12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 txBox="1"/>
          <p:nvPr>
            <p:ph type="title"/>
          </p:nvPr>
        </p:nvSpPr>
        <p:spPr>
          <a:xfrm>
            <a:off x="3962400" y="0"/>
            <a:ext cx="1645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80"/>
              <a:buFont typeface="Helvetica Neue"/>
              <a:buNone/>
            </a:pPr>
            <a:r>
              <a:rPr lang="en-US" sz="14080">
                <a:latin typeface="Helvetica Neue"/>
                <a:ea typeface="Helvetica Neue"/>
                <a:cs typeface="Helvetica Neue"/>
                <a:sym typeface="Helvetica Neue"/>
              </a:rPr>
              <a:t>Stereo vision</a:t>
            </a:r>
            <a:endParaRPr/>
          </a:p>
        </p:txBody>
      </p:sp>
      <p:grpSp>
        <p:nvGrpSpPr>
          <p:cNvPr id="376" name="Google Shape;376;p13"/>
          <p:cNvGrpSpPr/>
          <p:nvPr/>
        </p:nvGrpSpPr>
        <p:grpSpPr>
          <a:xfrm>
            <a:off x="5118100" y="4445699"/>
            <a:ext cx="4314828" cy="4908551"/>
            <a:chOff x="0" y="0"/>
            <a:chExt cx="4314827" cy="4908550"/>
          </a:xfrm>
        </p:grpSpPr>
        <p:pic>
          <p:nvPicPr>
            <p:cNvPr descr="image3.jpg" id="377" name="Google Shape;377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4314827" cy="4908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78" name="Google Shape;378;p13"/>
            <p:cNvCxnSpPr/>
            <p:nvPr/>
          </p:nvCxnSpPr>
          <p:spPr>
            <a:xfrm>
              <a:off x="1504950" y="917574"/>
              <a:ext cx="1260475" cy="254002"/>
            </a:xfrm>
            <a:prstGeom prst="straightConnector1">
              <a:avLst/>
            </a:prstGeom>
            <a:noFill/>
            <a:ln cap="flat" cmpd="sng" w="76200">
              <a:solidFill>
                <a:srgbClr val="EFFF5B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9" name="Google Shape;379;p13"/>
            <p:cNvSpPr txBox="1"/>
            <p:nvPr/>
          </p:nvSpPr>
          <p:spPr>
            <a:xfrm>
              <a:off x="1844675" y="298450"/>
              <a:ext cx="1234456" cy="518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~6cm</a:t>
              </a:r>
              <a:endParaRPr/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12896850" y="4321875"/>
            <a:ext cx="7016750" cy="5940426"/>
            <a:chOff x="0" y="-1"/>
            <a:chExt cx="7016750" cy="5940425"/>
          </a:xfrm>
        </p:grpSpPr>
        <p:pic>
          <p:nvPicPr>
            <p:cNvPr descr="image5.png" id="381" name="Google Shape;381;p13"/>
            <p:cNvPicPr preferRelativeResize="0"/>
            <p:nvPr/>
          </p:nvPicPr>
          <p:blipFill rotWithShape="1">
            <a:blip r:embed="rId4">
              <a:alphaModFix/>
            </a:blip>
            <a:srcRect b="13922" l="0" r="0" t="0"/>
            <a:stretch/>
          </p:blipFill>
          <p:spPr>
            <a:xfrm>
              <a:off x="0" y="-1"/>
              <a:ext cx="7016750" cy="59404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82" name="Google Shape;382;p13"/>
            <p:cNvCxnSpPr/>
            <p:nvPr/>
          </p:nvCxnSpPr>
          <p:spPr>
            <a:xfrm>
              <a:off x="1882775" y="708024"/>
              <a:ext cx="3867150" cy="692149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83" name="Google Shape;383;p13"/>
            <p:cNvSpPr txBox="1"/>
            <p:nvPr/>
          </p:nvSpPr>
          <p:spPr>
            <a:xfrm>
              <a:off x="3400425" y="339724"/>
              <a:ext cx="1488729" cy="518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~50cm</a:t>
              </a:r>
              <a:endParaRPr/>
            </a:p>
          </p:txBody>
        </p:sp>
      </p:grpSp>
      <p:sp>
        <p:nvSpPr>
          <p:cNvPr id="384" name="Google Shape;384;p13"/>
          <p:cNvSpPr txBox="1"/>
          <p:nvPr>
            <p:ph idx="12" type="sldNum"/>
          </p:nvPr>
        </p:nvSpPr>
        <p:spPr>
          <a:xfrm>
            <a:off x="20028252" y="12490450"/>
            <a:ext cx="393349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5" name="Google Shape;385;p13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1 vs. 2 eyes</a:t>
            </a:r>
            <a:endParaRPr/>
          </a:p>
        </p:txBody>
      </p:sp>
      <p:sp>
        <p:nvSpPr>
          <p:cNvPr id="391" name="Google Shape;391;p14"/>
          <p:cNvSpPr txBox="1"/>
          <p:nvPr>
            <p:ph idx="12" type="sldNum"/>
          </p:nvPr>
        </p:nvSpPr>
        <p:spPr>
          <a:xfrm>
            <a:off x="20028252" y="12490450"/>
            <a:ext cx="393349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6.png" id="392" name="Google Shape;3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2438" y="3300745"/>
            <a:ext cx="9039123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3048000" y="193541"/>
            <a:ext cx="18288000" cy="1441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vs. 2 eyes</a:t>
            </a:r>
            <a:endParaRPr/>
          </a:p>
        </p:txBody>
      </p:sp>
      <p:pic>
        <p:nvPicPr>
          <p:cNvPr descr="image7.tif" id="400" name="Google Shape;4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5311"/>
            <a:ext cx="9039122" cy="6779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.png" id="401" name="Google Shape;4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6878" y="3220063"/>
            <a:ext cx="9039122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5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 txBox="1"/>
          <p:nvPr>
            <p:ph idx="12" type="sldNum"/>
          </p:nvPr>
        </p:nvSpPr>
        <p:spPr>
          <a:xfrm>
            <a:off x="19856876" y="12490450"/>
            <a:ext cx="564725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13.png" id="409" name="Google Shape;409;p16"/>
          <p:cNvPicPr preferRelativeResize="0"/>
          <p:nvPr/>
        </p:nvPicPr>
        <p:blipFill rotWithShape="1">
          <a:blip r:embed="rId3">
            <a:alphaModFix/>
          </a:blip>
          <a:srcRect b="24663" l="0" r="0" t="0"/>
          <a:stretch/>
        </p:blipFill>
        <p:spPr>
          <a:xfrm>
            <a:off x="273772" y="3667099"/>
            <a:ext cx="11820515" cy="5748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4.png" id="410" name="Google Shape;410;p16"/>
          <p:cNvPicPr preferRelativeResize="0"/>
          <p:nvPr/>
        </p:nvPicPr>
        <p:blipFill rotWithShape="1">
          <a:blip r:embed="rId4">
            <a:alphaModFix/>
          </a:blip>
          <a:srcRect b="26143" l="4852" r="7123" t="0"/>
          <a:stretch/>
        </p:blipFill>
        <p:spPr>
          <a:xfrm>
            <a:off x="12855999" y="3528945"/>
            <a:ext cx="11254228" cy="588612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6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412" name="Google Shape;412;p16"/>
          <p:cNvSpPr txBox="1"/>
          <p:nvPr/>
        </p:nvSpPr>
        <p:spPr>
          <a:xfrm>
            <a:off x="234994" y="13098857"/>
            <a:ext cx="3803296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Image source: </a:t>
            </a:r>
            <a:r>
              <a:rPr b="0" i="0" lang="en-US" sz="2800" u="sng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15431917" y="9379984"/>
            <a:ext cx="6102351" cy="84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Brewster stereoscope</a:t>
            </a:r>
            <a:endParaRPr/>
          </a:p>
        </p:txBody>
      </p:sp>
      <p:sp>
        <p:nvSpPr>
          <p:cNvPr id="414" name="Google Shape;414;p16"/>
          <p:cNvSpPr txBox="1"/>
          <p:nvPr/>
        </p:nvSpPr>
        <p:spPr>
          <a:xfrm>
            <a:off x="2996305" y="9379984"/>
            <a:ext cx="5091431" cy="845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Helvetica Neue Light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Stereoscopic card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3048000" y="193541"/>
            <a:ext cx="18288000" cy="1441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2, N eyes</a:t>
            </a:r>
            <a:endParaRPr/>
          </a:p>
        </p:txBody>
      </p:sp>
      <p:pic>
        <p:nvPicPr>
          <p:cNvPr descr="image7.tif" id="421" name="Google Shape;4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2481" y="2343902"/>
            <a:ext cx="5802190" cy="4351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.png" id="422" name="Google Shape;4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6894" y="2371095"/>
            <a:ext cx="5802189" cy="4351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tif" id="423" name="Google Shape;4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1738" y="7922049"/>
            <a:ext cx="5587513" cy="419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tif" id="424" name="Google Shape;42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09305" y="7345027"/>
            <a:ext cx="5587513" cy="419063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7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Depth without objects</a:t>
            </a:r>
            <a:endParaRPr/>
          </a:p>
        </p:txBody>
      </p:sp>
      <p:pic>
        <p:nvPicPr>
          <p:cNvPr descr="Group" id="431" name="Google Shape;431;p18"/>
          <p:cNvPicPr preferRelativeResize="0"/>
          <p:nvPr/>
        </p:nvPicPr>
        <p:blipFill rotWithShape="1">
          <a:blip r:embed="rId3">
            <a:alphaModFix/>
          </a:blip>
          <a:srcRect b="0" l="0" r="49333" t="0"/>
          <a:stretch/>
        </p:blipFill>
        <p:spPr>
          <a:xfrm>
            <a:off x="12636500" y="2667000"/>
            <a:ext cx="3929957" cy="4311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1.png" id="432" name="Google Shape;4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6350" y="2844800"/>
            <a:ext cx="7759700" cy="106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>
            <p:ph idx="12" type="sldNum"/>
          </p:nvPr>
        </p:nvSpPr>
        <p:spPr>
          <a:xfrm>
            <a:off x="17908995" y="13071577"/>
            <a:ext cx="591117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Group" id="434" name="Google Shape;434;p18"/>
          <p:cNvPicPr preferRelativeResize="0"/>
          <p:nvPr/>
        </p:nvPicPr>
        <p:blipFill rotWithShape="1">
          <a:blip r:embed="rId3">
            <a:alphaModFix/>
          </a:blip>
          <a:srcRect b="0" l="52370" r="0" t="0"/>
          <a:stretch/>
        </p:blipFill>
        <p:spPr>
          <a:xfrm>
            <a:off x="16698614" y="2667000"/>
            <a:ext cx="3694412" cy="431165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8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269557" y="13101178"/>
            <a:ext cx="2746475" cy="518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Julesz, 1971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442" name="Google Shape;442;p19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19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19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45" name="Google Shape;445;p19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6" name="Google Shape;446;p19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7" name="Google Shape;447;p19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448" name="Google Shape;448;p19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9" name="Google Shape;449;p19"/>
          <p:cNvCxnSpPr>
            <a:stCxn id="450" idx="0"/>
            <a:endCxn id="443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19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9"/>
          <p:cNvGrpSpPr/>
          <p:nvPr/>
        </p:nvGrpSpPr>
        <p:grpSpPr>
          <a:xfrm>
            <a:off x="8981440" y="8636000"/>
            <a:ext cx="731522" cy="1016002"/>
            <a:chOff x="0" y="0"/>
            <a:chExt cx="731521" cy="1016001"/>
          </a:xfrm>
        </p:grpSpPr>
        <p:sp>
          <p:nvSpPr>
            <p:cNvPr id="454" name="Google Shape;454;p19"/>
            <p:cNvSpPr/>
            <p:nvPr/>
          </p:nvSpPr>
          <p:spPr>
            <a:xfrm>
              <a:off x="447040" y="731520"/>
              <a:ext cx="284481" cy="284481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9"/>
            <p:cNvSpPr txBox="1"/>
            <p:nvPr/>
          </p:nvSpPr>
          <p:spPr>
            <a:xfrm>
              <a:off x="0" y="0"/>
              <a:ext cx="593696" cy="74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</p:grpSp>
      <p:sp>
        <p:nvSpPr>
          <p:cNvPr id="456" name="Google Shape;456;p19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457" name="Google Shape;457;p19"/>
          <p:cNvSpPr txBox="1"/>
          <p:nvPr/>
        </p:nvSpPr>
        <p:spPr>
          <a:xfrm>
            <a:off x="13585275" y="2519686"/>
            <a:ext cx="15116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Observed Point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9165699" y="11067325"/>
            <a:ext cx="13890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Center of Projection - i.e. where we are seeing the point from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19"/>
          <p:cNvSpPr txBox="1"/>
          <p:nvPr/>
        </p:nvSpPr>
        <p:spPr>
          <a:xfrm>
            <a:off x="3701154" y="9758216"/>
            <a:ext cx="15116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Focal Length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465" name="Google Shape;465;p20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20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20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68" name="Google Shape;468;p20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9" name="Google Shape;469;p20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0" name="Google Shape;470;p20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471" name="Google Shape;471;p20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2" name="Google Shape;472;p20"/>
          <p:cNvCxnSpPr>
            <a:stCxn id="473" idx="0"/>
            <a:endCxn id="466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20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76" name="Google Shape;476;p20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477" name="Google Shape;477;p20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0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"/>
          <p:cNvSpPr txBox="1"/>
          <p:nvPr/>
        </p:nvSpPr>
        <p:spPr>
          <a:xfrm>
            <a:off x="8981440" y="8636000"/>
            <a:ext cx="593696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480" name="Google Shape;480;p20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481" name="Google Shape;481;p20"/>
          <p:cNvSpPr txBox="1"/>
          <p:nvPr/>
        </p:nvSpPr>
        <p:spPr>
          <a:xfrm>
            <a:off x="14260250" y="7052523"/>
            <a:ext cx="15116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1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487" name="Google Shape;487;p21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21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21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90" name="Google Shape;490;p21"/>
          <p:cNvCxnSpPr/>
          <p:nvPr/>
        </p:nvCxnSpPr>
        <p:spPr>
          <a:xfrm>
            <a:off x="14443286" y="9517998"/>
            <a:ext cx="2440477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1"/>
          <p:cNvSpPr/>
          <p:nvPr/>
        </p:nvSpPr>
        <p:spPr>
          <a:xfrm>
            <a:off x="15563908" y="10788112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21"/>
          <p:cNvCxnSpPr/>
          <p:nvPr/>
        </p:nvCxnSpPr>
        <p:spPr>
          <a:xfrm>
            <a:off x="15663523" y="6081212"/>
            <a:ext cx="1" cy="5785675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93" name="Google Shape;493;p21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4" name="Google Shape;494;p21"/>
          <p:cNvCxnSpPr/>
          <p:nvPr/>
        </p:nvCxnSpPr>
        <p:spPr>
          <a:xfrm flipH="1">
            <a:off x="13533119" y="10891200"/>
            <a:ext cx="5059681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5" name="Google Shape;495;p21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6" name="Google Shape;496;p21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497" name="Google Shape;497;p21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8" name="Google Shape;498;p21"/>
          <p:cNvCxnSpPr>
            <a:stCxn id="499" idx="0"/>
            <a:endCxn id="488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21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02" name="Google Shape;502;p21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03" name="Google Shape;503;p21"/>
          <p:cNvSpPr txBox="1"/>
          <p:nvPr/>
        </p:nvSpPr>
        <p:spPr>
          <a:xfrm>
            <a:off x="15829280" y="977391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04" name="Google Shape;504;p21"/>
          <p:cNvCxnSpPr/>
          <p:nvPr/>
        </p:nvCxnSpPr>
        <p:spPr>
          <a:xfrm>
            <a:off x="15849599" y="9530080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05" name="Google Shape;505;p21"/>
          <p:cNvCxnSpPr>
            <a:stCxn id="499" idx="0"/>
            <a:endCxn id="491" idx="0"/>
          </p:cNvCxnSpPr>
          <p:nvPr/>
        </p:nvCxnSpPr>
        <p:spPr>
          <a:xfrm>
            <a:off x="13014960" y="2519679"/>
            <a:ext cx="2636100" cy="826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21"/>
          <p:cNvCxnSpPr/>
          <p:nvPr/>
        </p:nvCxnSpPr>
        <p:spPr>
          <a:xfrm flipH="1" rot="10800000">
            <a:off x="9022079" y="11769352"/>
            <a:ext cx="6582472" cy="3656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07" name="Google Shape;507;p21"/>
          <p:cNvSpPr txBox="1"/>
          <p:nvPr/>
        </p:nvSpPr>
        <p:spPr>
          <a:xfrm>
            <a:off x="12232640" y="11785600"/>
            <a:ext cx="47485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15646400" y="5811520"/>
            <a:ext cx="644372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09" name="Google Shape;509;p21"/>
          <p:cNvSpPr txBox="1"/>
          <p:nvPr/>
        </p:nvSpPr>
        <p:spPr>
          <a:xfrm>
            <a:off x="13268960" y="10871200"/>
            <a:ext cx="670045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510" name="Google Shape;510;p21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21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1"/>
          <p:cNvSpPr txBox="1"/>
          <p:nvPr/>
        </p:nvSpPr>
        <p:spPr>
          <a:xfrm>
            <a:off x="8981440" y="8636000"/>
            <a:ext cx="593696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grpSp>
        <p:nvGrpSpPr>
          <p:cNvPr id="513" name="Google Shape;513;p21"/>
          <p:cNvGrpSpPr/>
          <p:nvPr/>
        </p:nvGrpSpPr>
        <p:grpSpPr>
          <a:xfrm>
            <a:off x="15016480" y="8676640"/>
            <a:ext cx="644299" cy="975361"/>
            <a:chOff x="0" y="0"/>
            <a:chExt cx="644297" cy="975360"/>
          </a:xfrm>
        </p:grpSpPr>
        <p:sp>
          <p:nvSpPr>
            <p:cNvPr id="514" name="Google Shape;514;p21"/>
            <p:cNvSpPr/>
            <p:nvPr/>
          </p:nvSpPr>
          <p:spPr>
            <a:xfrm>
              <a:off x="20319" y="690879"/>
              <a:ext cx="284481" cy="284481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1"/>
            <p:cNvSpPr txBox="1"/>
            <p:nvPr/>
          </p:nvSpPr>
          <p:spPr>
            <a:xfrm>
              <a:off x="0" y="0"/>
              <a:ext cx="644297" cy="74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516" name="Google Shape;516;p21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2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522" name="Google Shape;522;p22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22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22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25" name="Google Shape;525;p22"/>
          <p:cNvCxnSpPr/>
          <p:nvPr/>
        </p:nvCxnSpPr>
        <p:spPr>
          <a:xfrm>
            <a:off x="14443286" y="9517998"/>
            <a:ext cx="2440477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22"/>
          <p:cNvSpPr/>
          <p:nvPr/>
        </p:nvSpPr>
        <p:spPr>
          <a:xfrm>
            <a:off x="15563908" y="10788112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22"/>
          <p:cNvCxnSpPr/>
          <p:nvPr/>
        </p:nvCxnSpPr>
        <p:spPr>
          <a:xfrm>
            <a:off x="15663523" y="6081212"/>
            <a:ext cx="1" cy="5785675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28" name="Google Shape;528;p22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9" name="Google Shape;529;p22"/>
          <p:cNvCxnSpPr/>
          <p:nvPr/>
        </p:nvCxnSpPr>
        <p:spPr>
          <a:xfrm flipH="1">
            <a:off x="13533119" y="10891200"/>
            <a:ext cx="5059681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0" name="Google Shape;530;p22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1" name="Google Shape;531;p22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32" name="Google Shape;532;p22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33" name="Google Shape;533;p22"/>
          <p:cNvCxnSpPr>
            <a:stCxn id="534" idx="0"/>
            <a:endCxn id="523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2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7" name="Google Shape;537;p22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8" name="Google Shape;538;p22"/>
          <p:cNvSpPr txBox="1"/>
          <p:nvPr/>
        </p:nvSpPr>
        <p:spPr>
          <a:xfrm>
            <a:off x="15829280" y="977391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39" name="Google Shape;539;p22"/>
          <p:cNvCxnSpPr/>
          <p:nvPr/>
        </p:nvCxnSpPr>
        <p:spPr>
          <a:xfrm>
            <a:off x="15849599" y="9530080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40" name="Google Shape;540;p22"/>
          <p:cNvCxnSpPr>
            <a:stCxn id="534" idx="0"/>
            <a:endCxn id="526" idx="0"/>
          </p:cNvCxnSpPr>
          <p:nvPr/>
        </p:nvCxnSpPr>
        <p:spPr>
          <a:xfrm>
            <a:off x="13014960" y="2519679"/>
            <a:ext cx="2636100" cy="826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22"/>
          <p:cNvSpPr/>
          <p:nvPr/>
        </p:nvSpPr>
        <p:spPr>
          <a:xfrm>
            <a:off x="15036800" y="9367519"/>
            <a:ext cx="284480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2"/>
          <p:cNvCxnSpPr/>
          <p:nvPr/>
        </p:nvCxnSpPr>
        <p:spPr>
          <a:xfrm flipH="1" rot="10800000">
            <a:off x="9022079" y="11769352"/>
            <a:ext cx="6582472" cy="3656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43" name="Google Shape;543;p22"/>
          <p:cNvSpPr txBox="1"/>
          <p:nvPr/>
        </p:nvSpPr>
        <p:spPr>
          <a:xfrm>
            <a:off x="12232640" y="11785600"/>
            <a:ext cx="47485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544" name="Google Shape;544;p22"/>
          <p:cNvSpPr txBox="1"/>
          <p:nvPr/>
        </p:nvSpPr>
        <p:spPr>
          <a:xfrm>
            <a:off x="15646400" y="5811520"/>
            <a:ext cx="644372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45" name="Google Shape;545;p22"/>
          <p:cNvSpPr txBox="1"/>
          <p:nvPr/>
        </p:nvSpPr>
        <p:spPr>
          <a:xfrm>
            <a:off x="13268960" y="10871200"/>
            <a:ext cx="670045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546" name="Google Shape;546;p22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22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2"/>
          <p:cNvSpPr txBox="1"/>
          <p:nvPr/>
        </p:nvSpPr>
        <p:spPr>
          <a:xfrm>
            <a:off x="8981440" y="8636000"/>
            <a:ext cx="593696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49" name="Google Shape;549;p22"/>
          <p:cNvSpPr txBox="1"/>
          <p:nvPr/>
        </p:nvSpPr>
        <p:spPr>
          <a:xfrm>
            <a:off x="15016480" y="8676640"/>
            <a:ext cx="644298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50" name="Google Shape;550;p22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551" name="Google Shape;551;p22"/>
          <p:cNvSpPr txBox="1"/>
          <p:nvPr/>
        </p:nvSpPr>
        <p:spPr>
          <a:xfrm>
            <a:off x="3048000" y="5862320"/>
            <a:ext cx="18288000" cy="1991361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we estimate Z?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557" name="Google Shape;557;p23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23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23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60" name="Google Shape;560;p23"/>
          <p:cNvCxnSpPr/>
          <p:nvPr/>
        </p:nvCxnSpPr>
        <p:spPr>
          <a:xfrm>
            <a:off x="14443286" y="9517998"/>
            <a:ext cx="2440477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23"/>
          <p:cNvSpPr/>
          <p:nvPr/>
        </p:nvSpPr>
        <p:spPr>
          <a:xfrm>
            <a:off x="15563908" y="10788112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23"/>
          <p:cNvCxnSpPr/>
          <p:nvPr/>
        </p:nvCxnSpPr>
        <p:spPr>
          <a:xfrm>
            <a:off x="15663523" y="6081212"/>
            <a:ext cx="1" cy="5785675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63" name="Google Shape;563;p23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4" name="Google Shape;564;p23"/>
          <p:cNvCxnSpPr/>
          <p:nvPr/>
        </p:nvCxnSpPr>
        <p:spPr>
          <a:xfrm flipH="1">
            <a:off x="13533119" y="10891200"/>
            <a:ext cx="5059681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5" name="Google Shape;565;p23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6" name="Google Shape;566;p23"/>
          <p:cNvSpPr txBox="1"/>
          <p:nvPr/>
        </p:nvSpPr>
        <p:spPr>
          <a:xfrm>
            <a:off x="8249919" y="9845039"/>
            <a:ext cx="407041" cy="8987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67" name="Google Shape;567;p23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68" name="Google Shape;568;p23"/>
          <p:cNvCxnSpPr>
            <a:stCxn id="569" idx="0"/>
            <a:endCxn id="558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23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72" name="Google Shape;572;p23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73" name="Google Shape;573;p23"/>
          <p:cNvSpPr txBox="1"/>
          <p:nvPr/>
        </p:nvSpPr>
        <p:spPr>
          <a:xfrm>
            <a:off x="15829280" y="9845039"/>
            <a:ext cx="407041" cy="8987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574" name="Google Shape;574;p23"/>
          <p:cNvCxnSpPr/>
          <p:nvPr/>
        </p:nvCxnSpPr>
        <p:spPr>
          <a:xfrm>
            <a:off x="15849599" y="9530080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75" name="Google Shape;575;p23"/>
          <p:cNvCxnSpPr>
            <a:stCxn id="569" idx="0"/>
            <a:endCxn id="561" idx="0"/>
          </p:cNvCxnSpPr>
          <p:nvPr/>
        </p:nvCxnSpPr>
        <p:spPr>
          <a:xfrm>
            <a:off x="13014960" y="2519679"/>
            <a:ext cx="2636100" cy="826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23"/>
          <p:cNvSpPr/>
          <p:nvPr/>
        </p:nvSpPr>
        <p:spPr>
          <a:xfrm>
            <a:off x="15036800" y="9367519"/>
            <a:ext cx="284480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23"/>
          <p:cNvCxnSpPr/>
          <p:nvPr/>
        </p:nvCxnSpPr>
        <p:spPr>
          <a:xfrm flipH="1" rot="10800000">
            <a:off x="9022079" y="11769352"/>
            <a:ext cx="6582472" cy="3656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78" name="Google Shape;578;p23"/>
          <p:cNvSpPr txBox="1"/>
          <p:nvPr/>
        </p:nvSpPr>
        <p:spPr>
          <a:xfrm>
            <a:off x="12232640" y="11785600"/>
            <a:ext cx="583464" cy="8987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579" name="Google Shape;579;p23"/>
          <p:cNvSpPr txBox="1"/>
          <p:nvPr/>
        </p:nvSpPr>
        <p:spPr>
          <a:xfrm>
            <a:off x="15646400" y="5811520"/>
            <a:ext cx="644372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80" name="Google Shape;580;p23"/>
          <p:cNvSpPr txBox="1"/>
          <p:nvPr/>
        </p:nvSpPr>
        <p:spPr>
          <a:xfrm>
            <a:off x="13268960" y="10871200"/>
            <a:ext cx="670045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581" name="Google Shape;581;p23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23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3"/>
          <p:cNvSpPr txBox="1"/>
          <p:nvPr/>
        </p:nvSpPr>
        <p:spPr>
          <a:xfrm>
            <a:off x="8981440" y="8636000"/>
            <a:ext cx="636037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84" name="Google Shape;584;p23"/>
          <p:cNvSpPr txBox="1"/>
          <p:nvPr/>
        </p:nvSpPr>
        <p:spPr>
          <a:xfrm>
            <a:off x="15016480" y="8676640"/>
            <a:ext cx="669970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85" name="Google Shape;585;p23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4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591" name="Google Shape;591;p24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24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24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94" name="Google Shape;594;p24"/>
          <p:cNvCxnSpPr/>
          <p:nvPr/>
        </p:nvCxnSpPr>
        <p:spPr>
          <a:xfrm>
            <a:off x="14443286" y="9517998"/>
            <a:ext cx="2440477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24"/>
          <p:cNvSpPr/>
          <p:nvPr/>
        </p:nvSpPr>
        <p:spPr>
          <a:xfrm>
            <a:off x="15563908" y="10788112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6" name="Google Shape;596;p24"/>
          <p:cNvCxnSpPr/>
          <p:nvPr/>
        </p:nvCxnSpPr>
        <p:spPr>
          <a:xfrm>
            <a:off x="15663523" y="6081212"/>
            <a:ext cx="1" cy="5785675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97" name="Google Shape;597;p24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8" name="Google Shape;598;p24"/>
          <p:cNvCxnSpPr/>
          <p:nvPr/>
        </p:nvCxnSpPr>
        <p:spPr>
          <a:xfrm flipH="1">
            <a:off x="13533119" y="10891200"/>
            <a:ext cx="5059681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9" name="Google Shape;599;p2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0" name="Google Shape;600;p24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601" name="Google Shape;601;p24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2" name="Google Shape;602;p24"/>
          <p:cNvCxnSpPr>
            <a:stCxn id="603" idx="0"/>
            <a:endCxn id="592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24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06" name="Google Shape;606;p24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07" name="Google Shape;607;p24"/>
          <p:cNvSpPr txBox="1"/>
          <p:nvPr/>
        </p:nvSpPr>
        <p:spPr>
          <a:xfrm>
            <a:off x="15829280" y="977391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608" name="Google Shape;608;p24"/>
          <p:cNvCxnSpPr/>
          <p:nvPr/>
        </p:nvCxnSpPr>
        <p:spPr>
          <a:xfrm>
            <a:off x="15849599" y="9530080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09" name="Google Shape;609;p24"/>
          <p:cNvCxnSpPr>
            <a:stCxn id="603" idx="0"/>
            <a:endCxn id="595" idx="0"/>
          </p:cNvCxnSpPr>
          <p:nvPr/>
        </p:nvCxnSpPr>
        <p:spPr>
          <a:xfrm>
            <a:off x="13014960" y="2519679"/>
            <a:ext cx="2636100" cy="826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24"/>
          <p:cNvSpPr/>
          <p:nvPr/>
        </p:nvSpPr>
        <p:spPr>
          <a:xfrm>
            <a:off x="15036800" y="9367519"/>
            <a:ext cx="284480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24"/>
          <p:cNvCxnSpPr/>
          <p:nvPr/>
        </p:nvCxnSpPr>
        <p:spPr>
          <a:xfrm flipH="1" rot="10800000">
            <a:off x="9022079" y="11769352"/>
            <a:ext cx="6582472" cy="3656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12" name="Google Shape;612;p24"/>
          <p:cNvSpPr txBox="1"/>
          <p:nvPr/>
        </p:nvSpPr>
        <p:spPr>
          <a:xfrm>
            <a:off x="12232640" y="11785600"/>
            <a:ext cx="47485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613" name="Google Shape;613;p24"/>
          <p:cNvSpPr txBox="1"/>
          <p:nvPr/>
        </p:nvSpPr>
        <p:spPr>
          <a:xfrm>
            <a:off x="15646400" y="5811520"/>
            <a:ext cx="644372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13268960" y="10871200"/>
            <a:ext cx="670045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615" name="Google Shape;615;p24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24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603" name="Google Shape;603;p24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4"/>
          <p:cNvSpPr txBox="1"/>
          <p:nvPr/>
        </p:nvSpPr>
        <p:spPr>
          <a:xfrm>
            <a:off x="8981440" y="8636000"/>
            <a:ext cx="593696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" name="Google Shape;618;p24"/>
          <p:cNvSpPr txBox="1"/>
          <p:nvPr/>
        </p:nvSpPr>
        <p:spPr>
          <a:xfrm>
            <a:off x="15016480" y="8676640"/>
            <a:ext cx="644298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9570719" y="2540000"/>
            <a:ext cx="5648961" cy="7010400"/>
          </a:xfrm>
          <a:custGeom>
            <a:rect b="b" l="l" r="r" t="t"/>
            <a:pathLst>
              <a:path extrusionOk="0" h="21600" w="21600">
                <a:moveTo>
                  <a:pt x="0" y="21412"/>
                </a:moveTo>
                <a:lnTo>
                  <a:pt x="13286" y="0"/>
                </a:lnTo>
                <a:lnTo>
                  <a:pt x="21600" y="21600"/>
                </a:lnTo>
                <a:lnTo>
                  <a:pt x="0" y="21412"/>
                </a:lnTo>
                <a:close/>
              </a:path>
            </a:pathLst>
          </a:cu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4"/>
          <p:cNvSpPr txBox="1"/>
          <p:nvPr/>
        </p:nvSpPr>
        <p:spPr>
          <a:xfrm>
            <a:off x="10607040" y="12659359"/>
            <a:ext cx="344777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triangles</a:t>
            </a:r>
            <a:endParaRPr/>
          </a:p>
        </p:txBody>
      </p:sp>
      <p:sp>
        <p:nvSpPr>
          <p:cNvPr id="621" name="Google Shape;621;p24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5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cxnSp>
        <p:nvCxnSpPr>
          <p:cNvPr id="627" name="Google Shape;627;p25"/>
          <p:cNvCxnSpPr/>
          <p:nvPr/>
        </p:nvCxnSpPr>
        <p:spPr>
          <a:xfrm>
            <a:off x="7704481" y="9516632"/>
            <a:ext cx="2440478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8" name="Google Shape;628;p25"/>
          <p:cNvSpPr/>
          <p:nvPr/>
        </p:nvSpPr>
        <p:spPr>
          <a:xfrm>
            <a:off x="8825106" y="10786746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5"/>
          <p:cNvCxnSpPr/>
          <p:nvPr/>
        </p:nvCxnSpPr>
        <p:spPr>
          <a:xfrm flipH="1">
            <a:off x="8924719" y="6079845"/>
            <a:ext cx="1" cy="5746401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30" name="Google Shape;630;p25"/>
          <p:cNvCxnSpPr/>
          <p:nvPr/>
        </p:nvCxnSpPr>
        <p:spPr>
          <a:xfrm>
            <a:off x="14443286" y="9517998"/>
            <a:ext cx="2440477" cy="3177"/>
          </a:xfrm>
          <a:prstGeom prst="straightConnector1">
            <a:avLst/>
          </a:prstGeom>
          <a:solidFill>
            <a:srgbClr val="4F81BD"/>
          </a:solidFill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25"/>
          <p:cNvSpPr/>
          <p:nvPr/>
        </p:nvSpPr>
        <p:spPr>
          <a:xfrm>
            <a:off x="15563908" y="10788112"/>
            <a:ext cx="174321" cy="17432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2" name="Google Shape;632;p25"/>
          <p:cNvCxnSpPr/>
          <p:nvPr/>
        </p:nvCxnSpPr>
        <p:spPr>
          <a:xfrm>
            <a:off x="15663523" y="6081212"/>
            <a:ext cx="1" cy="5785675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33" name="Google Shape;633;p25"/>
          <p:cNvCxnSpPr/>
          <p:nvPr/>
        </p:nvCxnSpPr>
        <p:spPr>
          <a:xfrm rot="10800000">
            <a:off x="6685281" y="10885126"/>
            <a:ext cx="8696960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4" name="Google Shape;634;p25"/>
          <p:cNvCxnSpPr/>
          <p:nvPr/>
        </p:nvCxnSpPr>
        <p:spPr>
          <a:xfrm flipH="1">
            <a:off x="13533119" y="10891200"/>
            <a:ext cx="5059681" cy="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5" name="Google Shape;635;p25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6" name="Google Shape;636;p25"/>
          <p:cNvSpPr txBox="1"/>
          <p:nvPr/>
        </p:nvSpPr>
        <p:spPr>
          <a:xfrm>
            <a:off x="8249919" y="991615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637" name="Google Shape;637;p25"/>
          <p:cNvCxnSpPr/>
          <p:nvPr/>
        </p:nvCxnSpPr>
        <p:spPr>
          <a:xfrm>
            <a:off x="8757920" y="9550399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38" name="Google Shape;638;p25"/>
          <p:cNvCxnSpPr>
            <a:stCxn id="639" idx="0"/>
            <a:endCxn id="628" idx="0"/>
          </p:cNvCxnSpPr>
          <p:nvPr/>
        </p:nvCxnSpPr>
        <p:spPr>
          <a:xfrm flipH="1">
            <a:off x="8912161" y="2519679"/>
            <a:ext cx="4102800" cy="8267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25"/>
          <p:cNvSpPr/>
          <p:nvPr/>
        </p:nvSpPr>
        <p:spPr>
          <a:xfrm>
            <a:off x="9428480" y="9367519"/>
            <a:ext cx="284481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5"/>
          <p:cNvSpPr txBox="1"/>
          <p:nvPr/>
        </p:nvSpPr>
        <p:spPr>
          <a:xfrm>
            <a:off x="8168640" y="5669279"/>
            <a:ext cx="644372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42" name="Google Shape;642;p25"/>
          <p:cNvSpPr txBox="1"/>
          <p:nvPr/>
        </p:nvSpPr>
        <p:spPr>
          <a:xfrm>
            <a:off x="6156959" y="10830559"/>
            <a:ext cx="670045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43" name="Google Shape;643;p25"/>
          <p:cNvSpPr txBox="1"/>
          <p:nvPr/>
        </p:nvSpPr>
        <p:spPr>
          <a:xfrm>
            <a:off x="15829280" y="9773919"/>
            <a:ext cx="322606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644" name="Google Shape;644;p25"/>
          <p:cNvCxnSpPr/>
          <p:nvPr/>
        </p:nvCxnSpPr>
        <p:spPr>
          <a:xfrm>
            <a:off x="15849599" y="9530080"/>
            <a:ext cx="1" cy="134112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45" name="Google Shape;645;p25"/>
          <p:cNvCxnSpPr>
            <a:stCxn id="639" idx="0"/>
            <a:endCxn id="631" idx="0"/>
          </p:cNvCxnSpPr>
          <p:nvPr/>
        </p:nvCxnSpPr>
        <p:spPr>
          <a:xfrm>
            <a:off x="13014960" y="2519679"/>
            <a:ext cx="2636100" cy="8268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6" name="Google Shape;646;p25"/>
          <p:cNvSpPr/>
          <p:nvPr/>
        </p:nvSpPr>
        <p:spPr>
          <a:xfrm>
            <a:off x="15036800" y="9367519"/>
            <a:ext cx="284480" cy="28448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25"/>
          <p:cNvCxnSpPr/>
          <p:nvPr/>
        </p:nvCxnSpPr>
        <p:spPr>
          <a:xfrm flipH="1" rot="10800000">
            <a:off x="9022079" y="11769352"/>
            <a:ext cx="6582472" cy="3656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48" name="Google Shape;648;p25"/>
          <p:cNvSpPr txBox="1"/>
          <p:nvPr/>
        </p:nvSpPr>
        <p:spPr>
          <a:xfrm>
            <a:off x="12232640" y="11785600"/>
            <a:ext cx="47485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649" name="Google Shape;649;p25"/>
          <p:cNvSpPr txBox="1"/>
          <p:nvPr/>
        </p:nvSpPr>
        <p:spPr>
          <a:xfrm>
            <a:off x="15646400" y="5811520"/>
            <a:ext cx="644372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50" name="Google Shape;650;p25"/>
          <p:cNvSpPr txBox="1"/>
          <p:nvPr/>
        </p:nvSpPr>
        <p:spPr>
          <a:xfrm>
            <a:off x="13268960" y="10871200"/>
            <a:ext cx="670045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651" name="Google Shape;651;p25"/>
          <p:cNvCxnSpPr/>
          <p:nvPr/>
        </p:nvCxnSpPr>
        <p:spPr>
          <a:xfrm>
            <a:off x="12994639" y="2722879"/>
            <a:ext cx="36253" cy="8168642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25"/>
          <p:cNvSpPr txBox="1"/>
          <p:nvPr/>
        </p:nvSpPr>
        <p:spPr>
          <a:xfrm>
            <a:off x="12984480" y="7152640"/>
            <a:ext cx="72913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Z?</a:t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12801600" y="2519679"/>
            <a:ext cx="426721" cy="42672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5"/>
          <p:cNvSpPr txBox="1"/>
          <p:nvPr/>
        </p:nvSpPr>
        <p:spPr>
          <a:xfrm>
            <a:off x="8981440" y="8636000"/>
            <a:ext cx="593696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54" name="Google Shape;654;p25"/>
          <p:cNvSpPr txBox="1"/>
          <p:nvPr/>
        </p:nvSpPr>
        <p:spPr>
          <a:xfrm>
            <a:off x="15016480" y="8676640"/>
            <a:ext cx="644298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655" name="Google Shape;655;p25"/>
          <p:cNvSpPr/>
          <p:nvPr/>
        </p:nvSpPr>
        <p:spPr>
          <a:xfrm>
            <a:off x="8920480" y="2540000"/>
            <a:ext cx="6705601" cy="8392160"/>
          </a:xfrm>
          <a:custGeom>
            <a:rect b="b" l="l" r="r" t="t"/>
            <a:pathLst>
              <a:path extrusionOk="0" h="21600" w="21600">
                <a:moveTo>
                  <a:pt x="0" y="21412"/>
                </a:moveTo>
                <a:lnTo>
                  <a:pt x="13286" y="0"/>
                </a:lnTo>
                <a:lnTo>
                  <a:pt x="21600" y="21600"/>
                </a:lnTo>
                <a:lnTo>
                  <a:pt x="0" y="21412"/>
                </a:lnTo>
                <a:close/>
              </a:path>
            </a:pathLst>
          </a:cu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10607040" y="12659359"/>
            <a:ext cx="344777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triangles</a:t>
            </a:r>
            <a:endParaRPr/>
          </a:p>
        </p:txBody>
      </p:sp>
      <p:sp>
        <p:nvSpPr>
          <p:cNvPr id="657" name="Google Shape;657;p25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6"/>
          <p:cNvSpPr/>
          <p:nvPr/>
        </p:nvSpPr>
        <p:spPr>
          <a:xfrm>
            <a:off x="5648959" y="2519679"/>
            <a:ext cx="5364481" cy="6604001"/>
          </a:xfrm>
          <a:custGeom>
            <a:rect b="b" l="l" r="r" t="t"/>
            <a:pathLst>
              <a:path extrusionOk="0" h="21600" w="21600">
                <a:moveTo>
                  <a:pt x="0" y="21412"/>
                </a:moveTo>
                <a:lnTo>
                  <a:pt x="13286" y="0"/>
                </a:lnTo>
                <a:lnTo>
                  <a:pt x="21600" y="21600"/>
                </a:lnTo>
                <a:lnTo>
                  <a:pt x="0" y="21412"/>
                </a:lnTo>
                <a:close/>
              </a:path>
            </a:pathLst>
          </a:cu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sp>
        <p:nvSpPr>
          <p:cNvPr id="664" name="Google Shape;664;p26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665" name="Google Shape;665;p26"/>
          <p:cNvGrpSpPr/>
          <p:nvPr/>
        </p:nvGrpSpPr>
        <p:grpSpPr>
          <a:xfrm>
            <a:off x="3495040" y="2479040"/>
            <a:ext cx="9855201" cy="8044415"/>
            <a:chOff x="0" y="0"/>
            <a:chExt cx="9855200" cy="8044414"/>
          </a:xfrm>
        </p:grpSpPr>
        <p:cxnSp>
          <p:nvCxnSpPr>
            <p:cNvPr id="666" name="Google Shape;666;p26"/>
            <p:cNvCxnSpPr/>
            <p:nvPr/>
          </p:nvCxnSpPr>
          <p:spPr>
            <a:xfrm>
              <a:off x="1226385" y="5544970"/>
              <a:ext cx="1934037" cy="2517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7" name="Google Shape;667;p26"/>
            <p:cNvSpPr/>
            <p:nvPr/>
          </p:nvSpPr>
          <p:spPr>
            <a:xfrm>
              <a:off x="2114462" y="6551515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8" name="Google Shape;668;p26"/>
            <p:cNvCxnSpPr/>
            <p:nvPr/>
          </p:nvCxnSpPr>
          <p:spPr>
            <a:xfrm flipH="1">
              <a:off x="2193404" y="2821373"/>
              <a:ext cx="1" cy="45539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69" name="Google Shape;669;p26"/>
            <p:cNvCxnSpPr/>
            <p:nvPr/>
          </p:nvCxnSpPr>
          <p:spPr>
            <a:xfrm>
              <a:off x="6566777" y="5546053"/>
              <a:ext cx="1934037" cy="2516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0" name="Google Shape;670;p26"/>
            <p:cNvSpPr/>
            <p:nvPr/>
          </p:nvSpPr>
          <p:spPr>
            <a:xfrm>
              <a:off x="7454854" y="6552597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" name="Google Shape;671;p26"/>
            <p:cNvCxnSpPr/>
            <p:nvPr/>
          </p:nvCxnSpPr>
          <p:spPr>
            <a:xfrm flipH="1">
              <a:off x="7533796" y="2822456"/>
              <a:ext cx="1" cy="458505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72" name="Google Shape;672;p26"/>
            <p:cNvCxnSpPr/>
            <p:nvPr/>
          </p:nvCxnSpPr>
          <p:spPr>
            <a:xfrm rot="10800000">
              <a:off x="418687" y="6629479"/>
              <a:ext cx="6892197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73" name="Google Shape;673;p26"/>
            <p:cNvCxnSpPr/>
            <p:nvPr/>
          </p:nvCxnSpPr>
          <p:spPr>
            <a:xfrm flipH="1">
              <a:off x="5845487" y="6634293"/>
              <a:ext cx="4009713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74" name="Google Shape;674;p26"/>
            <p:cNvSpPr txBox="1"/>
            <p:nvPr/>
          </p:nvSpPr>
          <p:spPr>
            <a:xfrm>
              <a:off x="1658636" y="5861589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675" name="Google Shape;675;p26"/>
            <p:cNvCxnSpPr/>
            <p:nvPr/>
          </p:nvCxnSpPr>
          <p:spPr>
            <a:xfrm flipH="1">
              <a:off x="2061218" y="5571731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76" name="Google Shape;676;p26"/>
            <p:cNvCxnSpPr/>
            <p:nvPr/>
          </p:nvCxnSpPr>
          <p:spPr>
            <a:xfrm flipH="1">
              <a:off x="2183536" y="288644"/>
              <a:ext cx="3131757" cy="6262872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7" name="Google Shape;677;p26"/>
            <p:cNvSpPr/>
            <p:nvPr/>
          </p:nvSpPr>
          <p:spPr>
            <a:xfrm>
              <a:off x="2592626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6"/>
            <p:cNvSpPr txBox="1"/>
            <p:nvPr/>
          </p:nvSpPr>
          <p:spPr>
            <a:xfrm>
              <a:off x="1594223" y="2496006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9" name="Google Shape;679;p26"/>
            <p:cNvSpPr txBox="1"/>
            <p:nvPr/>
          </p:nvSpPr>
          <p:spPr>
            <a:xfrm>
              <a:off x="0" y="6586236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80" name="Google Shape;680;p26"/>
            <p:cNvSpPr txBox="1"/>
            <p:nvPr/>
          </p:nvSpPr>
          <p:spPr>
            <a:xfrm>
              <a:off x="7665155" y="5748866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681" name="Google Shape;681;p26"/>
            <p:cNvCxnSpPr/>
            <p:nvPr/>
          </p:nvCxnSpPr>
          <p:spPr>
            <a:xfrm>
              <a:off x="7681258" y="5555628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82" name="Google Shape;682;p26"/>
            <p:cNvCxnSpPr/>
            <p:nvPr/>
          </p:nvCxnSpPr>
          <p:spPr>
            <a:xfrm>
              <a:off x="5554412" y="288644"/>
              <a:ext cx="1920672" cy="6284184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3" name="Google Shape;683;p26"/>
            <p:cNvSpPr/>
            <p:nvPr/>
          </p:nvSpPr>
          <p:spPr>
            <a:xfrm>
              <a:off x="7037127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4" name="Google Shape;684;p26"/>
            <p:cNvCxnSpPr/>
            <p:nvPr/>
          </p:nvCxnSpPr>
          <p:spPr>
            <a:xfrm flipH="1" rot="10800000">
              <a:off x="2270560" y="7330216"/>
              <a:ext cx="5216501" cy="28979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85" name="Google Shape;685;p26"/>
            <p:cNvSpPr txBox="1"/>
            <p:nvPr/>
          </p:nvSpPr>
          <p:spPr>
            <a:xfrm>
              <a:off x="4814877" y="7343090"/>
              <a:ext cx="474857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686" name="Google Shape;686;p26"/>
            <p:cNvSpPr txBox="1"/>
            <p:nvPr/>
          </p:nvSpPr>
          <p:spPr>
            <a:xfrm>
              <a:off x="7520226" y="2608729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87" name="Google Shape;687;p26"/>
            <p:cNvSpPr txBox="1"/>
            <p:nvPr/>
          </p:nvSpPr>
          <p:spPr>
            <a:xfrm>
              <a:off x="5636143" y="6618443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688" name="Google Shape;688;p26"/>
            <p:cNvCxnSpPr/>
            <p:nvPr/>
          </p:nvCxnSpPr>
          <p:spPr>
            <a:xfrm>
              <a:off x="5418748" y="161032"/>
              <a:ext cx="28730" cy="64735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9" name="Google Shape;689;p26"/>
            <p:cNvSpPr txBox="1"/>
            <p:nvPr/>
          </p:nvSpPr>
          <p:spPr>
            <a:xfrm>
              <a:off x="5410698" y="3671545"/>
              <a:ext cx="729129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Z?</a:t>
              </a: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5265768" y="0"/>
              <a:ext cx="338169" cy="338168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6"/>
            <p:cNvSpPr txBox="1"/>
            <p:nvPr/>
          </p:nvSpPr>
          <p:spPr>
            <a:xfrm>
              <a:off x="2177393" y="4704844"/>
              <a:ext cx="593696" cy="74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692" name="Google Shape;692;p26"/>
            <p:cNvSpPr txBox="1"/>
            <p:nvPr/>
          </p:nvSpPr>
          <p:spPr>
            <a:xfrm>
              <a:off x="6919423" y="4676089"/>
              <a:ext cx="644298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693" name="Google Shape;693;p26"/>
          <p:cNvSpPr txBox="1"/>
          <p:nvPr/>
        </p:nvSpPr>
        <p:spPr>
          <a:xfrm>
            <a:off x="13045439" y="5425440"/>
            <a:ext cx="3574798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triangles:</a:t>
            </a:r>
            <a:endParaRPr/>
          </a:p>
        </p:txBody>
      </p:sp>
      <p:sp>
        <p:nvSpPr>
          <p:cNvPr id="694" name="Google Shape;694;p26"/>
          <p:cNvSpPr txBox="1"/>
          <p:nvPr/>
        </p:nvSpPr>
        <p:spPr>
          <a:xfrm>
            <a:off x="16946880" y="6360159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695" name="Google Shape;695;p26"/>
          <p:cNvSpPr txBox="1"/>
          <p:nvPr/>
        </p:nvSpPr>
        <p:spPr>
          <a:xfrm>
            <a:off x="16967200" y="7193280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cxnSp>
        <p:nvCxnSpPr>
          <p:cNvPr id="696" name="Google Shape;696;p26"/>
          <p:cNvCxnSpPr/>
          <p:nvPr/>
        </p:nvCxnSpPr>
        <p:spPr>
          <a:xfrm>
            <a:off x="16926560" y="7172959"/>
            <a:ext cx="69088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26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7"/>
          <p:cNvSpPr/>
          <p:nvPr/>
        </p:nvSpPr>
        <p:spPr>
          <a:xfrm>
            <a:off x="6197600" y="2580639"/>
            <a:ext cx="4450081" cy="5425442"/>
          </a:xfrm>
          <a:custGeom>
            <a:rect b="b" l="l" r="r" t="t"/>
            <a:pathLst>
              <a:path extrusionOk="0" h="21600" w="21600">
                <a:moveTo>
                  <a:pt x="0" y="21412"/>
                </a:moveTo>
                <a:lnTo>
                  <a:pt x="13286" y="0"/>
                </a:lnTo>
                <a:lnTo>
                  <a:pt x="21600" y="21600"/>
                </a:lnTo>
                <a:lnTo>
                  <a:pt x="0" y="21412"/>
                </a:lnTo>
                <a:close/>
              </a:path>
            </a:pathLst>
          </a:custGeom>
          <a:solidFill>
            <a:srgbClr val="00B05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7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sp>
        <p:nvSpPr>
          <p:cNvPr id="704" name="Google Shape;704;p27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705" name="Google Shape;705;p27"/>
          <p:cNvGrpSpPr/>
          <p:nvPr/>
        </p:nvGrpSpPr>
        <p:grpSpPr>
          <a:xfrm>
            <a:off x="3495040" y="2479040"/>
            <a:ext cx="9855201" cy="8044415"/>
            <a:chOff x="0" y="0"/>
            <a:chExt cx="9855200" cy="8044414"/>
          </a:xfrm>
        </p:grpSpPr>
        <p:cxnSp>
          <p:nvCxnSpPr>
            <p:cNvPr id="706" name="Google Shape;706;p27"/>
            <p:cNvCxnSpPr/>
            <p:nvPr/>
          </p:nvCxnSpPr>
          <p:spPr>
            <a:xfrm>
              <a:off x="1226385" y="5544970"/>
              <a:ext cx="1934037" cy="2517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7" name="Google Shape;707;p27"/>
            <p:cNvSpPr/>
            <p:nvPr/>
          </p:nvSpPr>
          <p:spPr>
            <a:xfrm>
              <a:off x="2114462" y="6551515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8" name="Google Shape;708;p27"/>
            <p:cNvCxnSpPr/>
            <p:nvPr/>
          </p:nvCxnSpPr>
          <p:spPr>
            <a:xfrm flipH="1">
              <a:off x="2193404" y="2821373"/>
              <a:ext cx="1" cy="45539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09" name="Google Shape;709;p27"/>
            <p:cNvCxnSpPr/>
            <p:nvPr/>
          </p:nvCxnSpPr>
          <p:spPr>
            <a:xfrm>
              <a:off x="6566777" y="5546053"/>
              <a:ext cx="1934037" cy="2516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0" name="Google Shape;710;p27"/>
            <p:cNvSpPr/>
            <p:nvPr/>
          </p:nvSpPr>
          <p:spPr>
            <a:xfrm>
              <a:off x="7454854" y="6552597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1" name="Google Shape;711;p27"/>
            <p:cNvCxnSpPr/>
            <p:nvPr/>
          </p:nvCxnSpPr>
          <p:spPr>
            <a:xfrm flipH="1">
              <a:off x="7533796" y="2822456"/>
              <a:ext cx="1" cy="458505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12" name="Google Shape;712;p27"/>
            <p:cNvCxnSpPr/>
            <p:nvPr/>
          </p:nvCxnSpPr>
          <p:spPr>
            <a:xfrm rot="10800000">
              <a:off x="418687" y="6629479"/>
              <a:ext cx="6892197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13" name="Google Shape;713;p27"/>
            <p:cNvCxnSpPr/>
            <p:nvPr/>
          </p:nvCxnSpPr>
          <p:spPr>
            <a:xfrm flipH="1">
              <a:off x="5845487" y="6634293"/>
              <a:ext cx="4009713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14" name="Google Shape;714;p27"/>
            <p:cNvSpPr txBox="1"/>
            <p:nvPr/>
          </p:nvSpPr>
          <p:spPr>
            <a:xfrm>
              <a:off x="1658636" y="5861589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715" name="Google Shape;715;p27"/>
            <p:cNvCxnSpPr/>
            <p:nvPr/>
          </p:nvCxnSpPr>
          <p:spPr>
            <a:xfrm flipH="1">
              <a:off x="2061218" y="5571731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16" name="Google Shape;716;p27"/>
            <p:cNvCxnSpPr/>
            <p:nvPr/>
          </p:nvCxnSpPr>
          <p:spPr>
            <a:xfrm flipH="1">
              <a:off x="2183536" y="288644"/>
              <a:ext cx="3131757" cy="6262872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7" name="Google Shape;717;p27"/>
            <p:cNvSpPr/>
            <p:nvPr/>
          </p:nvSpPr>
          <p:spPr>
            <a:xfrm>
              <a:off x="2592626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7"/>
            <p:cNvSpPr txBox="1"/>
            <p:nvPr/>
          </p:nvSpPr>
          <p:spPr>
            <a:xfrm>
              <a:off x="1594223" y="2496006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19" name="Google Shape;719;p27"/>
            <p:cNvSpPr txBox="1"/>
            <p:nvPr/>
          </p:nvSpPr>
          <p:spPr>
            <a:xfrm>
              <a:off x="0" y="6586236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20" name="Google Shape;720;p27"/>
            <p:cNvSpPr txBox="1"/>
            <p:nvPr/>
          </p:nvSpPr>
          <p:spPr>
            <a:xfrm>
              <a:off x="7665155" y="5748866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721" name="Google Shape;721;p27"/>
            <p:cNvCxnSpPr/>
            <p:nvPr/>
          </p:nvCxnSpPr>
          <p:spPr>
            <a:xfrm>
              <a:off x="7681258" y="5555628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22" name="Google Shape;722;p27"/>
            <p:cNvCxnSpPr/>
            <p:nvPr/>
          </p:nvCxnSpPr>
          <p:spPr>
            <a:xfrm>
              <a:off x="5554412" y="288644"/>
              <a:ext cx="1920672" cy="6284184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3" name="Google Shape;723;p27"/>
            <p:cNvSpPr/>
            <p:nvPr/>
          </p:nvSpPr>
          <p:spPr>
            <a:xfrm>
              <a:off x="7037127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4" name="Google Shape;724;p27"/>
            <p:cNvCxnSpPr/>
            <p:nvPr/>
          </p:nvCxnSpPr>
          <p:spPr>
            <a:xfrm flipH="1" rot="10800000">
              <a:off x="2270560" y="7330216"/>
              <a:ext cx="5216501" cy="28979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25" name="Google Shape;725;p27"/>
            <p:cNvSpPr txBox="1"/>
            <p:nvPr/>
          </p:nvSpPr>
          <p:spPr>
            <a:xfrm>
              <a:off x="4814877" y="7343090"/>
              <a:ext cx="474857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726" name="Google Shape;726;p27"/>
            <p:cNvSpPr txBox="1"/>
            <p:nvPr/>
          </p:nvSpPr>
          <p:spPr>
            <a:xfrm>
              <a:off x="7520226" y="2608729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27" name="Google Shape;727;p27"/>
            <p:cNvSpPr txBox="1"/>
            <p:nvPr/>
          </p:nvSpPr>
          <p:spPr>
            <a:xfrm>
              <a:off x="5636143" y="6618443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728" name="Google Shape;728;p27"/>
            <p:cNvCxnSpPr/>
            <p:nvPr/>
          </p:nvCxnSpPr>
          <p:spPr>
            <a:xfrm>
              <a:off x="5418748" y="161032"/>
              <a:ext cx="28730" cy="64735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9" name="Google Shape;729;p27"/>
            <p:cNvSpPr txBox="1"/>
            <p:nvPr/>
          </p:nvSpPr>
          <p:spPr>
            <a:xfrm>
              <a:off x="5410698" y="3671545"/>
              <a:ext cx="729129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Z?</a:t>
              </a: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5265768" y="0"/>
              <a:ext cx="338169" cy="338168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7"/>
            <p:cNvSpPr txBox="1"/>
            <p:nvPr/>
          </p:nvSpPr>
          <p:spPr>
            <a:xfrm>
              <a:off x="2177393" y="4704844"/>
              <a:ext cx="593696" cy="74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732" name="Google Shape;732;p27"/>
            <p:cNvSpPr txBox="1"/>
            <p:nvPr/>
          </p:nvSpPr>
          <p:spPr>
            <a:xfrm>
              <a:off x="6919423" y="4676089"/>
              <a:ext cx="644298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733" name="Google Shape;733;p27"/>
          <p:cNvSpPr txBox="1"/>
          <p:nvPr/>
        </p:nvSpPr>
        <p:spPr>
          <a:xfrm>
            <a:off x="13878560" y="6360159"/>
            <a:ext cx="2082308" cy="7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T+X</a:t>
            </a:r>
            <a:r>
              <a:rPr b="0" baseline="-2500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-X</a:t>
            </a:r>
            <a:r>
              <a:rPr b="0" baseline="-2500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734" name="Google Shape;734;p27"/>
          <p:cNvSpPr txBox="1"/>
          <p:nvPr/>
        </p:nvSpPr>
        <p:spPr>
          <a:xfrm>
            <a:off x="14488160" y="7193280"/>
            <a:ext cx="816194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Z-f</a:t>
            </a:r>
            <a:endParaRPr/>
          </a:p>
        </p:txBody>
      </p:sp>
      <p:cxnSp>
        <p:nvCxnSpPr>
          <p:cNvPr id="735" name="Google Shape;735;p27"/>
          <p:cNvCxnSpPr/>
          <p:nvPr/>
        </p:nvCxnSpPr>
        <p:spPr>
          <a:xfrm>
            <a:off x="13858239" y="7172959"/>
            <a:ext cx="229616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27"/>
          <p:cNvSpPr txBox="1"/>
          <p:nvPr/>
        </p:nvSpPr>
        <p:spPr>
          <a:xfrm>
            <a:off x="16256000" y="6827519"/>
            <a:ext cx="46257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737" name="Google Shape;737;p27"/>
          <p:cNvSpPr txBox="1"/>
          <p:nvPr/>
        </p:nvSpPr>
        <p:spPr>
          <a:xfrm>
            <a:off x="13045439" y="5425440"/>
            <a:ext cx="3574798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triangles:</a:t>
            </a:r>
            <a:endParaRPr/>
          </a:p>
        </p:txBody>
      </p:sp>
      <p:sp>
        <p:nvSpPr>
          <p:cNvPr id="738" name="Google Shape;738;p27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739" name="Google Shape;739;p27"/>
          <p:cNvSpPr txBox="1"/>
          <p:nvPr/>
        </p:nvSpPr>
        <p:spPr>
          <a:xfrm>
            <a:off x="16946880" y="6360159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740" name="Google Shape;740;p27"/>
          <p:cNvSpPr txBox="1"/>
          <p:nvPr/>
        </p:nvSpPr>
        <p:spPr>
          <a:xfrm>
            <a:off x="16967200" y="7193280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cxnSp>
        <p:nvCxnSpPr>
          <p:cNvPr id="741" name="Google Shape;741;p27"/>
          <p:cNvCxnSpPr/>
          <p:nvPr/>
        </p:nvCxnSpPr>
        <p:spPr>
          <a:xfrm>
            <a:off x="16926560" y="7172959"/>
            <a:ext cx="69088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8"/>
          <p:cNvSpPr/>
          <p:nvPr/>
        </p:nvSpPr>
        <p:spPr>
          <a:xfrm>
            <a:off x="5648959" y="2519679"/>
            <a:ext cx="5364481" cy="6604001"/>
          </a:xfrm>
          <a:custGeom>
            <a:rect b="b" l="l" r="r" t="t"/>
            <a:pathLst>
              <a:path extrusionOk="0" h="21600" w="21600">
                <a:moveTo>
                  <a:pt x="0" y="21412"/>
                </a:moveTo>
                <a:lnTo>
                  <a:pt x="13286" y="0"/>
                </a:lnTo>
                <a:lnTo>
                  <a:pt x="21600" y="21600"/>
                </a:lnTo>
                <a:lnTo>
                  <a:pt x="0" y="21412"/>
                </a:lnTo>
                <a:close/>
              </a:path>
            </a:pathLst>
          </a:cu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8"/>
          <p:cNvSpPr txBox="1"/>
          <p:nvPr>
            <p:ph type="title"/>
          </p:nvPr>
        </p:nvSpPr>
        <p:spPr>
          <a:xfrm>
            <a:off x="3048000" y="1"/>
            <a:ext cx="18288000" cy="1991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Geometry for a simple stereo system</a:t>
            </a:r>
            <a:endParaRPr/>
          </a:p>
        </p:txBody>
      </p:sp>
      <p:sp>
        <p:nvSpPr>
          <p:cNvPr id="748" name="Google Shape;748;p28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749" name="Google Shape;749;p28"/>
          <p:cNvGrpSpPr/>
          <p:nvPr/>
        </p:nvGrpSpPr>
        <p:grpSpPr>
          <a:xfrm>
            <a:off x="3495040" y="2479040"/>
            <a:ext cx="9855201" cy="8044415"/>
            <a:chOff x="0" y="0"/>
            <a:chExt cx="9855200" cy="8044414"/>
          </a:xfrm>
        </p:grpSpPr>
        <p:cxnSp>
          <p:nvCxnSpPr>
            <p:cNvPr id="750" name="Google Shape;750;p28"/>
            <p:cNvCxnSpPr/>
            <p:nvPr/>
          </p:nvCxnSpPr>
          <p:spPr>
            <a:xfrm>
              <a:off x="1226385" y="5544970"/>
              <a:ext cx="1934037" cy="2517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1" name="Google Shape;751;p28"/>
            <p:cNvSpPr/>
            <p:nvPr/>
          </p:nvSpPr>
          <p:spPr>
            <a:xfrm>
              <a:off x="2114462" y="6551515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2" name="Google Shape;752;p28"/>
            <p:cNvCxnSpPr/>
            <p:nvPr/>
          </p:nvCxnSpPr>
          <p:spPr>
            <a:xfrm flipH="1">
              <a:off x="2193404" y="2821373"/>
              <a:ext cx="1" cy="45539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53" name="Google Shape;753;p28"/>
            <p:cNvCxnSpPr/>
            <p:nvPr/>
          </p:nvCxnSpPr>
          <p:spPr>
            <a:xfrm>
              <a:off x="6566777" y="5546053"/>
              <a:ext cx="1934037" cy="2516"/>
            </a:xfrm>
            <a:prstGeom prst="straightConnector1">
              <a:avLst/>
            </a:prstGeom>
            <a:solidFill>
              <a:srgbClr val="4F81BD"/>
            </a:solidFill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4" name="Google Shape;754;p28"/>
            <p:cNvSpPr/>
            <p:nvPr/>
          </p:nvSpPr>
          <p:spPr>
            <a:xfrm>
              <a:off x="7454854" y="6552597"/>
              <a:ext cx="138145" cy="138145"/>
            </a:xfrm>
            <a:prstGeom prst="ellipse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5" name="Google Shape;755;p28"/>
            <p:cNvCxnSpPr/>
            <p:nvPr/>
          </p:nvCxnSpPr>
          <p:spPr>
            <a:xfrm flipH="1">
              <a:off x="7533796" y="2822456"/>
              <a:ext cx="1" cy="458505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56" name="Google Shape;756;p28"/>
            <p:cNvCxnSpPr/>
            <p:nvPr/>
          </p:nvCxnSpPr>
          <p:spPr>
            <a:xfrm rot="10800000">
              <a:off x="418687" y="6629479"/>
              <a:ext cx="6892197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57" name="Google Shape;757;p28"/>
            <p:cNvCxnSpPr/>
            <p:nvPr/>
          </p:nvCxnSpPr>
          <p:spPr>
            <a:xfrm flipH="1">
              <a:off x="5845487" y="6634293"/>
              <a:ext cx="4009713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58" name="Google Shape;758;p28"/>
            <p:cNvSpPr txBox="1"/>
            <p:nvPr/>
          </p:nvSpPr>
          <p:spPr>
            <a:xfrm>
              <a:off x="1658636" y="5861589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759" name="Google Shape;759;p28"/>
            <p:cNvCxnSpPr/>
            <p:nvPr/>
          </p:nvCxnSpPr>
          <p:spPr>
            <a:xfrm flipH="1">
              <a:off x="2061218" y="5571731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0" name="Google Shape;760;p28"/>
            <p:cNvCxnSpPr/>
            <p:nvPr/>
          </p:nvCxnSpPr>
          <p:spPr>
            <a:xfrm flipH="1">
              <a:off x="2183536" y="288644"/>
              <a:ext cx="3131757" cy="6262872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28"/>
            <p:cNvSpPr/>
            <p:nvPr/>
          </p:nvSpPr>
          <p:spPr>
            <a:xfrm>
              <a:off x="2592626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8"/>
            <p:cNvSpPr txBox="1"/>
            <p:nvPr/>
          </p:nvSpPr>
          <p:spPr>
            <a:xfrm>
              <a:off x="1594223" y="2496006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63" name="Google Shape;763;p28"/>
            <p:cNvSpPr txBox="1"/>
            <p:nvPr/>
          </p:nvSpPr>
          <p:spPr>
            <a:xfrm>
              <a:off x="0" y="6586236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64" name="Google Shape;764;p28"/>
            <p:cNvSpPr txBox="1"/>
            <p:nvPr/>
          </p:nvSpPr>
          <p:spPr>
            <a:xfrm>
              <a:off x="7665155" y="5748866"/>
              <a:ext cx="322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765" name="Google Shape;765;p28"/>
            <p:cNvCxnSpPr/>
            <p:nvPr/>
          </p:nvCxnSpPr>
          <p:spPr>
            <a:xfrm>
              <a:off x="7681258" y="5555628"/>
              <a:ext cx="1" cy="10628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6" name="Google Shape;766;p28"/>
            <p:cNvCxnSpPr/>
            <p:nvPr/>
          </p:nvCxnSpPr>
          <p:spPr>
            <a:xfrm>
              <a:off x="5554412" y="288644"/>
              <a:ext cx="1920672" cy="6284184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28"/>
            <p:cNvSpPr/>
            <p:nvPr/>
          </p:nvSpPr>
          <p:spPr>
            <a:xfrm>
              <a:off x="7037127" y="5426801"/>
              <a:ext cx="225445" cy="225445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" name="Google Shape;768;p28"/>
            <p:cNvCxnSpPr/>
            <p:nvPr/>
          </p:nvCxnSpPr>
          <p:spPr>
            <a:xfrm flipH="1" rot="10800000">
              <a:off x="2270560" y="7330216"/>
              <a:ext cx="5216501" cy="28979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B0F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69" name="Google Shape;769;p28"/>
            <p:cNvSpPr txBox="1"/>
            <p:nvPr/>
          </p:nvSpPr>
          <p:spPr>
            <a:xfrm>
              <a:off x="4814877" y="7343090"/>
              <a:ext cx="474857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770" name="Google Shape;770;p28"/>
            <p:cNvSpPr txBox="1"/>
            <p:nvPr/>
          </p:nvSpPr>
          <p:spPr>
            <a:xfrm>
              <a:off x="7520226" y="2608729"/>
              <a:ext cx="644372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771" name="Google Shape;771;p28"/>
            <p:cNvSpPr txBox="1"/>
            <p:nvPr/>
          </p:nvSpPr>
          <p:spPr>
            <a:xfrm>
              <a:off x="5636143" y="6618443"/>
              <a:ext cx="670045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cxnSp>
          <p:nvCxnSpPr>
            <p:cNvPr id="772" name="Google Shape;772;p28"/>
            <p:cNvCxnSpPr/>
            <p:nvPr/>
          </p:nvCxnSpPr>
          <p:spPr>
            <a:xfrm>
              <a:off x="5418748" y="161032"/>
              <a:ext cx="28730" cy="6473515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3" name="Google Shape;773;p28"/>
            <p:cNvSpPr txBox="1"/>
            <p:nvPr/>
          </p:nvSpPr>
          <p:spPr>
            <a:xfrm>
              <a:off x="5410698" y="3671545"/>
              <a:ext cx="729129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Z?</a:t>
              </a: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5265768" y="0"/>
              <a:ext cx="338169" cy="338168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8"/>
            <p:cNvSpPr txBox="1"/>
            <p:nvPr/>
          </p:nvSpPr>
          <p:spPr>
            <a:xfrm>
              <a:off x="2177393" y="4704844"/>
              <a:ext cx="593696" cy="744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776" name="Google Shape;776;p28"/>
            <p:cNvSpPr txBox="1"/>
            <p:nvPr/>
          </p:nvSpPr>
          <p:spPr>
            <a:xfrm>
              <a:off x="6919423" y="4676089"/>
              <a:ext cx="644298" cy="744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-2500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</p:txBody>
        </p:sp>
      </p:grpSp>
      <p:sp>
        <p:nvSpPr>
          <p:cNvPr id="777" name="Google Shape;777;p28"/>
          <p:cNvSpPr txBox="1"/>
          <p:nvPr/>
        </p:nvSpPr>
        <p:spPr>
          <a:xfrm>
            <a:off x="13878560" y="6360159"/>
            <a:ext cx="2082308" cy="7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T+X</a:t>
            </a:r>
            <a:r>
              <a:rPr b="0" baseline="-2500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-X</a:t>
            </a:r>
            <a:r>
              <a:rPr b="0" baseline="-2500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778" name="Google Shape;778;p28"/>
          <p:cNvSpPr txBox="1"/>
          <p:nvPr/>
        </p:nvSpPr>
        <p:spPr>
          <a:xfrm>
            <a:off x="14488160" y="7193280"/>
            <a:ext cx="816194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Z-f</a:t>
            </a:r>
            <a:endParaRPr/>
          </a:p>
        </p:txBody>
      </p:sp>
      <p:cxnSp>
        <p:nvCxnSpPr>
          <p:cNvPr id="779" name="Google Shape;779;p28"/>
          <p:cNvCxnSpPr/>
          <p:nvPr/>
        </p:nvCxnSpPr>
        <p:spPr>
          <a:xfrm>
            <a:off x="13858239" y="7172959"/>
            <a:ext cx="229616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28"/>
          <p:cNvSpPr txBox="1"/>
          <p:nvPr/>
        </p:nvSpPr>
        <p:spPr>
          <a:xfrm>
            <a:off x="16256000" y="6827519"/>
            <a:ext cx="46257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781" name="Google Shape;781;p28"/>
          <p:cNvSpPr txBox="1"/>
          <p:nvPr/>
        </p:nvSpPr>
        <p:spPr>
          <a:xfrm>
            <a:off x="13045439" y="5425440"/>
            <a:ext cx="3574798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triangles:</a:t>
            </a:r>
            <a:endParaRPr/>
          </a:p>
        </p:txBody>
      </p:sp>
      <p:sp>
        <p:nvSpPr>
          <p:cNvPr id="782" name="Google Shape;782;p28"/>
          <p:cNvSpPr txBox="1"/>
          <p:nvPr/>
        </p:nvSpPr>
        <p:spPr>
          <a:xfrm>
            <a:off x="16946880" y="6360159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783" name="Google Shape;783;p28"/>
          <p:cNvSpPr txBox="1"/>
          <p:nvPr/>
        </p:nvSpPr>
        <p:spPr>
          <a:xfrm>
            <a:off x="16967200" y="7193280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cxnSp>
        <p:nvCxnSpPr>
          <p:cNvPr id="784" name="Google Shape;784;p28"/>
          <p:cNvCxnSpPr/>
          <p:nvPr/>
        </p:nvCxnSpPr>
        <p:spPr>
          <a:xfrm>
            <a:off x="16926560" y="7172959"/>
            <a:ext cx="69088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5" name="Google Shape;785;p28"/>
          <p:cNvSpPr txBox="1"/>
          <p:nvPr/>
        </p:nvSpPr>
        <p:spPr>
          <a:xfrm>
            <a:off x="13065760" y="9530080"/>
            <a:ext cx="288899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Solving for Z:</a:t>
            </a:r>
            <a:endParaRPr/>
          </a:p>
        </p:txBody>
      </p:sp>
      <p:sp>
        <p:nvSpPr>
          <p:cNvPr id="786" name="Google Shape;786;p28"/>
          <p:cNvSpPr txBox="1"/>
          <p:nvPr/>
        </p:nvSpPr>
        <p:spPr>
          <a:xfrm>
            <a:off x="14122400" y="10850880"/>
            <a:ext cx="12499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= f </a:t>
            </a:r>
            <a:endParaRPr/>
          </a:p>
        </p:txBody>
      </p:sp>
      <p:cxnSp>
        <p:nvCxnSpPr>
          <p:cNvPr id="787" name="Google Shape;787;p28"/>
          <p:cNvCxnSpPr/>
          <p:nvPr/>
        </p:nvCxnSpPr>
        <p:spPr>
          <a:xfrm>
            <a:off x="15483839" y="11196319"/>
            <a:ext cx="1950721" cy="1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28"/>
          <p:cNvSpPr txBox="1"/>
          <p:nvPr/>
        </p:nvSpPr>
        <p:spPr>
          <a:xfrm>
            <a:off x="16154400" y="10424159"/>
            <a:ext cx="505887" cy="737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789" name="Google Shape;789;p28"/>
          <p:cNvSpPr txBox="1"/>
          <p:nvPr/>
        </p:nvSpPr>
        <p:spPr>
          <a:xfrm>
            <a:off x="15673927" y="11162268"/>
            <a:ext cx="155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3600"/>
              <a:t>L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X</a:t>
            </a:r>
            <a:r>
              <a:rPr baseline="-25000" lang="en-US" sz="3600"/>
              <a:t>R</a:t>
            </a:r>
            <a:endParaRPr/>
          </a:p>
        </p:txBody>
      </p:sp>
      <p:grpSp>
        <p:nvGrpSpPr>
          <p:cNvPr id="790" name="Google Shape;790;p28"/>
          <p:cNvGrpSpPr/>
          <p:nvPr/>
        </p:nvGrpSpPr>
        <p:grpSpPr>
          <a:xfrm>
            <a:off x="17305387" y="9658560"/>
            <a:ext cx="2227494" cy="1910009"/>
            <a:chOff x="0" y="0"/>
            <a:chExt cx="2227493" cy="1910008"/>
          </a:xfrm>
        </p:grpSpPr>
        <p:cxnSp>
          <p:nvCxnSpPr>
            <p:cNvPr id="791" name="Google Shape;791;p28"/>
            <p:cNvCxnSpPr/>
            <p:nvPr/>
          </p:nvCxnSpPr>
          <p:spPr>
            <a:xfrm>
              <a:off x="957492" y="0"/>
              <a:ext cx="1270001" cy="127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2" name="Google Shape;792;p28"/>
            <p:cNvCxnSpPr/>
            <p:nvPr/>
          </p:nvCxnSpPr>
          <p:spPr>
            <a:xfrm flipH="1">
              <a:off x="0" y="803371"/>
              <a:ext cx="1856284" cy="1106637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med" w="med" type="triangle"/>
            </a:ln>
          </p:spPr>
        </p:cxnSp>
      </p:grpSp>
      <p:sp>
        <p:nvSpPr>
          <p:cNvPr id="793" name="Google Shape;793;p28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794" name="Google Shape;794;p28"/>
          <p:cNvSpPr txBox="1"/>
          <p:nvPr/>
        </p:nvSpPr>
        <p:spPr>
          <a:xfrm>
            <a:off x="19282136" y="9790068"/>
            <a:ext cx="5428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Disparity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9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In 3D</a:t>
            </a:r>
            <a:endParaRPr/>
          </a:p>
        </p:txBody>
      </p:sp>
      <p:sp>
        <p:nvSpPr>
          <p:cNvPr id="800" name="Google Shape;800;p29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01" name="Google Shape;801;p29"/>
          <p:cNvSpPr/>
          <p:nvPr/>
        </p:nvSpPr>
        <p:spPr>
          <a:xfrm>
            <a:off x="8702316" y="11012264"/>
            <a:ext cx="219449" cy="219453"/>
          </a:xfrm>
          <a:prstGeom prst="ellipse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18.png" id="802" name="Google Shape;8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3903" y="6347836"/>
            <a:ext cx="5145349" cy="3567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9.png" id="803" name="Google Shape;8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01420" y="6347836"/>
            <a:ext cx="5164025" cy="3567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29"/>
          <p:cNvGrpSpPr/>
          <p:nvPr/>
        </p:nvGrpSpPr>
        <p:grpSpPr>
          <a:xfrm>
            <a:off x="8893746" y="3677260"/>
            <a:ext cx="5453512" cy="7428391"/>
            <a:chOff x="-1" y="-1"/>
            <a:chExt cx="5453510" cy="7428389"/>
          </a:xfrm>
        </p:grpSpPr>
        <p:sp>
          <p:nvSpPr>
            <p:cNvPr id="805" name="Google Shape;805;p29"/>
            <p:cNvSpPr/>
            <p:nvPr/>
          </p:nvSpPr>
          <p:spPr>
            <a:xfrm>
              <a:off x="957166" y="4542882"/>
              <a:ext cx="224117" cy="219453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00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4402961" y="4542882"/>
              <a:ext cx="219445" cy="219453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00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7" name="Google Shape;807;p29"/>
            <p:cNvGrpSpPr/>
            <p:nvPr/>
          </p:nvGrpSpPr>
          <p:grpSpPr>
            <a:xfrm>
              <a:off x="-1" y="-1"/>
              <a:ext cx="5453510" cy="7428389"/>
              <a:chOff x="-1" y="0"/>
              <a:chExt cx="5453509" cy="7428387"/>
            </a:xfrm>
          </p:grpSpPr>
          <p:cxnSp>
            <p:nvCxnSpPr>
              <p:cNvPr id="808" name="Google Shape;808;p29"/>
              <p:cNvCxnSpPr/>
              <p:nvPr/>
            </p:nvCxnSpPr>
            <p:spPr>
              <a:xfrm>
                <a:off x="4617739" y="4865051"/>
                <a:ext cx="835769" cy="25633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9" name="Google Shape;809;p29"/>
              <p:cNvCxnSpPr/>
              <p:nvPr/>
            </p:nvCxnSpPr>
            <p:spPr>
              <a:xfrm flipH="1" rot="10800000">
                <a:off x="1119149" y="0"/>
                <a:ext cx="1686027" cy="455787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810" name="Google Shape;810;p29"/>
              <p:cNvCxnSpPr/>
              <p:nvPr/>
            </p:nvCxnSpPr>
            <p:spPr>
              <a:xfrm flipH="1" rot="10800000">
                <a:off x="-1" y="4865051"/>
                <a:ext cx="966503" cy="2488629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1" name="Google Shape;811;p29"/>
              <p:cNvCxnSpPr/>
              <p:nvPr/>
            </p:nvCxnSpPr>
            <p:spPr>
              <a:xfrm rot="10800000">
                <a:off x="2865629" y="1236"/>
                <a:ext cx="1634123" cy="459597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</p:grpSp>
      </p:grpSp>
      <p:sp>
        <p:nvSpPr>
          <p:cNvPr id="812" name="Google Shape;812;p29"/>
          <p:cNvSpPr/>
          <p:nvPr/>
        </p:nvSpPr>
        <p:spPr>
          <a:xfrm>
            <a:off x="14239868" y="10970244"/>
            <a:ext cx="219449" cy="224117"/>
          </a:xfrm>
          <a:prstGeom prst="ellipse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9"/>
          <p:cNvSpPr txBox="1"/>
          <p:nvPr/>
        </p:nvSpPr>
        <p:spPr>
          <a:xfrm>
            <a:off x="6764594" y="6430295"/>
            <a:ext cx="210139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1</a:t>
            </a:r>
            <a:endParaRPr/>
          </a:p>
        </p:txBody>
      </p:sp>
      <p:sp>
        <p:nvSpPr>
          <p:cNvPr id="814" name="Google Shape;814;p29"/>
          <p:cNvSpPr txBox="1"/>
          <p:nvPr/>
        </p:nvSpPr>
        <p:spPr>
          <a:xfrm>
            <a:off x="13401368" y="6322140"/>
            <a:ext cx="2101399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2</a:t>
            </a:r>
            <a:endParaRPr/>
          </a:p>
        </p:txBody>
      </p:sp>
      <p:sp>
        <p:nvSpPr>
          <p:cNvPr id="815" name="Google Shape;815;p29"/>
          <p:cNvSpPr/>
          <p:nvPr/>
        </p:nvSpPr>
        <p:spPr>
          <a:xfrm>
            <a:off x="11569413" y="3448153"/>
            <a:ext cx="331509" cy="331505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29"/>
          <p:cNvCxnSpPr/>
          <p:nvPr/>
        </p:nvCxnSpPr>
        <p:spPr>
          <a:xfrm flipH="1" rot="10800000">
            <a:off x="8951252" y="11087450"/>
            <a:ext cx="5216500" cy="28979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B0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7" name="Google Shape;817;p29"/>
          <p:cNvSpPr txBox="1"/>
          <p:nvPr/>
        </p:nvSpPr>
        <p:spPr>
          <a:xfrm>
            <a:off x="11495569" y="11100323"/>
            <a:ext cx="474857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grpSp>
        <p:nvGrpSpPr>
          <p:cNvPr id="818" name="Google Shape;818;p29"/>
          <p:cNvGrpSpPr/>
          <p:nvPr/>
        </p:nvGrpSpPr>
        <p:grpSpPr>
          <a:xfrm>
            <a:off x="8883916" y="2674372"/>
            <a:ext cx="6120112" cy="8405734"/>
            <a:chOff x="0" y="-1"/>
            <a:chExt cx="6120111" cy="8405732"/>
          </a:xfrm>
        </p:grpSpPr>
        <p:cxnSp>
          <p:nvCxnSpPr>
            <p:cNvPr id="819" name="Google Shape;819;p29"/>
            <p:cNvCxnSpPr/>
            <p:nvPr/>
          </p:nvCxnSpPr>
          <p:spPr>
            <a:xfrm flipH="1" rot="10800000">
              <a:off x="0" y="39330"/>
              <a:ext cx="6080781" cy="8366401"/>
            </a:xfrm>
            <a:prstGeom prst="straightConnector1">
              <a:avLst/>
            </a:prstGeom>
            <a:noFill/>
            <a:ln cap="rnd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820" name="Google Shape;820;p29"/>
            <p:cNvCxnSpPr/>
            <p:nvPr/>
          </p:nvCxnSpPr>
          <p:spPr>
            <a:xfrm flipH="1" rot="10800000">
              <a:off x="5510508" y="-1"/>
              <a:ext cx="609603" cy="8377086"/>
            </a:xfrm>
            <a:prstGeom prst="straightConnector1">
              <a:avLst/>
            </a:prstGeom>
            <a:noFill/>
            <a:ln cap="rnd" cmpd="sng" w="381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821" name="Google Shape;821;p29"/>
            <p:cNvSpPr/>
            <p:nvPr/>
          </p:nvSpPr>
          <p:spPr>
            <a:xfrm>
              <a:off x="2213550" y="5025206"/>
              <a:ext cx="248961" cy="248957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00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5605682" y="5035040"/>
              <a:ext cx="248961" cy="248957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00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3" name="Google Shape;823;p29"/>
          <p:cNvSpPr/>
          <p:nvPr/>
        </p:nvSpPr>
        <p:spPr>
          <a:xfrm>
            <a:off x="14823892" y="2474759"/>
            <a:ext cx="331509" cy="331506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9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7.tif" id="829" name="Google Shape;8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5311"/>
            <a:ext cx="9039122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30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Disparity map</a:t>
            </a:r>
            <a:endParaRPr/>
          </a:p>
        </p:txBody>
      </p:sp>
      <p:sp>
        <p:nvSpPr>
          <p:cNvPr id="831" name="Google Shape;831;p30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32" name="Google Shape;832;p30"/>
          <p:cNvSpPr txBox="1"/>
          <p:nvPr/>
        </p:nvSpPr>
        <p:spPr>
          <a:xfrm>
            <a:off x="6213985" y="10166556"/>
            <a:ext cx="233044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image</a:t>
            </a:r>
            <a:endParaRPr/>
          </a:p>
        </p:txBody>
      </p:sp>
      <p:sp>
        <p:nvSpPr>
          <p:cNvPr id="833" name="Google Shape;833;p30"/>
          <p:cNvSpPr txBox="1"/>
          <p:nvPr/>
        </p:nvSpPr>
        <p:spPr>
          <a:xfrm>
            <a:off x="15466138" y="10117394"/>
            <a:ext cx="2635171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image</a:t>
            </a:r>
            <a:endParaRPr/>
          </a:p>
        </p:txBody>
      </p:sp>
      <p:pic>
        <p:nvPicPr>
          <p:cNvPr descr="image6.png" id="834" name="Google Shape;83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6878" y="3220063"/>
            <a:ext cx="9039122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30"/>
          <p:cNvSpPr/>
          <p:nvPr/>
        </p:nvSpPr>
        <p:spPr>
          <a:xfrm>
            <a:off x="9202994" y="8259095"/>
            <a:ext cx="452285" cy="943899"/>
          </a:xfrm>
          <a:prstGeom prst="rect">
            <a:avLst/>
          </a:prstGeom>
          <a:noFill/>
          <a:ln cap="flat" cmpd="sng" w="1143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0"/>
          <p:cNvSpPr/>
          <p:nvPr/>
        </p:nvSpPr>
        <p:spPr>
          <a:xfrm>
            <a:off x="9350478" y="7059559"/>
            <a:ext cx="422787" cy="717757"/>
          </a:xfrm>
          <a:prstGeom prst="rect">
            <a:avLst/>
          </a:prstGeom>
          <a:noFill/>
          <a:ln cap="flat" cmpd="sng" w="1143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0"/>
          <p:cNvSpPr/>
          <p:nvPr/>
        </p:nvSpPr>
        <p:spPr>
          <a:xfrm>
            <a:off x="8711381" y="5692876"/>
            <a:ext cx="393289" cy="383461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0"/>
          <p:cNvSpPr/>
          <p:nvPr/>
        </p:nvSpPr>
        <p:spPr>
          <a:xfrm>
            <a:off x="5889524" y="4935789"/>
            <a:ext cx="1091381" cy="904571"/>
          </a:xfrm>
          <a:prstGeom prst="rect">
            <a:avLst/>
          </a:prstGeom>
          <a:noFill/>
          <a:ln cap="flat" cmpd="sng" w="114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0"/>
          <p:cNvSpPr/>
          <p:nvPr/>
        </p:nvSpPr>
        <p:spPr>
          <a:xfrm>
            <a:off x="4306530" y="7531510"/>
            <a:ext cx="845577" cy="865239"/>
          </a:xfrm>
          <a:prstGeom prst="rect">
            <a:avLst/>
          </a:prstGeom>
          <a:noFill/>
          <a:ln cap="flat" cmpd="sng" w="1143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0"/>
          <p:cNvSpPr/>
          <p:nvPr/>
        </p:nvSpPr>
        <p:spPr>
          <a:xfrm>
            <a:off x="3048000" y="3185652"/>
            <a:ext cx="9045679" cy="6803922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0"/>
          <p:cNvSpPr txBox="1"/>
          <p:nvPr/>
        </p:nvSpPr>
        <p:spPr>
          <a:xfrm>
            <a:off x="8682399" y="11523408"/>
            <a:ext cx="7019202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picture is ~1m to the right</a:t>
            </a:r>
            <a:endParaRPr/>
          </a:p>
        </p:txBody>
      </p:sp>
      <p:sp>
        <p:nvSpPr>
          <p:cNvPr id="842" name="Google Shape;842;p30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7.tif" id="847" name="Google Shape;8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5311"/>
            <a:ext cx="9039122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31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Disparity map</a:t>
            </a:r>
            <a:endParaRPr/>
          </a:p>
        </p:txBody>
      </p:sp>
      <p:sp>
        <p:nvSpPr>
          <p:cNvPr id="849" name="Google Shape;849;p31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50" name="Google Shape;850;p31"/>
          <p:cNvSpPr txBox="1"/>
          <p:nvPr/>
        </p:nvSpPr>
        <p:spPr>
          <a:xfrm>
            <a:off x="6213985" y="10166556"/>
            <a:ext cx="233044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image</a:t>
            </a:r>
            <a:endParaRPr/>
          </a:p>
        </p:txBody>
      </p:sp>
      <p:sp>
        <p:nvSpPr>
          <p:cNvPr id="851" name="Google Shape;851;p31"/>
          <p:cNvSpPr txBox="1"/>
          <p:nvPr/>
        </p:nvSpPr>
        <p:spPr>
          <a:xfrm>
            <a:off x="15466138" y="10117394"/>
            <a:ext cx="2635171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image</a:t>
            </a:r>
            <a:endParaRPr/>
          </a:p>
        </p:txBody>
      </p:sp>
      <p:pic>
        <p:nvPicPr>
          <p:cNvPr descr="image6.png" id="852" name="Google Shape;85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6878" y="3220063"/>
            <a:ext cx="9039122" cy="67793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3" name="Google Shape;853;p31"/>
          <p:cNvGrpSpPr/>
          <p:nvPr/>
        </p:nvGrpSpPr>
        <p:grpSpPr>
          <a:xfrm>
            <a:off x="3047998" y="3185652"/>
            <a:ext cx="9045682" cy="6803924"/>
            <a:chOff x="-1" y="0"/>
            <a:chExt cx="9045680" cy="6803922"/>
          </a:xfrm>
        </p:grpSpPr>
        <p:sp>
          <p:nvSpPr>
            <p:cNvPr id="854" name="Google Shape;854;p31"/>
            <p:cNvSpPr/>
            <p:nvPr/>
          </p:nvSpPr>
          <p:spPr>
            <a:xfrm>
              <a:off x="6154994" y="5073443"/>
              <a:ext cx="452285" cy="943899"/>
            </a:xfrm>
            <a:prstGeom prst="rect">
              <a:avLst/>
            </a:prstGeom>
            <a:noFill/>
            <a:ln cap="flat" cmpd="sng" w="1143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6302478" y="3873908"/>
              <a:ext cx="422787" cy="717757"/>
            </a:xfrm>
            <a:prstGeom prst="rect">
              <a:avLst/>
            </a:prstGeom>
            <a:noFill/>
            <a:ln cap="flat" cmpd="sng" w="1143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5663382" y="2507223"/>
              <a:ext cx="393289" cy="383461"/>
            </a:xfrm>
            <a:prstGeom prst="rect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2841524" y="1750137"/>
              <a:ext cx="1091381" cy="904571"/>
            </a:xfrm>
            <a:prstGeom prst="rect">
              <a:avLst/>
            </a:prstGeom>
            <a:noFill/>
            <a:ln cap="flat" cmpd="sng" w="11430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1"/>
            <p:cNvSpPr/>
            <p:nvPr/>
          </p:nvSpPr>
          <p:spPr>
            <a:xfrm>
              <a:off x="1258529" y="4345857"/>
              <a:ext cx="845577" cy="865239"/>
            </a:xfrm>
            <a:prstGeom prst="rect">
              <a:avLst/>
            </a:prstGeom>
            <a:noFill/>
            <a:ln cap="flat" cmpd="sng" w="1143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1"/>
            <p:cNvSpPr/>
            <p:nvPr/>
          </p:nvSpPr>
          <p:spPr>
            <a:xfrm>
              <a:off x="-1" y="0"/>
              <a:ext cx="9045680" cy="6803922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31"/>
          <p:cNvGrpSpPr/>
          <p:nvPr/>
        </p:nvGrpSpPr>
        <p:grpSpPr>
          <a:xfrm>
            <a:off x="3047998" y="3175819"/>
            <a:ext cx="9045682" cy="6803924"/>
            <a:chOff x="-1" y="0"/>
            <a:chExt cx="9045680" cy="6803922"/>
          </a:xfrm>
        </p:grpSpPr>
        <p:sp>
          <p:nvSpPr>
            <p:cNvPr id="861" name="Google Shape;861;p31"/>
            <p:cNvSpPr/>
            <p:nvPr/>
          </p:nvSpPr>
          <p:spPr>
            <a:xfrm>
              <a:off x="6154994" y="5073443"/>
              <a:ext cx="452285" cy="943899"/>
            </a:xfrm>
            <a:prstGeom prst="rect">
              <a:avLst/>
            </a:prstGeom>
            <a:noFill/>
            <a:ln cap="flat" cmpd="sng" w="1143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1"/>
            <p:cNvSpPr/>
            <p:nvPr/>
          </p:nvSpPr>
          <p:spPr>
            <a:xfrm>
              <a:off x="6302478" y="3873908"/>
              <a:ext cx="422787" cy="717757"/>
            </a:xfrm>
            <a:prstGeom prst="rect">
              <a:avLst/>
            </a:prstGeom>
            <a:noFill/>
            <a:ln cap="flat" cmpd="sng" w="1143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31"/>
            <p:cNvSpPr/>
            <p:nvPr/>
          </p:nvSpPr>
          <p:spPr>
            <a:xfrm>
              <a:off x="5663382" y="2507223"/>
              <a:ext cx="393289" cy="383461"/>
            </a:xfrm>
            <a:prstGeom prst="rect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1"/>
            <p:cNvSpPr/>
            <p:nvPr/>
          </p:nvSpPr>
          <p:spPr>
            <a:xfrm>
              <a:off x="2841524" y="1750137"/>
              <a:ext cx="1091381" cy="904571"/>
            </a:xfrm>
            <a:prstGeom prst="rect">
              <a:avLst/>
            </a:prstGeom>
            <a:noFill/>
            <a:ln cap="flat" cmpd="sng" w="11430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1"/>
            <p:cNvSpPr/>
            <p:nvPr/>
          </p:nvSpPr>
          <p:spPr>
            <a:xfrm>
              <a:off x="1258529" y="4345857"/>
              <a:ext cx="845577" cy="865239"/>
            </a:xfrm>
            <a:prstGeom prst="rect">
              <a:avLst/>
            </a:prstGeom>
            <a:noFill/>
            <a:ln cap="flat" cmpd="sng" w="1143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1"/>
            <p:cNvSpPr/>
            <p:nvPr/>
          </p:nvSpPr>
          <p:spPr>
            <a:xfrm>
              <a:off x="-1" y="0"/>
              <a:ext cx="9045680" cy="6803922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31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7.tif" id="872" name="Google Shape;87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5311"/>
            <a:ext cx="9039122" cy="67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3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Disparity map</a:t>
            </a:r>
            <a:endParaRPr/>
          </a:p>
        </p:txBody>
      </p:sp>
      <p:sp>
        <p:nvSpPr>
          <p:cNvPr id="874" name="Google Shape;874;p32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75" name="Google Shape;875;p32"/>
          <p:cNvSpPr txBox="1"/>
          <p:nvPr/>
        </p:nvSpPr>
        <p:spPr>
          <a:xfrm>
            <a:off x="6213985" y="10166556"/>
            <a:ext cx="233044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image</a:t>
            </a:r>
            <a:endParaRPr/>
          </a:p>
        </p:txBody>
      </p:sp>
      <p:sp>
        <p:nvSpPr>
          <p:cNvPr id="876" name="Google Shape;876;p32"/>
          <p:cNvSpPr txBox="1"/>
          <p:nvPr/>
        </p:nvSpPr>
        <p:spPr>
          <a:xfrm>
            <a:off x="15466138" y="10117394"/>
            <a:ext cx="2635171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image</a:t>
            </a:r>
            <a:endParaRPr/>
          </a:p>
        </p:txBody>
      </p:sp>
      <p:pic>
        <p:nvPicPr>
          <p:cNvPr descr="image6.png" id="877" name="Google Shape;87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6878" y="3220063"/>
            <a:ext cx="9039122" cy="67793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32"/>
          <p:cNvGrpSpPr/>
          <p:nvPr/>
        </p:nvGrpSpPr>
        <p:grpSpPr>
          <a:xfrm>
            <a:off x="3047998" y="3185652"/>
            <a:ext cx="9045682" cy="6803924"/>
            <a:chOff x="-1" y="0"/>
            <a:chExt cx="9045680" cy="6803922"/>
          </a:xfrm>
        </p:grpSpPr>
        <p:sp>
          <p:nvSpPr>
            <p:cNvPr id="879" name="Google Shape;879;p32"/>
            <p:cNvSpPr/>
            <p:nvPr/>
          </p:nvSpPr>
          <p:spPr>
            <a:xfrm>
              <a:off x="6154994" y="5073443"/>
              <a:ext cx="452285" cy="943899"/>
            </a:xfrm>
            <a:prstGeom prst="rect">
              <a:avLst/>
            </a:prstGeom>
            <a:noFill/>
            <a:ln cap="flat" cmpd="sng" w="1143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6302478" y="3873908"/>
              <a:ext cx="422787" cy="717757"/>
            </a:xfrm>
            <a:prstGeom prst="rect">
              <a:avLst/>
            </a:prstGeom>
            <a:noFill/>
            <a:ln cap="flat" cmpd="sng" w="1143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5663382" y="2507223"/>
              <a:ext cx="393289" cy="383461"/>
            </a:xfrm>
            <a:prstGeom prst="rect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2841524" y="1750137"/>
              <a:ext cx="1091381" cy="904571"/>
            </a:xfrm>
            <a:prstGeom prst="rect">
              <a:avLst/>
            </a:prstGeom>
            <a:noFill/>
            <a:ln cap="flat" cmpd="sng" w="11430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1258529" y="4345857"/>
              <a:ext cx="845577" cy="865239"/>
            </a:xfrm>
            <a:prstGeom prst="rect">
              <a:avLst/>
            </a:prstGeom>
            <a:noFill/>
            <a:ln cap="flat" cmpd="sng" w="1143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-1" y="0"/>
              <a:ext cx="9045680" cy="6803922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32"/>
          <p:cNvGrpSpPr/>
          <p:nvPr/>
        </p:nvGrpSpPr>
        <p:grpSpPr>
          <a:xfrm>
            <a:off x="12290320" y="3175819"/>
            <a:ext cx="9045681" cy="6803924"/>
            <a:chOff x="-1" y="0"/>
            <a:chExt cx="9045680" cy="6803922"/>
          </a:xfrm>
        </p:grpSpPr>
        <p:sp>
          <p:nvSpPr>
            <p:cNvPr id="886" name="Google Shape;886;p32"/>
            <p:cNvSpPr/>
            <p:nvPr/>
          </p:nvSpPr>
          <p:spPr>
            <a:xfrm>
              <a:off x="6154994" y="5073443"/>
              <a:ext cx="452285" cy="943899"/>
            </a:xfrm>
            <a:prstGeom prst="rect">
              <a:avLst/>
            </a:prstGeom>
            <a:noFill/>
            <a:ln cap="flat" cmpd="sng" w="1143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6302478" y="3873908"/>
              <a:ext cx="422787" cy="717757"/>
            </a:xfrm>
            <a:prstGeom prst="rect">
              <a:avLst/>
            </a:prstGeom>
            <a:noFill/>
            <a:ln cap="flat" cmpd="sng" w="1143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5663382" y="2507223"/>
              <a:ext cx="393289" cy="383461"/>
            </a:xfrm>
            <a:prstGeom prst="rect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2841524" y="1750137"/>
              <a:ext cx="1091381" cy="904571"/>
            </a:xfrm>
            <a:prstGeom prst="rect">
              <a:avLst/>
            </a:prstGeom>
            <a:noFill/>
            <a:ln cap="flat" cmpd="sng" w="114300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1258529" y="4345857"/>
              <a:ext cx="845577" cy="865239"/>
            </a:xfrm>
            <a:prstGeom prst="rect">
              <a:avLst/>
            </a:prstGeom>
            <a:noFill/>
            <a:ln cap="flat" cmpd="sng" w="1143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-1" y="0"/>
              <a:ext cx="9045680" cy="6803922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92" name="Google Shape;892;p32"/>
          <p:cNvCxnSpPr/>
          <p:nvPr/>
        </p:nvCxnSpPr>
        <p:spPr>
          <a:xfrm flipH="1">
            <a:off x="15191230" y="5394959"/>
            <a:ext cx="512065" cy="1"/>
          </a:xfrm>
          <a:prstGeom prst="straightConnector1">
            <a:avLst/>
          </a:prstGeom>
          <a:noFill/>
          <a:ln cap="flat" cmpd="sng" w="50800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3" name="Google Shape;893;p32"/>
          <p:cNvCxnSpPr/>
          <p:nvPr/>
        </p:nvCxnSpPr>
        <p:spPr>
          <a:xfrm flipH="1">
            <a:off x="13014960" y="7949183"/>
            <a:ext cx="1024129" cy="1"/>
          </a:xfrm>
          <a:prstGeom prst="straightConnector1">
            <a:avLst/>
          </a:prstGeom>
          <a:noFill/>
          <a:ln cap="flat" cmpd="sng" w="114300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4" name="Google Shape;894;p32"/>
          <p:cNvCxnSpPr/>
          <p:nvPr/>
        </p:nvCxnSpPr>
        <p:spPr>
          <a:xfrm flipH="1">
            <a:off x="18263615" y="7443216"/>
            <a:ext cx="566929" cy="1"/>
          </a:xfrm>
          <a:prstGeom prst="straightConnector1">
            <a:avLst/>
          </a:prstGeom>
          <a:noFill/>
          <a:ln cap="flat" cmpd="sng" w="50800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5" name="Google Shape;895;p32"/>
          <p:cNvCxnSpPr/>
          <p:nvPr/>
        </p:nvCxnSpPr>
        <p:spPr>
          <a:xfrm flipH="1">
            <a:off x="17276063" y="8735568"/>
            <a:ext cx="1383793" cy="1"/>
          </a:xfrm>
          <a:prstGeom prst="straightConnector1">
            <a:avLst/>
          </a:prstGeom>
          <a:noFill/>
          <a:ln cap="flat" cmpd="sng" w="50800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6" name="Google Shape;896;p32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3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Disparity map</a:t>
            </a:r>
            <a:endParaRPr/>
          </a:p>
        </p:txBody>
      </p:sp>
      <p:sp>
        <p:nvSpPr>
          <p:cNvPr id="902" name="Google Shape;902;p33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903" name="Google Shape;903;p33"/>
          <p:cNvGrpSpPr/>
          <p:nvPr/>
        </p:nvGrpSpPr>
        <p:grpSpPr>
          <a:xfrm>
            <a:off x="4386604" y="1941747"/>
            <a:ext cx="15648499" cy="5813505"/>
            <a:chOff x="-1" y="0"/>
            <a:chExt cx="15648497" cy="5813503"/>
          </a:xfrm>
        </p:grpSpPr>
        <p:pic>
          <p:nvPicPr>
            <p:cNvPr descr="image7.tif" id="904" name="Google Shape;90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0"/>
              <a:ext cx="7734508" cy="5800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905" name="Google Shape;90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13988" y="12622"/>
              <a:ext cx="7734508" cy="5800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6" name="Google Shape;906;p33"/>
            <p:cNvCxnSpPr/>
            <p:nvPr/>
          </p:nvCxnSpPr>
          <p:spPr>
            <a:xfrm flipH="1">
              <a:off x="10390602" y="1873616"/>
              <a:ext cx="438157" cy="1"/>
            </a:xfrm>
            <a:prstGeom prst="straightConnector1">
              <a:avLst/>
            </a:prstGeom>
            <a:noFill/>
            <a:ln cap="flat" cmpd="sng" w="50800">
              <a:solidFill>
                <a:srgbClr val="FFFF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7" name="Google Shape;907;p33"/>
            <p:cNvCxnSpPr/>
            <p:nvPr/>
          </p:nvCxnSpPr>
          <p:spPr>
            <a:xfrm flipH="1">
              <a:off x="8528431" y="4059188"/>
              <a:ext cx="876315" cy="1"/>
            </a:xfrm>
            <a:prstGeom prst="straightConnector1">
              <a:avLst/>
            </a:prstGeom>
            <a:noFill/>
            <a:ln cap="flat" cmpd="sng" w="114300">
              <a:solidFill>
                <a:srgbClr val="FFFF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8" name="Google Shape;908;p33"/>
            <p:cNvCxnSpPr/>
            <p:nvPr/>
          </p:nvCxnSpPr>
          <p:spPr>
            <a:xfrm flipH="1">
              <a:off x="13019549" y="3626247"/>
              <a:ext cx="485103" cy="1"/>
            </a:xfrm>
            <a:prstGeom prst="straightConnector1">
              <a:avLst/>
            </a:prstGeom>
            <a:noFill/>
            <a:ln cap="flat" cmpd="sng" w="50800">
              <a:solidFill>
                <a:srgbClr val="FFFF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9" name="Google Shape;909;p33"/>
            <p:cNvCxnSpPr/>
            <p:nvPr/>
          </p:nvCxnSpPr>
          <p:spPr>
            <a:xfrm flipH="1">
              <a:off x="12174530" y="4732073"/>
              <a:ext cx="1184069" cy="1"/>
            </a:xfrm>
            <a:prstGeom prst="straightConnector1">
              <a:avLst/>
            </a:prstGeom>
            <a:noFill/>
            <a:ln cap="flat" cmpd="sng" w="50800">
              <a:solidFill>
                <a:srgbClr val="FFFF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910" name="Google Shape;910;p33"/>
          <p:cNvGrpSpPr/>
          <p:nvPr/>
        </p:nvGrpSpPr>
        <p:grpSpPr>
          <a:xfrm>
            <a:off x="8402424" y="7871381"/>
            <a:ext cx="7729983" cy="5844621"/>
            <a:chOff x="-1" y="-1"/>
            <a:chExt cx="7729982" cy="5844620"/>
          </a:xfrm>
        </p:grpSpPr>
        <p:sp>
          <p:nvSpPr>
            <p:cNvPr id="911" name="Google Shape;911;p33"/>
            <p:cNvSpPr/>
            <p:nvPr/>
          </p:nvSpPr>
          <p:spPr>
            <a:xfrm>
              <a:off x="-1" y="-1"/>
              <a:ext cx="7729982" cy="5844620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3"/>
            <p:cNvSpPr txBox="1"/>
            <p:nvPr/>
          </p:nvSpPr>
          <p:spPr>
            <a:xfrm>
              <a:off x="2922308" y="2516957"/>
              <a:ext cx="1414483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D(x,y)</a:t>
              </a:r>
              <a:endParaRPr/>
            </a:p>
          </p:txBody>
        </p:sp>
      </p:grpSp>
      <p:grpSp>
        <p:nvGrpSpPr>
          <p:cNvPr id="913" name="Google Shape;913;p33"/>
          <p:cNvGrpSpPr/>
          <p:nvPr/>
        </p:nvGrpSpPr>
        <p:grpSpPr>
          <a:xfrm>
            <a:off x="16611071" y="9896257"/>
            <a:ext cx="3953186" cy="1439433"/>
            <a:chOff x="0" y="0"/>
            <a:chExt cx="3953185" cy="1439431"/>
          </a:xfrm>
        </p:grpSpPr>
        <p:sp>
          <p:nvSpPr>
            <p:cNvPr id="914" name="Google Shape;914;p33"/>
            <p:cNvSpPr txBox="1"/>
            <p:nvPr/>
          </p:nvSpPr>
          <p:spPr>
            <a:xfrm>
              <a:off x="0" y="389015"/>
              <a:ext cx="1757606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Z(x,y) =</a:t>
              </a:r>
              <a:endParaRPr/>
            </a:p>
          </p:txBody>
        </p:sp>
        <p:cxnSp>
          <p:nvCxnSpPr>
            <p:cNvPr id="915" name="Google Shape;915;p33"/>
            <p:cNvCxnSpPr/>
            <p:nvPr/>
          </p:nvCxnSpPr>
          <p:spPr>
            <a:xfrm>
              <a:off x="2002464" y="772159"/>
              <a:ext cx="1950721" cy="1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3"/>
            <p:cNvSpPr txBox="1"/>
            <p:nvPr/>
          </p:nvSpPr>
          <p:spPr>
            <a:xfrm>
              <a:off x="2673024" y="0"/>
              <a:ext cx="336719" cy="737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917" name="Google Shape;917;p33"/>
            <p:cNvSpPr txBox="1"/>
            <p:nvPr/>
          </p:nvSpPr>
          <p:spPr>
            <a:xfrm>
              <a:off x="2192550" y="738107"/>
              <a:ext cx="1414483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D(x,y)</a:t>
              </a:r>
              <a:endParaRPr/>
            </a:p>
          </p:txBody>
        </p:sp>
      </p:grpSp>
      <p:sp>
        <p:nvSpPr>
          <p:cNvPr id="918" name="Google Shape;918;p33"/>
          <p:cNvSpPr txBox="1"/>
          <p:nvPr/>
        </p:nvSpPr>
        <p:spPr>
          <a:xfrm>
            <a:off x="4660488" y="2084438"/>
            <a:ext cx="1211332" cy="70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I(x,y)</a:t>
            </a:r>
            <a:endParaRPr/>
          </a:p>
        </p:txBody>
      </p:sp>
      <p:sp>
        <p:nvSpPr>
          <p:cNvPr id="919" name="Google Shape;919;p33"/>
          <p:cNvSpPr txBox="1"/>
          <p:nvPr/>
        </p:nvSpPr>
        <p:spPr>
          <a:xfrm>
            <a:off x="12595120" y="2054942"/>
            <a:ext cx="4462632" cy="70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I’(x,y) = I(x+D(x,y), y)</a:t>
            </a:r>
            <a:endParaRPr/>
          </a:p>
        </p:txBody>
      </p:sp>
      <p:sp>
        <p:nvSpPr>
          <p:cNvPr id="920" name="Google Shape;920;p33"/>
          <p:cNvSpPr txBox="1"/>
          <p:nvPr/>
        </p:nvSpPr>
        <p:spPr>
          <a:xfrm>
            <a:off x="12536126" y="2054942"/>
            <a:ext cx="1312908" cy="70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I’(x,y)</a:t>
            </a:r>
            <a:endParaRPr/>
          </a:p>
        </p:txBody>
      </p:sp>
      <p:sp>
        <p:nvSpPr>
          <p:cNvPr id="921" name="Google Shape;921;p33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922" name="Google Shape;922;p33"/>
          <p:cNvSpPr txBox="1"/>
          <p:nvPr/>
        </p:nvSpPr>
        <p:spPr>
          <a:xfrm>
            <a:off x="16306748" y="9427200"/>
            <a:ext cx="2358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3" name="Google Shape;923;p33"/>
          <p:cNvSpPr txBox="1"/>
          <p:nvPr/>
        </p:nvSpPr>
        <p:spPr>
          <a:xfrm>
            <a:off x="20196585" y="9615893"/>
            <a:ext cx="431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Focal Length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4" name="Google Shape;924;p33"/>
          <p:cNvSpPr txBox="1"/>
          <p:nvPr/>
        </p:nvSpPr>
        <p:spPr>
          <a:xfrm>
            <a:off x="20312699" y="10566579"/>
            <a:ext cx="431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Disparity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5" name="Google Shape;925;p33"/>
          <p:cNvSpPr txBox="1"/>
          <p:nvPr/>
        </p:nvSpPr>
        <p:spPr>
          <a:xfrm>
            <a:off x="3917381" y="10123368"/>
            <a:ext cx="431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Disparity Map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Finding correspondences</a:t>
            </a:r>
            <a:endParaRPr/>
          </a:p>
        </p:txBody>
      </p:sp>
      <p:sp>
        <p:nvSpPr>
          <p:cNvPr id="931" name="Google Shape;931;p3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932" name="Google Shape;932;p34"/>
          <p:cNvGrpSpPr/>
          <p:nvPr/>
        </p:nvGrpSpPr>
        <p:grpSpPr>
          <a:xfrm>
            <a:off x="3330802" y="3280354"/>
            <a:ext cx="17864189" cy="6636645"/>
            <a:chOff x="-1" y="0"/>
            <a:chExt cx="17864187" cy="6636644"/>
          </a:xfrm>
        </p:grpSpPr>
        <p:pic>
          <p:nvPicPr>
            <p:cNvPr descr="image7.tif" id="933" name="Google Shape;933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0"/>
              <a:ext cx="8829647" cy="66222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934" name="Google Shape;93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34540" y="14410"/>
              <a:ext cx="8829646" cy="6622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5" name="Google Shape;935;p34"/>
          <p:cNvSpPr/>
          <p:nvPr/>
        </p:nvSpPr>
        <p:spPr>
          <a:xfrm>
            <a:off x="6196552" y="6334812"/>
            <a:ext cx="263953" cy="282805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6" name="Google Shape;936;p34"/>
          <p:cNvCxnSpPr/>
          <p:nvPr/>
        </p:nvCxnSpPr>
        <p:spPr>
          <a:xfrm flipH="1" rot="10800000">
            <a:off x="6460502" y="6466787"/>
            <a:ext cx="15045179" cy="9427"/>
          </a:xfrm>
          <a:prstGeom prst="straightConnector1">
            <a:avLst/>
          </a:prstGeom>
          <a:solidFill>
            <a:srgbClr val="BBE0E3"/>
          </a:solidFill>
          <a:ln cap="flat" cmpd="sng" w="50800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7" name="Google Shape;937;p34"/>
          <p:cNvSpPr/>
          <p:nvPr/>
        </p:nvSpPr>
        <p:spPr>
          <a:xfrm>
            <a:off x="6916134" y="4961630"/>
            <a:ext cx="263953" cy="282805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8" name="Google Shape;938;p34"/>
          <p:cNvCxnSpPr/>
          <p:nvPr/>
        </p:nvCxnSpPr>
        <p:spPr>
          <a:xfrm>
            <a:off x="7048106" y="5103041"/>
            <a:ext cx="13869970" cy="1"/>
          </a:xfrm>
          <a:prstGeom prst="straightConnector1">
            <a:avLst/>
          </a:prstGeom>
          <a:solidFill>
            <a:srgbClr val="BBE0E3"/>
          </a:solidFill>
          <a:ln cap="flat" cmpd="sng" w="50800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9" name="Google Shape;939;p34"/>
          <p:cNvSpPr/>
          <p:nvPr/>
        </p:nvSpPr>
        <p:spPr>
          <a:xfrm>
            <a:off x="9445663" y="8207599"/>
            <a:ext cx="263953" cy="282805"/>
          </a:xfrm>
          <a:prstGeom prst="ellipse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0" name="Google Shape;940;p34"/>
          <p:cNvCxnSpPr/>
          <p:nvPr/>
        </p:nvCxnSpPr>
        <p:spPr>
          <a:xfrm>
            <a:off x="9593343" y="8345863"/>
            <a:ext cx="11488376" cy="1"/>
          </a:xfrm>
          <a:prstGeom prst="straightConnector1">
            <a:avLst/>
          </a:prstGeom>
          <a:solidFill>
            <a:srgbClr val="BBE0E3"/>
          </a:solidFill>
          <a:ln cap="flat" cmpd="sng" w="50800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41" name="Google Shape;941;p34"/>
          <p:cNvSpPr txBox="1"/>
          <p:nvPr/>
        </p:nvSpPr>
        <p:spPr>
          <a:xfrm>
            <a:off x="6121138" y="10501462"/>
            <a:ext cx="1205554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only need to search for matches along horizontal lines.</a:t>
            </a:r>
            <a:endParaRPr/>
          </a:p>
        </p:txBody>
      </p:sp>
      <p:sp>
        <p:nvSpPr>
          <p:cNvPr id="942" name="Google Shape;942;p34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5"/>
          <p:cNvSpPr txBox="1"/>
          <p:nvPr>
            <p:ph idx="12" type="sldNum"/>
          </p:nvPr>
        </p:nvSpPr>
        <p:spPr>
          <a:xfrm>
            <a:off x="17727304" y="12917561"/>
            <a:ext cx="591116" cy="577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48" name="Google Shape;948;p3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Basic stereo algorithm</a:t>
            </a:r>
            <a:endParaRPr/>
          </a:p>
        </p:txBody>
      </p:sp>
      <p:pic>
        <p:nvPicPr>
          <p:cNvPr descr="image20.jpg" id="949" name="Google Shape;9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200400"/>
            <a:ext cx="8991600" cy="518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0" name="Google Shape;950;p35"/>
          <p:cNvGrpSpPr/>
          <p:nvPr/>
        </p:nvGrpSpPr>
        <p:grpSpPr>
          <a:xfrm>
            <a:off x="4419600" y="7137402"/>
            <a:ext cx="15570200" cy="2133601"/>
            <a:chOff x="0" y="1"/>
            <a:chExt cx="15570200" cy="2133599"/>
          </a:xfrm>
        </p:grpSpPr>
        <p:sp>
          <p:nvSpPr>
            <p:cNvPr id="951" name="Google Shape;951;p35"/>
            <p:cNvSpPr/>
            <p:nvPr/>
          </p:nvSpPr>
          <p:spPr>
            <a:xfrm>
              <a:off x="0" y="2133600"/>
              <a:ext cx="155702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874712" lvl="0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 each “epipolar line”</a:t>
              </a:r>
              <a:endParaRPr/>
            </a:p>
          </p:txBody>
        </p:sp>
        <p:cxnSp>
          <p:nvCxnSpPr>
            <p:cNvPr id="952" name="Google Shape;952;p35"/>
            <p:cNvCxnSpPr/>
            <p:nvPr/>
          </p:nvCxnSpPr>
          <p:spPr>
            <a:xfrm>
              <a:off x="2743200" y="1"/>
              <a:ext cx="10058401" cy="3172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953" name="Google Shape;953;p35"/>
          <p:cNvSpPr/>
          <p:nvPr/>
        </p:nvSpPr>
        <p:spPr>
          <a:xfrm>
            <a:off x="14716125" y="6181726"/>
            <a:ext cx="152400" cy="152401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4" name="Google Shape;954;p35"/>
          <p:cNvGrpSpPr/>
          <p:nvPr/>
        </p:nvGrpSpPr>
        <p:grpSpPr>
          <a:xfrm>
            <a:off x="4419600" y="7051676"/>
            <a:ext cx="15570200" cy="2981326"/>
            <a:chOff x="0" y="0"/>
            <a:chExt cx="15570200" cy="2981325"/>
          </a:xfrm>
        </p:grpSpPr>
        <p:sp>
          <p:nvSpPr>
            <p:cNvPr id="955" name="Google Shape;955;p35"/>
            <p:cNvSpPr/>
            <p:nvPr/>
          </p:nvSpPr>
          <p:spPr>
            <a:xfrm>
              <a:off x="5530850" y="0"/>
              <a:ext cx="152400" cy="152400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0" y="2981324"/>
              <a:ext cx="15570200" cy="1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874712" lvl="0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	For each pixel in the left image</a:t>
              </a:r>
              <a:endParaRPr/>
            </a:p>
          </p:txBody>
        </p:sp>
      </p:grpSp>
      <p:sp>
        <p:nvSpPr>
          <p:cNvPr id="957" name="Google Shape;957;p35"/>
          <p:cNvSpPr txBox="1"/>
          <p:nvPr/>
        </p:nvSpPr>
        <p:spPr>
          <a:xfrm>
            <a:off x="4419600" y="10795000"/>
            <a:ext cx="16941800" cy="518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9600" lvl="0" marL="1563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with every pixel on same epipolar line in right image</a:t>
            </a:r>
            <a:endParaRPr/>
          </a:p>
        </p:txBody>
      </p:sp>
      <p:sp>
        <p:nvSpPr>
          <p:cNvPr id="958" name="Google Shape;958;p35"/>
          <p:cNvSpPr txBox="1"/>
          <p:nvPr/>
        </p:nvSpPr>
        <p:spPr>
          <a:xfrm>
            <a:off x="4419600" y="11557000"/>
            <a:ext cx="16941800" cy="518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9600" lvl="0" marL="1563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 pixel with minimum match cost</a:t>
            </a:r>
            <a:endParaRPr/>
          </a:p>
        </p:txBody>
      </p:sp>
      <p:grpSp>
        <p:nvGrpSpPr>
          <p:cNvPr id="959" name="Google Shape;959;p35"/>
          <p:cNvGrpSpPr/>
          <p:nvPr/>
        </p:nvGrpSpPr>
        <p:grpSpPr>
          <a:xfrm>
            <a:off x="9753600" y="5918200"/>
            <a:ext cx="5334000" cy="609600"/>
            <a:chOff x="0" y="0"/>
            <a:chExt cx="5334000" cy="609600"/>
          </a:xfrm>
        </p:grpSpPr>
        <p:sp>
          <p:nvSpPr>
            <p:cNvPr id="960" name="Google Shape;960;p35"/>
            <p:cNvSpPr/>
            <p:nvPr/>
          </p:nvSpPr>
          <p:spPr>
            <a:xfrm>
              <a:off x="0" y="0"/>
              <a:ext cx="609600" cy="609600"/>
            </a:xfrm>
            <a:prstGeom prst="rect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4724400" y="0"/>
              <a:ext cx="609600" cy="609600"/>
            </a:xfrm>
            <a:prstGeom prst="rect">
              <a:avLst/>
            </a:prstGeom>
            <a:noFill/>
            <a:ln cap="flat" cmpd="sng" w="76200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2" name="Google Shape;962;p35"/>
          <p:cNvSpPr txBox="1"/>
          <p:nvPr/>
        </p:nvSpPr>
        <p:spPr>
          <a:xfrm>
            <a:off x="21146183" y="13179145"/>
            <a:ext cx="4673601" cy="421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R. Szeliski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6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Computing disparity</a:t>
            </a:r>
            <a:endParaRPr/>
          </a:p>
        </p:txBody>
      </p:sp>
      <p:sp>
        <p:nvSpPr>
          <p:cNvPr id="968" name="Google Shape;968;p36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969" name="Google Shape;969;p36"/>
          <p:cNvGrpSpPr/>
          <p:nvPr/>
        </p:nvGrpSpPr>
        <p:grpSpPr>
          <a:xfrm>
            <a:off x="4644787" y="3328079"/>
            <a:ext cx="15094427" cy="6198061"/>
            <a:chOff x="0" y="-1"/>
            <a:chExt cx="15094425" cy="6198060"/>
          </a:xfrm>
        </p:grpSpPr>
        <p:pic>
          <p:nvPicPr>
            <p:cNvPr descr="image7.tif" id="970" name="Google Shape;97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1"/>
              <a:ext cx="7460649" cy="6184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971" name="Google Shape;971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33775" y="13457"/>
              <a:ext cx="7460650" cy="61846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2" name="Google Shape;972;p36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Computing disparity</a:t>
            </a:r>
            <a:endParaRPr/>
          </a:p>
        </p:txBody>
      </p:sp>
      <p:sp>
        <p:nvSpPr>
          <p:cNvPr id="978" name="Google Shape;978;p37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21.tif" id="979" name="Google Shape;9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61674"/>
            <a:ext cx="10484699" cy="7863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7"/>
          <p:cNvSpPr/>
          <p:nvPr/>
        </p:nvSpPr>
        <p:spPr>
          <a:xfrm>
            <a:off x="13822836" y="3608492"/>
            <a:ext cx="7305773" cy="7104381"/>
          </a:xfrm>
          <a:prstGeom prst="rect">
            <a:avLst/>
          </a:prstGeom>
          <a:noFill/>
          <a:ln cap="flat" cmpd="sng" w="127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 cv2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matplotlib import pyplot as plt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imgL = cv2.imread('input1.jpg',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imgR = cv2.imread('input2.jpg',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stereo = cv2.StereoSGBM_create(numDisparities=80, blockSize=15)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disparity = stereo.compute(imgL, imgR)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plt.imshow(disparity, 'gray')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plt.show()</a:t>
            </a:r>
            <a:endParaRPr/>
          </a:p>
        </p:txBody>
      </p:sp>
      <p:sp>
        <p:nvSpPr>
          <p:cNvPr id="981" name="Google Shape;981;p37"/>
          <p:cNvSpPr txBox="1"/>
          <p:nvPr/>
        </p:nvSpPr>
        <p:spPr>
          <a:xfrm>
            <a:off x="13789211" y="2887628"/>
            <a:ext cx="6753097" cy="728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Opencv (3.4.1) and python 3.6.5</a:t>
            </a:r>
            <a:endParaRPr/>
          </a:p>
        </p:txBody>
      </p:sp>
      <p:pic>
        <p:nvPicPr>
          <p:cNvPr descr="image22.png" id="982" name="Google Shape;98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7450" y="11188640"/>
            <a:ext cx="9916998" cy="2527361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83" name="Google Shape;983;p37"/>
          <p:cNvGrpSpPr/>
          <p:nvPr/>
        </p:nvGrpSpPr>
        <p:grpSpPr>
          <a:xfrm>
            <a:off x="5245028" y="1772237"/>
            <a:ext cx="6343659" cy="2356705"/>
            <a:chOff x="0" y="0"/>
            <a:chExt cx="6343658" cy="2356703"/>
          </a:xfrm>
        </p:grpSpPr>
        <p:pic>
          <p:nvPicPr>
            <p:cNvPr descr="image7.tif" id="984" name="Google Shape;98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3135450" cy="23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985" name="Google Shape;985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08208" y="5117"/>
              <a:ext cx="3135450" cy="23515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8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Computing disparity</a:t>
            </a:r>
            <a:endParaRPr/>
          </a:p>
        </p:txBody>
      </p:sp>
      <p:sp>
        <p:nvSpPr>
          <p:cNvPr id="991" name="Google Shape;991;p38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23.png" id="992" name="Google Shape;9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6853" y="2450914"/>
            <a:ext cx="8936611" cy="67024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3" name="Google Shape;993;p38"/>
          <p:cNvGrpSpPr/>
          <p:nvPr/>
        </p:nvGrpSpPr>
        <p:grpSpPr>
          <a:xfrm>
            <a:off x="1090688" y="3961547"/>
            <a:ext cx="11177662" cy="4152562"/>
            <a:chOff x="0" y="0"/>
            <a:chExt cx="11177661" cy="4152560"/>
          </a:xfrm>
        </p:grpSpPr>
        <p:pic>
          <p:nvPicPr>
            <p:cNvPr descr="image7.tif" id="994" name="Google Shape;994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524729" cy="4143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995" name="Google Shape;995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52932" y="9016"/>
              <a:ext cx="5524729" cy="41435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6" name="Google Shape;996;p38"/>
          <p:cNvSpPr txBox="1"/>
          <p:nvPr/>
        </p:nvSpPr>
        <p:spPr>
          <a:xfrm>
            <a:off x="13119081" y="9514238"/>
            <a:ext cx="10372155" cy="783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 Light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Semi-global matching [Hirschmüller 2008]</a:t>
            </a:r>
            <a:endParaRPr/>
          </a:p>
        </p:txBody>
      </p:sp>
      <p:sp>
        <p:nvSpPr>
          <p:cNvPr id="997" name="Google Shape;997;p38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9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Computing disparity</a:t>
            </a:r>
            <a:endParaRPr/>
          </a:p>
        </p:txBody>
      </p:sp>
      <p:sp>
        <p:nvSpPr>
          <p:cNvPr id="1003" name="Google Shape;1003;p39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23.png" id="1004" name="Google Shape;10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1502" y="2832388"/>
            <a:ext cx="10734963" cy="80512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5" name="Google Shape;1005;p39"/>
          <p:cNvGrpSpPr/>
          <p:nvPr/>
        </p:nvGrpSpPr>
        <p:grpSpPr>
          <a:xfrm>
            <a:off x="1090688" y="4781720"/>
            <a:ext cx="11177662" cy="4152561"/>
            <a:chOff x="0" y="0"/>
            <a:chExt cx="11177661" cy="4152560"/>
          </a:xfrm>
        </p:grpSpPr>
        <p:pic>
          <p:nvPicPr>
            <p:cNvPr descr="image7.tif" id="1006" name="Google Shape;1006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524729" cy="4143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png" id="1007" name="Google Shape;1007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52932" y="9016"/>
              <a:ext cx="5524729" cy="41435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8" name="Google Shape;1008;p39"/>
          <p:cNvSpPr txBox="1"/>
          <p:nvPr/>
        </p:nvSpPr>
        <p:spPr>
          <a:xfrm>
            <a:off x="757523" y="12689238"/>
            <a:ext cx="10372154" cy="783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 Light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Semi-global matching [Hirschmüller 2008]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0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44"/>
              <a:buFont typeface="Arial"/>
              <a:buNone/>
            </a:pPr>
            <a:r>
              <a:rPr lang="en-US" sz="7744"/>
              <a:t>Can also learn depth from a single image</a:t>
            </a:r>
            <a:endParaRPr/>
          </a:p>
        </p:txBody>
      </p:sp>
      <p:sp>
        <p:nvSpPr>
          <p:cNvPr id="1014" name="Google Shape;1014;p40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25.png" id="1015" name="Google Shape;10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7437" y="11594245"/>
            <a:ext cx="11269126" cy="2039856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24.tif" id="1016" name="Google Shape;10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81502" y="2832388"/>
            <a:ext cx="10735732" cy="8051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7.tif" id="1017" name="Google Shape;101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0891" y="3604033"/>
            <a:ext cx="8677255" cy="6507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40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1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media1.m4v" id="1024" name="Google Shape;102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7683" y="955341"/>
            <a:ext cx="17318417" cy="12447614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41"/>
          <p:cNvSpPr txBox="1"/>
          <p:nvPr/>
        </p:nvSpPr>
        <p:spPr>
          <a:xfrm>
            <a:off x="3047997" y="-1"/>
            <a:ext cx="16077063" cy="728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Manually adjusting the focal length, to something that looks reasonable...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2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1" name="Google Shape;1031;p42"/>
          <p:cNvSpPr txBox="1"/>
          <p:nvPr/>
        </p:nvSpPr>
        <p:spPr>
          <a:xfrm>
            <a:off x="3048000" y="171856"/>
            <a:ext cx="18288000" cy="1485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eyes</a:t>
            </a:r>
            <a:endParaRPr/>
          </a:p>
        </p:txBody>
      </p:sp>
      <p:pic>
        <p:nvPicPr>
          <p:cNvPr descr="image7.tif" id="1032" name="Google Shape;10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2481" y="2343902"/>
            <a:ext cx="5802190" cy="4351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.png" id="1033" name="Google Shape;10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6894" y="2371095"/>
            <a:ext cx="5802189" cy="4351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tif" id="1034" name="Google Shape;103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1738" y="7922049"/>
            <a:ext cx="5587513" cy="419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tif" id="1035" name="Google Shape;103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009305" y="7345027"/>
            <a:ext cx="5587513" cy="4190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42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3"/>
          <p:cNvSpPr txBox="1"/>
          <p:nvPr>
            <p:ph type="title"/>
          </p:nvPr>
        </p:nvSpPr>
        <p:spPr>
          <a:xfrm>
            <a:off x="3048000" y="15876"/>
            <a:ext cx="18288000" cy="2533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/>
              <a:t>General case</a:t>
            </a:r>
            <a:endParaRPr/>
          </a:p>
        </p:txBody>
      </p:sp>
      <p:sp>
        <p:nvSpPr>
          <p:cNvPr id="1042" name="Google Shape;1042;p43"/>
          <p:cNvSpPr txBox="1"/>
          <p:nvPr>
            <p:ph idx="1" type="body"/>
          </p:nvPr>
        </p:nvSpPr>
        <p:spPr>
          <a:xfrm>
            <a:off x="3962400" y="2549525"/>
            <a:ext cx="16459200" cy="45974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•"/>
            </a:pPr>
            <a:r>
              <a:rPr lang="en-US" sz="4800"/>
              <a:t>The two cameras need not have parallel optical axes.</a:t>
            </a:r>
            <a:endParaRPr/>
          </a:p>
        </p:txBody>
      </p:sp>
      <p:grpSp>
        <p:nvGrpSpPr>
          <p:cNvPr id="1043" name="Google Shape;1043;p43"/>
          <p:cNvGrpSpPr/>
          <p:nvPr/>
        </p:nvGrpSpPr>
        <p:grpSpPr>
          <a:xfrm>
            <a:off x="12319000" y="5683250"/>
            <a:ext cx="8343900" cy="3657602"/>
            <a:chOff x="0" y="0"/>
            <a:chExt cx="8343900" cy="3657601"/>
          </a:xfrm>
        </p:grpSpPr>
        <p:sp>
          <p:nvSpPr>
            <p:cNvPr id="1044" name="Google Shape;1044;p43"/>
            <p:cNvSpPr/>
            <p:nvPr/>
          </p:nvSpPr>
          <p:spPr>
            <a:xfrm>
              <a:off x="0" y="2838450"/>
              <a:ext cx="152400" cy="152400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5" name="Google Shape;1045;p43"/>
            <p:cNvGrpSpPr/>
            <p:nvPr/>
          </p:nvGrpSpPr>
          <p:grpSpPr>
            <a:xfrm>
              <a:off x="152399" y="0"/>
              <a:ext cx="8191501" cy="3657601"/>
              <a:chOff x="-1" y="0"/>
              <a:chExt cx="8191501" cy="3657600"/>
            </a:xfrm>
          </p:grpSpPr>
          <p:sp>
            <p:nvSpPr>
              <p:cNvPr id="1046" name="Google Shape;1046;p43"/>
              <p:cNvSpPr/>
              <p:nvPr/>
            </p:nvSpPr>
            <p:spPr>
              <a:xfrm>
                <a:off x="152399" y="152400"/>
                <a:ext cx="2438401" cy="350520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0" y="14087"/>
                    </a:lnTo>
                    <a:lnTo>
                      <a:pt x="21600" y="21600"/>
                    </a:lnTo>
                    <a:lnTo>
                      <a:pt x="21600" y="751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43"/>
              <p:cNvSpPr/>
              <p:nvPr/>
            </p:nvSpPr>
            <p:spPr>
              <a:xfrm flipH="1">
                <a:off x="5486400" y="152400"/>
                <a:ext cx="2438400" cy="350520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0" y="14087"/>
                    </a:lnTo>
                    <a:lnTo>
                      <a:pt x="21600" y="21600"/>
                    </a:lnTo>
                    <a:lnTo>
                      <a:pt x="21600" y="751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48" name="Google Shape;1048;p43"/>
              <p:cNvCxnSpPr/>
              <p:nvPr/>
            </p:nvCxnSpPr>
            <p:spPr>
              <a:xfrm>
                <a:off x="6857999" y="2133600"/>
                <a:ext cx="1219202" cy="76200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9" name="Google Shape;1049;p43"/>
              <p:cNvCxnSpPr/>
              <p:nvPr/>
            </p:nvCxnSpPr>
            <p:spPr>
              <a:xfrm>
                <a:off x="3352799" y="152399"/>
                <a:ext cx="3505202" cy="198120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50" name="Google Shape;1050;p43"/>
              <p:cNvCxnSpPr/>
              <p:nvPr/>
            </p:nvCxnSpPr>
            <p:spPr>
              <a:xfrm flipH="1" rot="10800000">
                <a:off x="1219199" y="152399"/>
                <a:ext cx="2133602" cy="182880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051" name="Google Shape;1051;p43"/>
              <p:cNvCxnSpPr/>
              <p:nvPr/>
            </p:nvCxnSpPr>
            <p:spPr>
              <a:xfrm flipH="1" rot="10800000">
                <a:off x="-1" y="1981200"/>
                <a:ext cx="1219202" cy="91440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0000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1052" name="Google Shape;1052;p43"/>
              <p:cNvSpPr/>
              <p:nvPr/>
            </p:nvSpPr>
            <p:spPr>
              <a:xfrm>
                <a:off x="1066800" y="19812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00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43"/>
              <p:cNvSpPr/>
              <p:nvPr/>
            </p:nvSpPr>
            <p:spPr>
              <a:xfrm>
                <a:off x="6858000" y="21336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00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43"/>
              <p:cNvSpPr/>
              <p:nvPr/>
            </p:nvSpPr>
            <p:spPr>
              <a:xfrm>
                <a:off x="8039100" y="2857500"/>
                <a:ext cx="152400" cy="152400"/>
              </a:xfrm>
              <a:prstGeom prst="ellipse">
                <a:avLst/>
              </a:prstGeom>
              <a:solidFill>
                <a:srgbClr val="000000"/>
              </a:solidFill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43"/>
              <p:cNvSpPr/>
              <p:nvPr/>
            </p:nvSpPr>
            <p:spPr>
              <a:xfrm>
                <a:off x="3276600" y="0"/>
                <a:ext cx="228600" cy="22860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0099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56" name="Google Shape;1056;p43"/>
          <p:cNvSpPr/>
          <p:nvPr/>
        </p:nvSpPr>
        <p:spPr>
          <a:xfrm>
            <a:off x="5051425" y="9486900"/>
            <a:ext cx="149225" cy="149229"/>
          </a:xfrm>
          <a:prstGeom prst="ellipse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7" name="Google Shape;1057;p43"/>
          <p:cNvCxnSpPr/>
          <p:nvPr/>
        </p:nvCxnSpPr>
        <p:spPr>
          <a:xfrm>
            <a:off x="8321676" y="7807325"/>
            <a:ext cx="568325" cy="1743075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8" name="Google Shape;1058;p43"/>
          <p:cNvCxnSpPr/>
          <p:nvPr/>
        </p:nvCxnSpPr>
        <p:spPr>
          <a:xfrm flipH="1" rot="10800000">
            <a:off x="5835650" y="4229100"/>
            <a:ext cx="1241427" cy="335597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59" name="Google Shape;1059;p43"/>
          <p:cNvCxnSpPr/>
          <p:nvPr/>
        </p:nvCxnSpPr>
        <p:spPr>
          <a:xfrm flipH="1" rot="10800000">
            <a:off x="5181600" y="7807325"/>
            <a:ext cx="657226" cy="1692275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0" name="Google Shape;1060;p43"/>
          <p:cNvSpPr/>
          <p:nvPr/>
        </p:nvSpPr>
        <p:spPr>
          <a:xfrm>
            <a:off x="5832475" y="7588250"/>
            <a:ext cx="152401" cy="149229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3"/>
          <p:cNvSpPr/>
          <p:nvPr/>
        </p:nvSpPr>
        <p:spPr>
          <a:xfrm>
            <a:off x="6934200" y="4156076"/>
            <a:ext cx="225429" cy="225425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18.png" id="1062" name="Google Shape;10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900" y="6315076"/>
            <a:ext cx="3498850" cy="2425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9.png" id="1063" name="Google Shape;10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2826" y="6315076"/>
            <a:ext cx="3511551" cy="242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43"/>
          <p:cNvSpPr/>
          <p:nvPr/>
        </p:nvSpPr>
        <p:spPr>
          <a:xfrm>
            <a:off x="8175626" y="7588250"/>
            <a:ext cx="149225" cy="149229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00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5" name="Google Shape;1065;p43"/>
          <p:cNvCxnSpPr/>
          <p:nvPr/>
        </p:nvCxnSpPr>
        <p:spPr>
          <a:xfrm rot="10800000">
            <a:off x="7153276" y="4298950"/>
            <a:ext cx="1168401" cy="328612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066" name="Google Shape;1066;p43"/>
          <p:cNvSpPr/>
          <p:nvPr/>
        </p:nvSpPr>
        <p:spPr>
          <a:xfrm>
            <a:off x="8816976" y="9458325"/>
            <a:ext cx="149225" cy="152401"/>
          </a:xfrm>
          <a:prstGeom prst="ellipse">
            <a:avLst/>
          </a:prstGeom>
          <a:solidFill>
            <a:srgbClr val="000000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3"/>
          <p:cNvSpPr txBox="1"/>
          <p:nvPr>
            <p:ph idx="12" type="sldNum"/>
          </p:nvPr>
        </p:nvSpPr>
        <p:spPr>
          <a:xfrm>
            <a:off x="20233605" y="12586520"/>
            <a:ext cx="591117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8" name="Google Shape;1068;p43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4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8.tif" id="1075" name="Google Shape;10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5077" y="2679294"/>
            <a:ext cx="8639273" cy="6479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tif" id="1076" name="Google Shape;107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2936" y="2689124"/>
            <a:ext cx="8639273" cy="6479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44"/>
          <p:cNvSpPr/>
          <p:nvPr/>
        </p:nvSpPr>
        <p:spPr>
          <a:xfrm>
            <a:off x="3401962" y="2654710"/>
            <a:ext cx="8652386" cy="650895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44"/>
          <p:cNvSpPr/>
          <p:nvPr/>
        </p:nvSpPr>
        <p:spPr>
          <a:xfrm>
            <a:off x="12319820" y="2684205"/>
            <a:ext cx="8652386" cy="650895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44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45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8.tif" id="1086" name="Google Shape;10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5077" y="2679294"/>
            <a:ext cx="8639273" cy="6479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tif" id="1087" name="Google Shape;108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2936" y="2689124"/>
            <a:ext cx="8639273" cy="6479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45"/>
          <p:cNvSpPr/>
          <p:nvPr/>
        </p:nvSpPr>
        <p:spPr>
          <a:xfrm>
            <a:off x="7433185" y="5407740"/>
            <a:ext cx="452285" cy="943899"/>
          </a:xfrm>
          <a:prstGeom prst="rect">
            <a:avLst/>
          </a:prstGeom>
          <a:noFill/>
          <a:ln cap="flat" cmpd="sng" w="1143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45"/>
          <p:cNvSpPr/>
          <p:nvPr/>
        </p:nvSpPr>
        <p:spPr>
          <a:xfrm>
            <a:off x="10785985" y="3932899"/>
            <a:ext cx="422787" cy="717757"/>
          </a:xfrm>
          <a:prstGeom prst="rect">
            <a:avLst/>
          </a:prstGeom>
          <a:noFill/>
          <a:ln cap="flat" cmpd="sng" w="1143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5"/>
          <p:cNvSpPr/>
          <p:nvPr/>
        </p:nvSpPr>
        <p:spPr>
          <a:xfrm>
            <a:off x="7098889" y="2900514"/>
            <a:ext cx="393289" cy="383461"/>
          </a:xfrm>
          <a:prstGeom prst="rect">
            <a:avLst/>
          </a:prstGeom>
          <a:noFill/>
          <a:ln cap="flat" cmpd="sng" w="114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45"/>
          <p:cNvSpPr/>
          <p:nvPr/>
        </p:nvSpPr>
        <p:spPr>
          <a:xfrm>
            <a:off x="9094837" y="7511839"/>
            <a:ext cx="442453" cy="353967"/>
          </a:xfrm>
          <a:prstGeom prst="rect">
            <a:avLst/>
          </a:prstGeom>
          <a:noFill/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5"/>
          <p:cNvSpPr/>
          <p:nvPr/>
        </p:nvSpPr>
        <p:spPr>
          <a:xfrm>
            <a:off x="4857133" y="4129547"/>
            <a:ext cx="845577" cy="865239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5"/>
          <p:cNvSpPr/>
          <p:nvPr/>
        </p:nvSpPr>
        <p:spPr>
          <a:xfrm>
            <a:off x="3401962" y="2654710"/>
            <a:ext cx="8652386" cy="650895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45"/>
          <p:cNvSpPr/>
          <p:nvPr/>
        </p:nvSpPr>
        <p:spPr>
          <a:xfrm>
            <a:off x="12319820" y="2684205"/>
            <a:ext cx="8652386" cy="650895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5"/>
          <p:cNvSpPr/>
          <p:nvPr/>
        </p:nvSpPr>
        <p:spPr>
          <a:xfrm>
            <a:off x="5761701" y="6007503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5"/>
          <p:cNvSpPr/>
          <p:nvPr/>
        </p:nvSpPr>
        <p:spPr>
          <a:xfrm>
            <a:off x="8858862" y="4975116"/>
            <a:ext cx="491615" cy="403129"/>
          </a:xfrm>
          <a:prstGeom prst="rect">
            <a:avLst/>
          </a:prstGeom>
          <a:noFill/>
          <a:ln cap="flat" cmpd="sng" w="1143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45"/>
          <p:cNvSpPr/>
          <p:nvPr/>
        </p:nvSpPr>
        <p:spPr>
          <a:xfrm>
            <a:off x="11680720" y="5338907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45"/>
          <p:cNvSpPr txBox="1"/>
          <p:nvPr/>
        </p:nvSpPr>
        <p:spPr>
          <a:xfrm>
            <a:off x="6003151" y="10521126"/>
            <a:ext cx="1280117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we need to search for matches only along horizontal lines?</a:t>
            </a:r>
            <a:endParaRPr/>
          </a:p>
        </p:txBody>
      </p:sp>
      <p:sp>
        <p:nvSpPr>
          <p:cNvPr id="1099" name="Google Shape;1099;p45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6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46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8.tif" id="1106" name="Google Shape;110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5077" y="2679294"/>
            <a:ext cx="8639273" cy="6479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tif" id="1107" name="Google Shape;110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2936" y="2689124"/>
            <a:ext cx="8639273" cy="647945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46"/>
          <p:cNvSpPr/>
          <p:nvPr/>
        </p:nvSpPr>
        <p:spPr>
          <a:xfrm>
            <a:off x="7433185" y="5407740"/>
            <a:ext cx="452285" cy="943899"/>
          </a:xfrm>
          <a:prstGeom prst="rect">
            <a:avLst/>
          </a:prstGeom>
          <a:noFill/>
          <a:ln cap="flat" cmpd="sng" w="1143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46"/>
          <p:cNvSpPr/>
          <p:nvPr/>
        </p:nvSpPr>
        <p:spPr>
          <a:xfrm>
            <a:off x="10785985" y="3932899"/>
            <a:ext cx="422787" cy="717757"/>
          </a:xfrm>
          <a:prstGeom prst="rect">
            <a:avLst/>
          </a:prstGeom>
          <a:noFill/>
          <a:ln cap="flat" cmpd="sng" w="1143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46"/>
          <p:cNvSpPr/>
          <p:nvPr/>
        </p:nvSpPr>
        <p:spPr>
          <a:xfrm>
            <a:off x="7098889" y="2900514"/>
            <a:ext cx="393289" cy="383461"/>
          </a:xfrm>
          <a:prstGeom prst="rect">
            <a:avLst/>
          </a:prstGeom>
          <a:noFill/>
          <a:ln cap="flat" cmpd="sng" w="114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6"/>
          <p:cNvSpPr/>
          <p:nvPr/>
        </p:nvSpPr>
        <p:spPr>
          <a:xfrm>
            <a:off x="9094837" y="7511839"/>
            <a:ext cx="442453" cy="353967"/>
          </a:xfrm>
          <a:prstGeom prst="rect">
            <a:avLst/>
          </a:prstGeom>
          <a:noFill/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46"/>
          <p:cNvSpPr/>
          <p:nvPr/>
        </p:nvSpPr>
        <p:spPr>
          <a:xfrm>
            <a:off x="4857133" y="4129547"/>
            <a:ext cx="845577" cy="865239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46"/>
          <p:cNvSpPr/>
          <p:nvPr/>
        </p:nvSpPr>
        <p:spPr>
          <a:xfrm>
            <a:off x="3401962" y="2654710"/>
            <a:ext cx="8652386" cy="650895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46"/>
          <p:cNvSpPr/>
          <p:nvPr/>
        </p:nvSpPr>
        <p:spPr>
          <a:xfrm>
            <a:off x="12319820" y="2684205"/>
            <a:ext cx="8652386" cy="650895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46"/>
          <p:cNvSpPr/>
          <p:nvPr/>
        </p:nvSpPr>
        <p:spPr>
          <a:xfrm>
            <a:off x="5761701" y="6007503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46"/>
          <p:cNvSpPr/>
          <p:nvPr/>
        </p:nvSpPr>
        <p:spPr>
          <a:xfrm>
            <a:off x="8858862" y="4975116"/>
            <a:ext cx="491615" cy="403129"/>
          </a:xfrm>
          <a:prstGeom prst="rect">
            <a:avLst/>
          </a:prstGeom>
          <a:noFill/>
          <a:ln cap="flat" cmpd="sng" w="1143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6"/>
          <p:cNvSpPr/>
          <p:nvPr/>
        </p:nvSpPr>
        <p:spPr>
          <a:xfrm>
            <a:off x="11680720" y="5338907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46"/>
          <p:cNvSpPr/>
          <p:nvPr/>
        </p:nvSpPr>
        <p:spPr>
          <a:xfrm>
            <a:off x="6253315" y="8701541"/>
            <a:ext cx="442453" cy="353967"/>
          </a:xfrm>
          <a:prstGeom prst="rect">
            <a:avLst/>
          </a:prstGeom>
          <a:noFill/>
          <a:ln cap="flat" cmpd="sng" w="1143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9" name="Google Shape;1119;p46"/>
          <p:cNvGrpSpPr/>
          <p:nvPr/>
        </p:nvGrpSpPr>
        <p:grpSpPr>
          <a:xfrm>
            <a:off x="12319819" y="2664542"/>
            <a:ext cx="8770375" cy="6508956"/>
            <a:chOff x="-1" y="0"/>
            <a:chExt cx="8770374" cy="6508955"/>
          </a:xfrm>
        </p:grpSpPr>
        <p:grpSp>
          <p:nvGrpSpPr>
            <p:cNvPr id="1120" name="Google Shape;1120;p46"/>
            <p:cNvGrpSpPr/>
            <p:nvPr/>
          </p:nvGrpSpPr>
          <p:grpSpPr>
            <a:xfrm>
              <a:off x="-1" y="0"/>
              <a:ext cx="8770374" cy="6508955"/>
              <a:chOff x="0" y="0"/>
              <a:chExt cx="8770372" cy="6508954"/>
            </a:xfrm>
          </p:grpSpPr>
          <p:sp>
            <p:nvSpPr>
              <p:cNvPr id="1121" name="Google Shape;1121;p46"/>
              <p:cNvSpPr/>
              <p:nvPr/>
            </p:nvSpPr>
            <p:spPr>
              <a:xfrm>
                <a:off x="4031223" y="2753030"/>
                <a:ext cx="452283" cy="943899"/>
              </a:xfrm>
              <a:prstGeom prst="rect">
                <a:avLst/>
              </a:prstGeom>
              <a:noFill/>
              <a:ln cap="flat" cmpd="sng" w="11430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46"/>
              <p:cNvSpPr/>
              <p:nvPr/>
            </p:nvSpPr>
            <p:spPr>
              <a:xfrm>
                <a:off x="7384023" y="1278189"/>
                <a:ext cx="422785" cy="717757"/>
              </a:xfrm>
              <a:prstGeom prst="rect">
                <a:avLst/>
              </a:prstGeom>
              <a:noFill/>
              <a:ln cap="flat" cmpd="sng" w="1143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46"/>
              <p:cNvSpPr/>
              <p:nvPr/>
            </p:nvSpPr>
            <p:spPr>
              <a:xfrm>
                <a:off x="3696927" y="245803"/>
                <a:ext cx="393287" cy="383461"/>
              </a:xfrm>
              <a:prstGeom prst="rect">
                <a:avLst/>
              </a:prstGeom>
              <a:noFill/>
              <a:ln cap="flat" cmpd="sng" w="11430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6"/>
              <p:cNvSpPr/>
              <p:nvPr/>
            </p:nvSpPr>
            <p:spPr>
              <a:xfrm>
                <a:off x="5692875" y="4857129"/>
                <a:ext cx="442451" cy="353967"/>
              </a:xfrm>
              <a:prstGeom prst="rect">
                <a:avLst/>
              </a:prstGeom>
              <a:noFill/>
              <a:ln cap="flat" cmpd="sng" w="1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6"/>
              <p:cNvSpPr/>
              <p:nvPr/>
            </p:nvSpPr>
            <p:spPr>
              <a:xfrm>
                <a:off x="1455172" y="1474837"/>
                <a:ext cx="845574" cy="865239"/>
              </a:xfrm>
              <a:prstGeom prst="rect">
                <a:avLst/>
              </a:prstGeom>
              <a:noFill/>
              <a:ln cap="flat" cmpd="sng" w="1143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46"/>
              <p:cNvSpPr/>
              <p:nvPr/>
            </p:nvSpPr>
            <p:spPr>
              <a:xfrm>
                <a:off x="0" y="0"/>
                <a:ext cx="8652385" cy="6508954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46"/>
              <p:cNvSpPr/>
              <p:nvPr/>
            </p:nvSpPr>
            <p:spPr>
              <a:xfrm>
                <a:off x="2359739" y="3352793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FFC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6"/>
              <p:cNvSpPr/>
              <p:nvPr/>
            </p:nvSpPr>
            <p:spPr>
              <a:xfrm>
                <a:off x="5456899" y="2320405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2626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6"/>
              <p:cNvSpPr/>
              <p:nvPr/>
            </p:nvSpPr>
            <p:spPr>
              <a:xfrm>
                <a:off x="8278757" y="2684197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FF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0" name="Google Shape;1130;p46"/>
            <p:cNvSpPr/>
            <p:nvPr/>
          </p:nvSpPr>
          <p:spPr>
            <a:xfrm>
              <a:off x="2851353" y="6046832"/>
              <a:ext cx="442451" cy="353967"/>
            </a:xfrm>
            <a:prstGeom prst="rect">
              <a:avLst/>
            </a:prstGeom>
            <a:noFill/>
            <a:ln cap="flat" cmpd="sng" w="11430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1" name="Google Shape;1131;p46"/>
          <p:cNvGrpSpPr/>
          <p:nvPr/>
        </p:nvGrpSpPr>
        <p:grpSpPr>
          <a:xfrm>
            <a:off x="12359146" y="3087328"/>
            <a:ext cx="8455748" cy="5820698"/>
            <a:chOff x="-1" y="-1"/>
            <a:chExt cx="8455747" cy="5820697"/>
          </a:xfrm>
        </p:grpSpPr>
        <p:cxnSp>
          <p:nvCxnSpPr>
            <p:cNvPr id="1132" name="Google Shape;1132;p46"/>
            <p:cNvCxnSpPr/>
            <p:nvPr/>
          </p:nvCxnSpPr>
          <p:spPr>
            <a:xfrm flipH="1">
              <a:off x="658761" y="-1"/>
              <a:ext cx="3185654" cy="25563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3" name="Google Shape;1133;p46"/>
            <p:cNvCxnSpPr/>
            <p:nvPr/>
          </p:nvCxnSpPr>
          <p:spPr>
            <a:xfrm flipH="1">
              <a:off x="-1" y="1514165"/>
              <a:ext cx="1838633" cy="560441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4" name="Google Shape;1134;p46"/>
            <p:cNvCxnSpPr/>
            <p:nvPr/>
          </p:nvCxnSpPr>
          <p:spPr>
            <a:xfrm flipH="1" rot="10800000">
              <a:off x="5820698" y="3716591"/>
              <a:ext cx="501445" cy="85540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5" name="Google Shape;1135;p46"/>
            <p:cNvCxnSpPr/>
            <p:nvPr/>
          </p:nvCxnSpPr>
          <p:spPr>
            <a:xfrm rot="10800000">
              <a:off x="4424517" y="1209367"/>
              <a:ext cx="3136489" cy="29497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6" name="Google Shape;1136;p46"/>
            <p:cNvCxnSpPr/>
            <p:nvPr/>
          </p:nvCxnSpPr>
          <p:spPr>
            <a:xfrm rot="10800000">
              <a:off x="4257368" y="2084438"/>
              <a:ext cx="1376519" cy="19666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7" name="Google Shape;1137;p46"/>
            <p:cNvCxnSpPr/>
            <p:nvPr/>
          </p:nvCxnSpPr>
          <p:spPr>
            <a:xfrm rot="10800000">
              <a:off x="5555225" y="2025444"/>
              <a:ext cx="2900521" cy="403126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8" name="Google Shape;1138;p46"/>
            <p:cNvCxnSpPr/>
            <p:nvPr/>
          </p:nvCxnSpPr>
          <p:spPr>
            <a:xfrm flipH="1">
              <a:off x="2349909" y="3136489"/>
              <a:ext cx="206477" cy="403123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39" name="Google Shape;1139;p46"/>
            <p:cNvCxnSpPr/>
            <p:nvPr/>
          </p:nvCxnSpPr>
          <p:spPr>
            <a:xfrm flipH="1" rot="10800000">
              <a:off x="3038168" y="5270089"/>
              <a:ext cx="2222091" cy="550607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40" name="Google Shape;1140;p46"/>
            <p:cNvCxnSpPr/>
            <p:nvPr/>
          </p:nvCxnSpPr>
          <p:spPr>
            <a:xfrm flipH="1" rot="10800000">
              <a:off x="4178710" y="2792359"/>
              <a:ext cx="176981" cy="11798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41" name="Google Shape;1141;p46"/>
          <p:cNvSpPr txBox="1"/>
          <p:nvPr/>
        </p:nvSpPr>
        <p:spPr>
          <a:xfrm>
            <a:off x="6003151" y="10521126"/>
            <a:ext cx="1280117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we need to search for matches only along horizontal lines?</a:t>
            </a:r>
            <a:endParaRPr/>
          </a:p>
        </p:txBody>
      </p:sp>
      <p:sp>
        <p:nvSpPr>
          <p:cNvPr id="1142" name="Google Shape;1142;p46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47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47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9" name="Google Shape;1149;p47"/>
          <p:cNvSpPr/>
          <p:nvPr/>
        </p:nvSpPr>
        <p:spPr>
          <a:xfrm>
            <a:off x="7433185" y="5407740"/>
            <a:ext cx="452285" cy="943899"/>
          </a:xfrm>
          <a:prstGeom prst="rect">
            <a:avLst/>
          </a:prstGeom>
          <a:noFill/>
          <a:ln cap="flat" cmpd="sng" w="1143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7"/>
          <p:cNvSpPr/>
          <p:nvPr/>
        </p:nvSpPr>
        <p:spPr>
          <a:xfrm>
            <a:off x="10785985" y="3932899"/>
            <a:ext cx="422787" cy="717757"/>
          </a:xfrm>
          <a:prstGeom prst="rect">
            <a:avLst/>
          </a:prstGeom>
          <a:noFill/>
          <a:ln cap="flat" cmpd="sng" w="1143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7"/>
          <p:cNvSpPr/>
          <p:nvPr/>
        </p:nvSpPr>
        <p:spPr>
          <a:xfrm>
            <a:off x="7098889" y="2900514"/>
            <a:ext cx="393289" cy="383461"/>
          </a:xfrm>
          <a:prstGeom prst="rect">
            <a:avLst/>
          </a:prstGeom>
          <a:noFill/>
          <a:ln cap="flat" cmpd="sng" w="1143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7"/>
          <p:cNvSpPr/>
          <p:nvPr/>
        </p:nvSpPr>
        <p:spPr>
          <a:xfrm>
            <a:off x="9094837" y="7511839"/>
            <a:ext cx="442453" cy="353967"/>
          </a:xfrm>
          <a:prstGeom prst="rect">
            <a:avLst/>
          </a:prstGeom>
          <a:noFill/>
          <a:ln cap="flat" cmpd="sng" w="1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47"/>
          <p:cNvSpPr/>
          <p:nvPr/>
        </p:nvSpPr>
        <p:spPr>
          <a:xfrm>
            <a:off x="4857133" y="4129547"/>
            <a:ext cx="845577" cy="865239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7"/>
          <p:cNvSpPr/>
          <p:nvPr/>
        </p:nvSpPr>
        <p:spPr>
          <a:xfrm>
            <a:off x="3401962" y="2654710"/>
            <a:ext cx="8652386" cy="650895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7"/>
          <p:cNvSpPr/>
          <p:nvPr/>
        </p:nvSpPr>
        <p:spPr>
          <a:xfrm>
            <a:off x="12319820" y="2684205"/>
            <a:ext cx="8652386" cy="650895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47"/>
          <p:cNvSpPr/>
          <p:nvPr/>
        </p:nvSpPr>
        <p:spPr>
          <a:xfrm>
            <a:off x="5761701" y="6007503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47"/>
          <p:cNvSpPr/>
          <p:nvPr/>
        </p:nvSpPr>
        <p:spPr>
          <a:xfrm>
            <a:off x="8858862" y="4975116"/>
            <a:ext cx="491615" cy="403129"/>
          </a:xfrm>
          <a:prstGeom prst="rect">
            <a:avLst/>
          </a:prstGeom>
          <a:noFill/>
          <a:ln cap="flat" cmpd="sng" w="1143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47"/>
          <p:cNvSpPr/>
          <p:nvPr/>
        </p:nvSpPr>
        <p:spPr>
          <a:xfrm>
            <a:off x="11680720" y="5338907"/>
            <a:ext cx="491615" cy="403129"/>
          </a:xfrm>
          <a:prstGeom prst="rect">
            <a:avLst/>
          </a:prstGeom>
          <a:noFill/>
          <a:ln cap="flat" cmpd="sng" w="1143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47"/>
          <p:cNvSpPr/>
          <p:nvPr/>
        </p:nvSpPr>
        <p:spPr>
          <a:xfrm>
            <a:off x="6253315" y="8701541"/>
            <a:ext cx="442453" cy="353967"/>
          </a:xfrm>
          <a:prstGeom prst="rect">
            <a:avLst/>
          </a:prstGeom>
          <a:noFill/>
          <a:ln cap="flat" cmpd="sng" w="1143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0" name="Google Shape;1160;p47"/>
          <p:cNvGrpSpPr/>
          <p:nvPr/>
        </p:nvGrpSpPr>
        <p:grpSpPr>
          <a:xfrm>
            <a:off x="12319819" y="2664542"/>
            <a:ext cx="8770375" cy="6508956"/>
            <a:chOff x="-1" y="0"/>
            <a:chExt cx="8770374" cy="6508955"/>
          </a:xfrm>
        </p:grpSpPr>
        <p:grpSp>
          <p:nvGrpSpPr>
            <p:cNvPr id="1161" name="Google Shape;1161;p47"/>
            <p:cNvGrpSpPr/>
            <p:nvPr/>
          </p:nvGrpSpPr>
          <p:grpSpPr>
            <a:xfrm>
              <a:off x="-1" y="0"/>
              <a:ext cx="8770374" cy="6508955"/>
              <a:chOff x="0" y="0"/>
              <a:chExt cx="8770372" cy="6508954"/>
            </a:xfrm>
          </p:grpSpPr>
          <p:sp>
            <p:nvSpPr>
              <p:cNvPr id="1162" name="Google Shape;1162;p47"/>
              <p:cNvSpPr/>
              <p:nvPr/>
            </p:nvSpPr>
            <p:spPr>
              <a:xfrm>
                <a:off x="4031223" y="2753030"/>
                <a:ext cx="452283" cy="943899"/>
              </a:xfrm>
              <a:prstGeom prst="rect">
                <a:avLst/>
              </a:prstGeom>
              <a:noFill/>
              <a:ln cap="flat" cmpd="sng" w="11430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47"/>
              <p:cNvSpPr/>
              <p:nvPr/>
            </p:nvSpPr>
            <p:spPr>
              <a:xfrm>
                <a:off x="7384023" y="1278189"/>
                <a:ext cx="422785" cy="717757"/>
              </a:xfrm>
              <a:prstGeom prst="rect">
                <a:avLst/>
              </a:prstGeom>
              <a:noFill/>
              <a:ln cap="flat" cmpd="sng" w="1143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47"/>
              <p:cNvSpPr/>
              <p:nvPr/>
            </p:nvSpPr>
            <p:spPr>
              <a:xfrm>
                <a:off x="3696927" y="245803"/>
                <a:ext cx="393287" cy="383461"/>
              </a:xfrm>
              <a:prstGeom prst="rect">
                <a:avLst/>
              </a:prstGeom>
              <a:noFill/>
              <a:ln cap="flat" cmpd="sng" w="11430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47"/>
              <p:cNvSpPr/>
              <p:nvPr/>
            </p:nvSpPr>
            <p:spPr>
              <a:xfrm>
                <a:off x="5692875" y="4857129"/>
                <a:ext cx="442451" cy="353967"/>
              </a:xfrm>
              <a:prstGeom prst="rect">
                <a:avLst/>
              </a:prstGeom>
              <a:noFill/>
              <a:ln cap="flat" cmpd="sng" w="1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47"/>
              <p:cNvSpPr/>
              <p:nvPr/>
            </p:nvSpPr>
            <p:spPr>
              <a:xfrm>
                <a:off x="1455172" y="1474837"/>
                <a:ext cx="845574" cy="865239"/>
              </a:xfrm>
              <a:prstGeom prst="rect">
                <a:avLst/>
              </a:prstGeom>
              <a:noFill/>
              <a:ln cap="flat" cmpd="sng" w="1143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47"/>
              <p:cNvSpPr/>
              <p:nvPr/>
            </p:nvSpPr>
            <p:spPr>
              <a:xfrm>
                <a:off x="0" y="0"/>
                <a:ext cx="8652385" cy="6508954"/>
              </a:xfrm>
              <a:prstGeom prst="rect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47"/>
              <p:cNvSpPr/>
              <p:nvPr/>
            </p:nvSpPr>
            <p:spPr>
              <a:xfrm>
                <a:off x="2359739" y="3352793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FFC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47"/>
              <p:cNvSpPr/>
              <p:nvPr/>
            </p:nvSpPr>
            <p:spPr>
              <a:xfrm>
                <a:off x="5456899" y="2320405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26262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47"/>
              <p:cNvSpPr/>
              <p:nvPr/>
            </p:nvSpPr>
            <p:spPr>
              <a:xfrm>
                <a:off x="8278757" y="2684197"/>
                <a:ext cx="491615" cy="403129"/>
              </a:xfrm>
              <a:prstGeom prst="rect">
                <a:avLst/>
              </a:prstGeom>
              <a:noFill/>
              <a:ln cap="flat" cmpd="sng" w="114300">
                <a:solidFill>
                  <a:srgbClr val="FF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1" name="Google Shape;1171;p47"/>
            <p:cNvSpPr/>
            <p:nvPr/>
          </p:nvSpPr>
          <p:spPr>
            <a:xfrm>
              <a:off x="2851353" y="6046832"/>
              <a:ext cx="442451" cy="353967"/>
            </a:xfrm>
            <a:prstGeom prst="rect">
              <a:avLst/>
            </a:prstGeom>
            <a:noFill/>
            <a:ln cap="flat" cmpd="sng" w="114300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2" name="Google Shape;1172;p47"/>
          <p:cNvGrpSpPr/>
          <p:nvPr/>
        </p:nvGrpSpPr>
        <p:grpSpPr>
          <a:xfrm>
            <a:off x="12359146" y="3087328"/>
            <a:ext cx="8455748" cy="5820698"/>
            <a:chOff x="-1" y="-1"/>
            <a:chExt cx="8455747" cy="5820697"/>
          </a:xfrm>
        </p:grpSpPr>
        <p:cxnSp>
          <p:nvCxnSpPr>
            <p:cNvPr id="1173" name="Google Shape;1173;p47"/>
            <p:cNvCxnSpPr/>
            <p:nvPr/>
          </p:nvCxnSpPr>
          <p:spPr>
            <a:xfrm flipH="1">
              <a:off x="658761" y="-1"/>
              <a:ext cx="3185654" cy="25563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4" name="Google Shape;1174;p47"/>
            <p:cNvCxnSpPr/>
            <p:nvPr/>
          </p:nvCxnSpPr>
          <p:spPr>
            <a:xfrm flipH="1">
              <a:off x="-1" y="1514165"/>
              <a:ext cx="1838633" cy="560441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5" name="Google Shape;1175;p47"/>
            <p:cNvCxnSpPr/>
            <p:nvPr/>
          </p:nvCxnSpPr>
          <p:spPr>
            <a:xfrm flipH="1" rot="10800000">
              <a:off x="5820698" y="3716591"/>
              <a:ext cx="501445" cy="85540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6" name="Google Shape;1176;p47"/>
            <p:cNvCxnSpPr/>
            <p:nvPr/>
          </p:nvCxnSpPr>
          <p:spPr>
            <a:xfrm rot="10800000">
              <a:off x="4424517" y="1209367"/>
              <a:ext cx="3136489" cy="29497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7" name="Google Shape;1177;p47"/>
            <p:cNvCxnSpPr/>
            <p:nvPr/>
          </p:nvCxnSpPr>
          <p:spPr>
            <a:xfrm rot="10800000">
              <a:off x="4257368" y="2084438"/>
              <a:ext cx="1376519" cy="19666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8" name="Google Shape;1178;p47"/>
            <p:cNvCxnSpPr/>
            <p:nvPr/>
          </p:nvCxnSpPr>
          <p:spPr>
            <a:xfrm rot="10800000">
              <a:off x="5555225" y="2025444"/>
              <a:ext cx="2900521" cy="403126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79" name="Google Shape;1179;p47"/>
            <p:cNvCxnSpPr/>
            <p:nvPr/>
          </p:nvCxnSpPr>
          <p:spPr>
            <a:xfrm flipH="1">
              <a:off x="2349909" y="3136489"/>
              <a:ext cx="206477" cy="403123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0" name="Google Shape;1180;p47"/>
            <p:cNvCxnSpPr/>
            <p:nvPr/>
          </p:nvCxnSpPr>
          <p:spPr>
            <a:xfrm flipH="1" rot="10800000">
              <a:off x="3038168" y="5270089"/>
              <a:ext cx="2222091" cy="550607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1" name="Google Shape;1181;p47"/>
            <p:cNvCxnSpPr/>
            <p:nvPr/>
          </p:nvCxnSpPr>
          <p:spPr>
            <a:xfrm flipH="1" rot="10800000">
              <a:off x="4178710" y="2792359"/>
              <a:ext cx="176981" cy="117989"/>
            </a:xfrm>
            <a:prstGeom prst="straightConnector1">
              <a:avLst/>
            </a:prstGeom>
            <a:noFill/>
            <a:ln cap="flat" cmpd="sng" w="76200">
              <a:solidFill>
                <a:srgbClr val="3C8C9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82" name="Google Shape;1182;p47"/>
          <p:cNvSpPr txBox="1"/>
          <p:nvPr/>
        </p:nvSpPr>
        <p:spPr>
          <a:xfrm>
            <a:off x="4601497" y="11680724"/>
            <a:ext cx="15595497" cy="1234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looks like we might need to search everywhere... are there any constraints</a:t>
            </a:r>
            <a:b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can guide the search?</a:t>
            </a:r>
            <a:endParaRPr/>
          </a:p>
        </p:txBody>
      </p:sp>
      <p:sp>
        <p:nvSpPr>
          <p:cNvPr id="1183" name="Google Shape;1183;p47"/>
          <p:cNvSpPr txBox="1"/>
          <p:nvPr/>
        </p:nvSpPr>
        <p:spPr>
          <a:xfrm>
            <a:off x="6003151" y="10521126"/>
            <a:ext cx="1280117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we need to search for matches only along horizontal lines?</a:t>
            </a:r>
            <a:endParaRPr/>
          </a:p>
        </p:txBody>
      </p:sp>
      <p:grpSp>
        <p:nvGrpSpPr>
          <p:cNvPr id="1184" name="Google Shape;1184;p47"/>
          <p:cNvGrpSpPr/>
          <p:nvPr/>
        </p:nvGrpSpPr>
        <p:grpSpPr>
          <a:xfrm>
            <a:off x="6371304" y="10363200"/>
            <a:ext cx="11680725" cy="884906"/>
            <a:chOff x="0" y="0"/>
            <a:chExt cx="11680723" cy="884904"/>
          </a:xfrm>
        </p:grpSpPr>
        <p:cxnSp>
          <p:nvCxnSpPr>
            <p:cNvPr id="1185" name="Google Shape;1185;p47"/>
            <p:cNvCxnSpPr/>
            <p:nvPr/>
          </p:nvCxnSpPr>
          <p:spPr>
            <a:xfrm>
              <a:off x="58991" y="0"/>
              <a:ext cx="11621732" cy="884904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6" name="Google Shape;1186;p47"/>
            <p:cNvCxnSpPr/>
            <p:nvPr/>
          </p:nvCxnSpPr>
          <p:spPr>
            <a:xfrm flipH="1" rot="10800000">
              <a:off x="0" y="137654"/>
              <a:ext cx="11228438" cy="668593"/>
            </a:xfrm>
            <a:prstGeom prst="straightConnector1">
              <a:avLst/>
            </a:prstGeom>
            <a:solidFill>
              <a:srgbClr val="BBE0E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7" name="Google Shape;1187;p47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48"/>
          <p:cNvSpPr txBox="1"/>
          <p:nvPr/>
        </p:nvSpPr>
        <p:spPr>
          <a:xfrm>
            <a:off x="3048000" y="546099"/>
            <a:ext cx="18288000" cy="125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 correspondence constraints</a:t>
            </a:r>
            <a:endParaRPr/>
          </a:p>
        </p:txBody>
      </p:sp>
      <p:sp>
        <p:nvSpPr>
          <p:cNvPr id="1193" name="Google Shape;1193;p48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8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8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196" name="Google Shape;1196;p48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197" name="Google Shape;1197;p48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8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9" name="Google Shape;1199;p48"/>
          <p:cNvGrpSpPr/>
          <p:nvPr/>
        </p:nvGrpSpPr>
        <p:grpSpPr>
          <a:xfrm>
            <a:off x="8347076" y="5031144"/>
            <a:ext cx="1320968" cy="1270001"/>
            <a:chOff x="0" y="0"/>
            <a:chExt cx="1320967" cy="1270000"/>
          </a:xfrm>
        </p:grpSpPr>
        <p:sp>
          <p:nvSpPr>
            <p:cNvPr id="1200" name="Google Shape;1200;p48"/>
            <p:cNvSpPr/>
            <p:nvPr/>
          </p:nvSpPr>
          <p:spPr>
            <a:xfrm>
              <a:off x="0" y="1232"/>
              <a:ext cx="152400" cy="1524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1" name="Google Shape;1201;p48"/>
            <p:cNvCxnSpPr/>
            <p:nvPr/>
          </p:nvCxnSpPr>
          <p:spPr>
            <a:xfrm>
              <a:off x="50966" y="0"/>
              <a:ext cx="1270001" cy="127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grpSp>
        <p:nvGrpSpPr>
          <p:cNvPr id="1202" name="Google Shape;1202;p48"/>
          <p:cNvGrpSpPr/>
          <p:nvPr/>
        </p:nvGrpSpPr>
        <p:grpSpPr>
          <a:xfrm>
            <a:off x="14946763" y="4710116"/>
            <a:ext cx="2483842" cy="1761147"/>
            <a:chOff x="0" y="-1"/>
            <a:chExt cx="2483841" cy="1761146"/>
          </a:xfrm>
        </p:grpSpPr>
        <p:sp>
          <p:nvSpPr>
            <p:cNvPr id="1203" name="Google Shape;1203;p48"/>
            <p:cNvSpPr txBox="1"/>
            <p:nvPr/>
          </p:nvSpPr>
          <p:spPr>
            <a:xfrm>
              <a:off x="590875" y="-1"/>
              <a:ext cx="915761" cy="701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p’ ?</a:t>
              </a:r>
              <a:endParaRPr/>
            </a:p>
          </p:txBody>
        </p:sp>
        <p:sp>
          <p:nvSpPr>
            <p:cNvPr id="1204" name="Google Shape;1204;p48"/>
            <p:cNvSpPr/>
            <p:nvPr/>
          </p:nvSpPr>
          <p:spPr>
            <a:xfrm>
              <a:off x="0" y="1608744"/>
              <a:ext cx="152401" cy="1524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48"/>
            <p:cNvSpPr/>
            <p:nvPr/>
          </p:nvSpPr>
          <p:spPr>
            <a:xfrm>
              <a:off x="24542" y="528890"/>
              <a:ext cx="152401" cy="1524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48"/>
            <p:cNvSpPr/>
            <p:nvPr/>
          </p:nvSpPr>
          <p:spPr>
            <a:xfrm>
              <a:off x="2331440" y="99400"/>
              <a:ext cx="152401" cy="1524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48"/>
            <p:cNvSpPr/>
            <p:nvPr/>
          </p:nvSpPr>
          <p:spPr>
            <a:xfrm>
              <a:off x="1595196" y="921564"/>
              <a:ext cx="152401" cy="1524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8" name="Google Shape;1208;p48"/>
          <p:cNvSpPr txBox="1"/>
          <p:nvPr/>
        </p:nvSpPr>
        <p:spPr>
          <a:xfrm>
            <a:off x="5270089" y="9281352"/>
            <a:ext cx="14374761" cy="12347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see a point in camera 1, are there any constraints on where we</a:t>
            </a:r>
            <a:b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find it on camera 2?</a:t>
            </a:r>
            <a:endParaRPr/>
          </a:p>
        </p:txBody>
      </p:sp>
      <p:sp>
        <p:nvSpPr>
          <p:cNvPr id="1209" name="Google Shape;1209;p48"/>
          <p:cNvSpPr txBox="1"/>
          <p:nvPr/>
        </p:nvSpPr>
        <p:spPr>
          <a:xfrm>
            <a:off x="4569569" y="2675096"/>
            <a:ext cx="220297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1</a:t>
            </a:r>
            <a:endParaRPr/>
          </a:p>
        </p:txBody>
      </p:sp>
      <p:sp>
        <p:nvSpPr>
          <p:cNvPr id="1210" name="Google Shape;1210;p48"/>
          <p:cNvSpPr txBox="1"/>
          <p:nvPr/>
        </p:nvSpPr>
        <p:spPr>
          <a:xfrm>
            <a:off x="16850611" y="2624034"/>
            <a:ext cx="220297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2</a:t>
            </a:r>
            <a:endParaRPr/>
          </a:p>
        </p:txBody>
      </p:sp>
      <p:sp>
        <p:nvSpPr>
          <p:cNvPr id="1211" name="Google Shape;1211;p48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2" name="Google Shape;1212;p48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7" name="Google Shape;1217;p49"/>
          <p:cNvCxnSpPr/>
          <p:nvPr/>
        </p:nvCxnSpPr>
        <p:spPr>
          <a:xfrm flipH="1" rot="10800000">
            <a:off x="8876600" y="1877475"/>
            <a:ext cx="4221134" cy="2895976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p49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9" name="Google Shape;1219;p49"/>
          <p:cNvCxnSpPr/>
          <p:nvPr/>
        </p:nvCxnSpPr>
        <p:spPr>
          <a:xfrm flipH="1">
            <a:off x="14747875" y="4879976"/>
            <a:ext cx="508000" cy="3162301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0" name="Google Shape;1220;p49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9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9"/>
          <p:cNvSpPr/>
          <p:nvPr/>
        </p:nvSpPr>
        <p:spPr>
          <a:xfrm>
            <a:off x="10518775" y="3533776"/>
            <a:ext cx="152401" cy="152401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9"/>
          <p:cNvSpPr/>
          <p:nvPr/>
        </p:nvSpPr>
        <p:spPr>
          <a:xfrm>
            <a:off x="9210676" y="4422776"/>
            <a:ext cx="152401" cy="152401"/>
          </a:xfrm>
          <a:prstGeom prst="ellipse">
            <a:avLst/>
          </a:prstGeom>
          <a:solidFill>
            <a:srgbClr val="3366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9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9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6" name="Google Shape;1226;p49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7" name="Google Shape;1227;p49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228" name="Google Shape;1228;p49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9" name="Google Shape;1229;p49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0" name="Google Shape;1230;p49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1" name="Google Shape;1231;p49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232" name="Google Shape;1232;p49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233" name="Google Shape;1233;p49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9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9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236" name="Google Shape;1236;p49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237" name="Google Shape;1237;p49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238" name="Google Shape;1238;p49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9" name="Google Shape;1239;p49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0" name="Google Shape;1240;p49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1" name="Google Shape;1241;p49"/>
          <p:cNvGrpSpPr/>
          <p:nvPr/>
        </p:nvGrpSpPr>
        <p:grpSpPr>
          <a:xfrm>
            <a:off x="10648857" y="3663856"/>
            <a:ext cx="8379662" cy="4023246"/>
            <a:chOff x="0" y="-1"/>
            <a:chExt cx="8379661" cy="4023245"/>
          </a:xfrm>
        </p:grpSpPr>
        <p:sp>
          <p:nvSpPr>
            <p:cNvPr id="1242" name="Google Shape;1242;p49"/>
            <p:cNvSpPr/>
            <p:nvPr/>
          </p:nvSpPr>
          <p:spPr>
            <a:xfrm>
              <a:off x="4378419" y="2067018"/>
              <a:ext cx="152401" cy="152401"/>
            </a:xfrm>
            <a:prstGeom prst="ellipse">
              <a:avLst/>
            </a:prstGeom>
            <a:solidFill>
              <a:srgbClr val="33CC3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3" name="Google Shape;1243;p49"/>
            <p:cNvCxnSpPr/>
            <p:nvPr/>
          </p:nvCxnSpPr>
          <p:spPr>
            <a:xfrm>
              <a:off x="0" y="-1"/>
              <a:ext cx="3455076" cy="1674064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4" name="Google Shape;1244;p49"/>
            <p:cNvCxnSpPr/>
            <p:nvPr/>
          </p:nvCxnSpPr>
          <p:spPr>
            <a:xfrm>
              <a:off x="4508501" y="2197098"/>
              <a:ext cx="3871160" cy="182614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5" name="Google Shape;1245;p49"/>
          <p:cNvGrpSpPr/>
          <p:nvPr/>
        </p:nvGrpSpPr>
        <p:grpSpPr>
          <a:xfrm>
            <a:off x="9340758" y="4552856"/>
            <a:ext cx="9669502" cy="3176936"/>
            <a:chOff x="0" y="-1"/>
            <a:chExt cx="9669500" cy="3176934"/>
          </a:xfrm>
        </p:grpSpPr>
        <p:sp>
          <p:nvSpPr>
            <p:cNvPr id="1246" name="Google Shape;1246;p49"/>
            <p:cNvSpPr/>
            <p:nvPr/>
          </p:nvSpPr>
          <p:spPr>
            <a:xfrm>
              <a:off x="5572218" y="1762218"/>
              <a:ext cx="152401" cy="152401"/>
            </a:xfrm>
            <a:prstGeom prst="ellipse">
              <a:avLst/>
            </a:prstGeom>
            <a:solidFill>
              <a:srgbClr val="3366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7" name="Google Shape;1247;p49"/>
            <p:cNvCxnSpPr/>
            <p:nvPr/>
          </p:nvCxnSpPr>
          <p:spPr>
            <a:xfrm>
              <a:off x="0" y="-1"/>
              <a:ext cx="4763176" cy="154587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8" name="Google Shape;1248;p49"/>
            <p:cNvCxnSpPr/>
            <p:nvPr/>
          </p:nvCxnSpPr>
          <p:spPr>
            <a:xfrm>
              <a:off x="5724617" y="1838417"/>
              <a:ext cx="3944883" cy="133851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49" name="Google Shape;1249;p49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49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51" name="Google Shape;1251;p49"/>
          <p:cNvSpPr txBox="1"/>
          <p:nvPr/>
        </p:nvSpPr>
        <p:spPr>
          <a:xfrm>
            <a:off x="3048000" y="546099"/>
            <a:ext cx="18288000" cy="125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 correspondence constraints</a:t>
            </a:r>
            <a:endParaRPr/>
          </a:p>
        </p:txBody>
      </p:sp>
      <p:sp>
        <p:nvSpPr>
          <p:cNvPr id="1252" name="Google Shape;1252;p49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7" name="Google Shape;1257;p50"/>
          <p:cNvCxnSpPr/>
          <p:nvPr/>
        </p:nvCxnSpPr>
        <p:spPr>
          <a:xfrm flipH="1" rot="10800000">
            <a:off x="8876600" y="1877475"/>
            <a:ext cx="4221134" cy="2895976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8" name="Google Shape;1258;p50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9" name="Google Shape;1259;p50"/>
          <p:cNvCxnSpPr/>
          <p:nvPr/>
        </p:nvCxnSpPr>
        <p:spPr>
          <a:xfrm flipH="1">
            <a:off x="14747875" y="4879976"/>
            <a:ext cx="508000" cy="3162301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0" name="Google Shape;1260;p50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50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50"/>
          <p:cNvSpPr/>
          <p:nvPr/>
        </p:nvSpPr>
        <p:spPr>
          <a:xfrm>
            <a:off x="10518775" y="3533776"/>
            <a:ext cx="152401" cy="152401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50"/>
          <p:cNvSpPr/>
          <p:nvPr/>
        </p:nvSpPr>
        <p:spPr>
          <a:xfrm>
            <a:off x="9210676" y="4422776"/>
            <a:ext cx="152401" cy="152401"/>
          </a:xfrm>
          <a:prstGeom prst="ellipse">
            <a:avLst/>
          </a:prstGeom>
          <a:solidFill>
            <a:srgbClr val="3366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50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50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6" name="Google Shape;1266;p50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7" name="Google Shape;1267;p50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268" name="Google Shape;1268;p50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9" name="Google Shape;1269;p50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0" name="Google Shape;1270;p50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71" name="Google Shape;1271;p50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272" name="Google Shape;1272;p50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273" name="Google Shape;1273;p50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0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0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276" name="Google Shape;1276;p50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277" name="Google Shape;1277;p50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278" name="Google Shape;1278;p50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9" name="Google Shape;1279;p50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0" name="Google Shape;1280;p50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1" name="Google Shape;1281;p50"/>
          <p:cNvGrpSpPr/>
          <p:nvPr/>
        </p:nvGrpSpPr>
        <p:grpSpPr>
          <a:xfrm>
            <a:off x="10648857" y="3663856"/>
            <a:ext cx="8379662" cy="4023246"/>
            <a:chOff x="0" y="-1"/>
            <a:chExt cx="8379661" cy="4023245"/>
          </a:xfrm>
        </p:grpSpPr>
        <p:sp>
          <p:nvSpPr>
            <p:cNvPr id="1282" name="Google Shape;1282;p50"/>
            <p:cNvSpPr/>
            <p:nvPr/>
          </p:nvSpPr>
          <p:spPr>
            <a:xfrm>
              <a:off x="4378419" y="2067018"/>
              <a:ext cx="152401" cy="152401"/>
            </a:xfrm>
            <a:prstGeom prst="ellipse">
              <a:avLst/>
            </a:prstGeom>
            <a:solidFill>
              <a:srgbClr val="33CC3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3" name="Google Shape;1283;p50"/>
            <p:cNvCxnSpPr/>
            <p:nvPr/>
          </p:nvCxnSpPr>
          <p:spPr>
            <a:xfrm>
              <a:off x="0" y="-1"/>
              <a:ext cx="3455076" cy="1674064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4" name="Google Shape;1284;p50"/>
            <p:cNvCxnSpPr/>
            <p:nvPr/>
          </p:nvCxnSpPr>
          <p:spPr>
            <a:xfrm>
              <a:off x="4508501" y="2197098"/>
              <a:ext cx="3871160" cy="182614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5" name="Google Shape;1285;p50"/>
          <p:cNvGrpSpPr/>
          <p:nvPr/>
        </p:nvGrpSpPr>
        <p:grpSpPr>
          <a:xfrm>
            <a:off x="9340758" y="4552856"/>
            <a:ext cx="9669502" cy="3176936"/>
            <a:chOff x="0" y="-1"/>
            <a:chExt cx="9669500" cy="3176934"/>
          </a:xfrm>
        </p:grpSpPr>
        <p:sp>
          <p:nvSpPr>
            <p:cNvPr id="1286" name="Google Shape;1286;p50"/>
            <p:cNvSpPr/>
            <p:nvPr/>
          </p:nvSpPr>
          <p:spPr>
            <a:xfrm>
              <a:off x="5572218" y="1762218"/>
              <a:ext cx="152401" cy="152401"/>
            </a:xfrm>
            <a:prstGeom prst="ellipse">
              <a:avLst/>
            </a:prstGeom>
            <a:solidFill>
              <a:srgbClr val="3366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7" name="Google Shape;1287;p50"/>
            <p:cNvCxnSpPr/>
            <p:nvPr/>
          </p:nvCxnSpPr>
          <p:spPr>
            <a:xfrm>
              <a:off x="0" y="-1"/>
              <a:ext cx="4763176" cy="154587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8" name="Google Shape;1288;p50"/>
            <p:cNvCxnSpPr/>
            <p:nvPr/>
          </p:nvCxnSpPr>
          <p:spPr>
            <a:xfrm>
              <a:off x="5724617" y="1838417"/>
              <a:ext cx="3944883" cy="133851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9" name="Google Shape;1289;p50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0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91" name="Google Shape;1291;p50"/>
          <p:cNvSpPr txBox="1"/>
          <p:nvPr/>
        </p:nvSpPr>
        <p:spPr>
          <a:xfrm>
            <a:off x="3048000" y="546099"/>
            <a:ext cx="18288000" cy="125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 correspondence constraints</a:t>
            </a:r>
            <a:endParaRPr/>
          </a:p>
        </p:txBody>
      </p:sp>
      <p:sp>
        <p:nvSpPr>
          <p:cNvPr id="1292" name="Google Shape;1292;p50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7" name="Google Shape;1297;p51"/>
          <p:cNvCxnSpPr/>
          <p:nvPr/>
        </p:nvCxnSpPr>
        <p:spPr>
          <a:xfrm flipH="1" rot="10800000">
            <a:off x="8876600" y="1877475"/>
            <a:ext cx="4221134" cy="2895976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8" name="Google Shape;1298;p51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9" name="Google Shape;1299;p51"/>
          <p:cNvCxnSpPr/>
          <p:nvPr/>
        </p:nvCxnSpPr>
        <p:spPr>
          <a:xfrm flipH="1">
            <a:off x="14747875" y="4879976"/>
            <a:ext cx="508000" cy="3162301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0" name="Google Shape;1300;p51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1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1"/>
          <p:cNvSpPr/>
          <p:nvPr/>
        </p:nvSpPr>
        <p:spPr>
          <a:xfrm>
            <a:off x="10518775" y="3533776"/>
            <a:ext cx="152401" cy="152401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1"/>
          <p:cNvSpPr/>
          <p:nvPr/>
        </p:nvSpPr>
        <p:spPr>
          <a:xfrm>
            <a:off x="9210676" y="4422776"/>
            <a:ext cx="152401" cy="152401"/>
          </a:xfrm>
          <a:prstGeom prst="ellipse">
            <a:avLst/>
          </a:prstGeom>
          <a:solidFill>
            <a:srgbClr val="3366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1"/>
          <p:cNvSpPr txBox="1"/>
          <p:nvPr/>
        </p:nvSpPr>
        <p:spPr>
          <a:xfrm>
            <a:off x="3962400" y="546099"/>
            <a:ext cx="16484600" cy="125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constraint</a:t>
            </a:r>
            <a:endParaRPr/>
          </a:p>
        </p:txBody>
      </p:sp>
      <p:sp>
        <p:nvSpPr>
          <p:cNvPr id="1305" name="Google Shape;1305;p51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1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7" name="Google Shape;1307;p51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8" name="Google Shape;1308;p51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309" name="Google Shape;1309;p51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0" name="Google Shape;1310;p51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1" name="Google Shape;1311;p51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12" name="Google Shape;1312;p51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313" name="Google Shape;1313;p51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314" name="Google Shape;1314;p51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1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1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317" name="Google Shape;1317;p51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318" name="Google Shape;1318;p51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319" name="Google Shape;1319;p51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0" name="Google Shape;1320;p51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1" name="Google Shape;1321;p51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2" name="Google Shape;1322;p51"/>
          <p:cNvGrpSpPr/>
          <p:nvPr/>
        </p:nvGrpSpPr>
        <p:grpSpPr>
          <a:xfrm>
            <a:off x="10648857" y="3663856"/>
            <a:ext cx="8379662" cy="4023246"/>
            <a:chOff x="0" y="-1"/>
            <a:chExt cx="8379661" cy="4023245"/>
          </a:xfrm>
        </p:grpSpPr>
        <p:sp>
          <p:nvSpPr>
            <p:cNvPr id="1323" name="Google Shape;1323;p51"/>
            <p:cNvSpPr/>
            <p:nvPr/>
          </p:nvSpPr>
          <p:spPr>
            <a:xfrm>
              <a:off x="4378419" y="2067018"/>
              <a:ext cx="152401" cy="152401"/>
            </a:xfrm>
            <a:prstGeom prst="ellipse">
              <a:avLst/>
            </a:prstGeom>
            <a:solidFill>
              <a:srgbClr val="33CC3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4" name="Google Shape;1324;p51"/>
            <p:cNvCxnSpPr/>
            <p:nvPr/>
          </p:nvCxnSpPr>
          <p:spPr>
            <a:xfrm>
              <a:off x="0" y="-1"/>
              <a:ext cx="3455076" cy="1674064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p51"/>
            <p:cNvCxnSpPr/>
            <p:nvPr/>
          </p:nvCxnSpPr>
          <p:spPr>
            <a:xfrm>
              <a:off x="4508501" y="2197098"/>
              <a:ext cx="3871160" cy="182614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26" name="Google Shape;1326;p51"/>
          <p:cNvGrpSpPr/>
          <p:nvPr/>
        </p:nvGrpSpPr>
        <p:grpSpPr>
          <a:xfrm>
            <a:off x="9340758" y="4552856"/>
            <a:ext cx="9669502" cy="3176936"/>
            <a:chOff x="0" y="-1"/>
            <a:chExt cx="9669500" cy="3176934"/>
          </a:xfrm>
        </p:grpSpPr>
        <p:sp>
          <p:nvSpPr>
            <p:cNvPr id="1327" name="Google Shape;1327;p51"/>
            <p:cNvSpPr/>
            <p:nvPr/>
          </p:nvSpPr>
          <p:spPr>
            <a:xfrm>
              <a:off x="5572218" y="1762218"/>
              <a:ext cx="152401" cy="152401"/>
            </a:xfrm>
            <a:prstGeom prst="ellipse">
              <a:avLst/>
            </a:prstGeom>
            <a:solidFill>
              <a:srgbClr val="3366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28" name="Google Shape;1328;p51"/>
            <p:cNvCxnSpPr/>
            <p:nvPr/>
          </p:nvCxnSpPr>
          <p:spPr>
            <a:xfrm>
              <a:off x="0" y="-1"/>
              <a:ext cx="4763176" cy="154587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51"/>
            <p:cNvCxnSpPr/>
            <p:nvPr/>
          </p:nvCxnSpPr>
          <p:spPr>
            <a:xfrm>
              <a:off x="5724617" y="1838417"/>
              <a:ext cx="3944883" cy="133851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0" name="Google Shape;1330;p51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1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2" name="Google Shape;1332;p51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5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Some terminology</a:t>
            </a:r>
            <a:endParaRPr/>
          </a:p>
        </p:txBody>
      </p:sp>
      <p:sp>
        <p:nvSpPr>
          <p:cNvPr id="1338" name="Google Shape;1338;p52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339" name="Google Shape;1339;p52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0" name="Google Shape;1340;p52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52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52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52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52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52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6" name="Google Shape;1346;p52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347" name="Google Shape;1347;p52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348" name="Google Shape;1348;p52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52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52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351" name="Google Shape;1351;p52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352" name="Google Shape;1352;p52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353" name="Google Shape;1353;p52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4" name="Google Shape;1354;p52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5" name="Google Shape;1355;p52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56" name="Google Shape;1356;p52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52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3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Some terminology</a:t>
            </a:r>
            <a:endParaRPr/>
          </a:p>
        </p:txBody>
      </p:sp>
      <p:sp>
        <p:nvSpPr>
          <p:cNvPr id="1363" name="Google Shape;1363;p53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364" name="Google Shape;1364;p53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5" name="Google Shape;1365;p53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53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53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3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53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0" name="Google Shape;1370;p53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1" name="Google Shape;1371;p53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372" name="Google Shape;1372;p53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53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53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376" name="Google Shape;1376;p53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377" name="Google Shape;1377;p53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378" name="Google Shape;1378;p53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9" name="Google Shape;1379;p53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0" name="Google Shape;1380;p53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81" name="Google Shape;1381;p53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2" name="Google Shape;1382;p53"/>
          <p:cNvGrpSpPr/>
          <p:nvPr/>
        </p:nvGrpSpPr>
        <p:grpSpPr>
          <a:xfrm>
            <a:off x="3426418" y="7718510"/>
            <a:ext cx="15647167" cy="1956200"/>
            <a:chOff x="0" y="0"/>
            <a:chExt cx="15647166" cy="1956199"/>
          </a:xfrm>
        </p:grpSpPr>
        <p:grpSp>
          <p:nvGrpSpPr>
            <p:cNvPr id="1383" name="Google Shape;1383;p53"/>
            <p:cNvGrpSpPr/>
            <p:nvPr/>
          </p:nvGrpSpPr>
          <p:grpSpPr>
            <a:xfrm>
              <a:off x="1130881" y="0"/>
              <a:ext cx="14516285" cy="24543"/>
              <a:chOff x="0" y="0"/>
              <a:chExt cx="14516284" cy="24542"/>
            </a:xfrm>
          </p:grpSpPr>
          <p:cxnSp>
            <p:nvCxnSpPr>
              <p:cNvPr id="1384" name="Google Shape;1384;p53"/>
              <p:cNvCxnSpPr/>
              <p:nvPr/>
            </p:nvCxnSpPr>
            <p:spPr>
              <a:xfrm flipH="1" rot="10800000">
                <a:off x="0" y="12271"/>
                <a:ext cx="4270219" cy="12271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5" name="Google Shape;1385;p53"/>
              <p:cNvCxnSpPr/>
              <p:nvPr/>
            </p:nvCxnSpPr>
            <p:spPr>
              <a:xfrm>
                <a:off x="4981920" y="0"/>
                <a:ext cx="4589257" cy="24540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6" name="Google Shape;1386;p53"/>
              <p:cNvCxnSpPr/>
              <p:nvPr/>
            </p:nvCxnSpPr>
            <p:spPr>
              <a:xfrm>
                <a:off x="10233797" y="12269"/>
                <a:ext cx="4282487" cy="3176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87" name="Google Shape;1387;p53"/>
            <p:cNvSpPr txBox="1"/>
            <p:nvPr/>
          </p:nvSpPr>
          <p:spPr>
            <a:xfrm>
              <a:off x="0" y="1316713"/>
              <a:ext cx="9841429" cy="639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Baseline: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 line connecting the two camera centers</a:t>
              </a:r>
              <a:endParaRPr/>
            </a:p>
          </p:txBody>
        </p:sp>
      </p:grpSp>
      <p:sp>
        <p:nvSpPr>
          <p:cNvPr id="1388" name="Google Shape;1388;p53"/>
          <p:cNvSpPr txBox="1"/>
          <p:nvPr/>
        </p:nvSpPr>
        <p:spPr>
          <a:xfrm>
            <a:off x="3342967" y="9908598"/>
            <a:ext cx="15318660" cy="6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point of intersection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image plane</a:t>
            </a:r>
            <a:endParaRPr/>
          </a:p>
        </p:txBody>
      </p:sp>
      <p:sp>
        <p:nvSpPr>
          <p:cNvPr id="1389" name="Google Shape;1389;p53"/>
          <p:cNvSpPr txBox="1"/>
          <p:nvPr/>
        </p:nvSpPr>
        <p:spPr>
          <a:xfrm>
            <a:off x="10638504" y="6980901"/>
            <a:ext cx="194937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1390" name="Google Shape;1390;p53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5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Some terminology</a:t>
            </a:r>
            <a:endParaRPr/>
          </a:p>
        </p:txBody>
      </p:sp>
      <p:sp>
        <p:nvSpPr>
          <p:cNvPr id="1396" name="Google Shape;1396;p5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397" name="Google Shape;1397;p54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8" name="Google Shape;1398;p54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54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54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54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54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3" name="Google Shape;1403;p54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4" name="Google Shape;1404;p54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405" name="Google Shape;1405;p54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406" name="Google Shape;1406;p54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54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54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409" name="Google Shape;1409;p54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410" name="Google Shape;1410;p54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411" name="Google Shape;1411;p54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2" name="Google Shape;1412;p54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3" name="Google Shape;1413;p54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14" name="Google Shape;1414;p54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5" name="Google Shape;1415;p54"/>
          <p:cNvGrpSpPr/>
          <p:nvPr/>
        </p:nvGrpSpPr>
        <p:grpSpPr>
          <a:xfrm>
            <a:off x="3426418" y="7718510"/>
            <a:ext cx="15647167" cy="1956200"/>
            <a:chOff x="0" y="0"/>
            <a:chExt cx="15647166" cy="1956199"/>
          </a:xfrm>
        </p:grpSpPr>
        <p:grpSp>
          <p:nvGrpSpPr>
            <p:cNvPr id="1416" name="Google Shape;1416;p54"/>
            <p:cNvGrpSpPr/>
            <p:nvPr/>
          </p:nvGrpSpPr>
          <p:grpSpPr>
            <a:xfrm>
              <a:off x="1130881" y="0"/>
              <a:ext cx="14516285" cy="24543"/>
              <a:chOff x="0" y="0"/>
              <a:chExt cx="14516284" cy="24542"/>
            </a:xfrm>
          </p:grpSpPr>
          <p:cxnSp>
            <p:nvCxnSpPr>
              <p:cNvPr id="1417" name="Google Shape;1417;p54"/>
              <p:cNvCxnSpPr/>
              <p:nvPr/>
            </p:nvCxnSpPr>
            <p:spPr>
              <a:xfrm flipH="1" rot="10800000">
                <a:off x="0" y="12271"/>
                <a:ext cx="4270219" cy="12271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8" name="Google Shape;1418;p54"/>
              <p:cNvCxnSpPr/>
              <p:nvPr/>
            </p:nvCxnSpPr>
            <p:spPr>
              <a:xfrm>
                <a:off x="4981920" y="0"/>
                <a:ext cx="4589257" cy="24540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9" name="Google Shape;1419;p54"/>
              <p:cNvCxnSpPr/>
              <p:nvPr/>
            </p:nvCxnSpPr>
            <p:spPr>
              <a:xfrm>
                <a:off x="10233797" y="12269"/>
                <a:ext cx="4282487" cy="3176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762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20" name="Google Shape;1420;p54"/>
            <p:cNvSpPr txBox="1"/>
            <p:nvPr/>
          </p:nvSpPr>
          <p:spPr>
            <a:xfrm>
              <a:off x="0" y="1316713"/>
              <a:ext cx="9841429" cy="639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Baseline: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 line connecting the two camera centers</a:t>
              </a:r>
              <a:endParaRPr/>
            </a:p>
          </p:txBody>
        </p:sp>
      </p:grpSp>
      <p:sp>
        <p:nvSpPr>
          <p:cNvPr id="1421" name="Google Shape;1421;p54"/>
          <p:cNvSpPr txBox="1"/>
          <p:nvPr/>
        </p:nvSpPr>
        <p:spPr>
          <a:xfrm>
            <a:off x="3342967" y="9908598"/>
            <a:ext cx="15318660" cy="6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point of intersection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image plane</a:t>
            </a:r>
            <a:endParaRPr/>
          </a:p>
        </p:txBody>
      </p:sp>
      <p:sp>
        <p:nvSpPr>
          <p:cNvPr id="1422" name="Google Shape;1422;p54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54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54"/>
          <p:cNvSpPr txBox="1"/>
          <p:nvPr/>
        </p:nvSpPr>
        <p:spPr>
          <a:xfrm>
            <a:off x="7708489" y="6921910"/>
            <a:ext cx="167009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endParaRPr/>
          </a:p>
        </p:txBody>
      </p:sp>
      <p:sp>
        <p:nvSpPr>
          <p:cNvPr id="1425" name="Google Shape;1425;p54"/>
          <p:cNvSpPr txBox="1"/>
          <p:nvPr/>
        </p:nvSpPr>
        <p:spPr>
          <a:xfrm>
            <a:off x="14148620" y="6872747"/>
            <a:ext cx="1670095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endParaRPr/>
          </a:p>
        </p:txBody>
      </p:sp>
      <p:sp>
        <p:nvSpPr>
          <p:cNvPr id="1426" name="Google Shape;1426;p54"/>
          <p:cNvSpPr txBox="1"/>
          <p:nvPr/>
        </p:nvSpPr>
        <p:spPr>
          <a:xfrm>
            <a:off x="10638504" y="6980901"/>
            <a:ext cx="194937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1427" name="Google Shape;1427;p54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5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Some terminology</a:t>
            </a:r>
            <a:endParaRPr/>
          </a:p>
        </p:txBody>
      </p:sp>
      <p:sp>
        <p:nvSpPr>
          <p:cNvPr id="1433" name="Google Shape;1433;p55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434" name="Google Shape;1434;p55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5" name="Google Shape;1435;p55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55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55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55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55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0" name="Google Shape;1440;p55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1" name="Google Shape;1441;p55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442" name="Google Shape;1442;p55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443" name="Google Shape;1443;p55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5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55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446" name="Google Shape;1446;p55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447" name="Google Shape;1447;p55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448" name="Google Shape;1448;p55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9" name="Google Shape;1449;p55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0" name="Google Shape;1450;p55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1" name="Google Shape;1451;p55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2" name="Google Shape;1452;p55"/>
          <p:cNvGrpSpPr/>
          <p:nvPr/>
        </p:nvGrpSpPr>
        <p:grpSpPr>
          <a:xfrm>
            <a:off x="3426418" y="7718510"/>
            <a:ext cx="15647167" cy="1956200"/>
            <a:chOff x="0" y="0"/>
            <a:chExt cx="15647166" cy="1956199"/>
          </a:xfrm>
        </p:grpSpPr>
        <p:grpSp>
          <p:nvGrpSpPr>
            <p:cNvPr id="1453" name="Google Shape;1453;p55"/>
            <p:cNvGrpSpPr/>
            <p:nvPr/>
          </p:nvGrpSpPr>
          <p:grpSpPr>
            <a:xfrm>
              <a:off x="1130881" y="0"/>
              <a:ext cx="14516285" cy="24543"/>
              <a:chOff x="0" y="0"/>
              <a:chExt cx="14516284" cy="24542"/>
            </a:xfrm>
          </p:grpSpPr>
          <p:cxnSp>
            <p:nvCxnSpPr>
              <p:cNvPr id="1454" name="Google Shape;1454;p55"/>
              <p:cNvCxnSpPr/>
              <p:nvPr/>
            </p:nvCxnSpPr>
            <p:spPr>
              <a:xfrm flipH="1" rot="10800000">
                <a:off x="0" y="12271"/>
                <a:ext cx="4270219" cy="12271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5" name="Google Shape;1455;p55"/>
              <p:cNvCxnSpPr/>
              <p:nvPr/>
            </p:nvCxnSpPr>
            <p:spPr>
              <a:xfrm>
                <a:off x="4981920" y="0"/>
                <a:ext cx="4589257" cy="24540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6" name="Google Shape;1456;p55"/>
              <p:cNvCxnSpPr/>
              <p:nvPr/>
            </p:nvCxnSpPr>
            <p:spPr>
              <a:xfrm>
                <a:off x="10233797" y="12269"/>
                <a:ext cx="4282487" cy="3176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57" name="Google Shape;1457;p55"/>
            <p:cNvSpPr txBox="1"/>
            <p:nvPr/>
          </p:nvSpPr>
          <p:spPr>
            <a:xfrm>
              <a:off x="0" y="1316713"/>
              <a:ext cx="9841429" cy="639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Baseline: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 line connecting the two camera centers</a:t>
              </a:r>
              <a:endParaRPr/>
            </a:p>
          </p:txBody>
        </p:sp>
      </p:grpSp>
      <p:grpSp>
        <p:nvGrpSpPr>
          <p:cNvPr id="1458" name="Google Shape;1458;p55"/>
          <p:cNvGrpSpPr/>
          <p:nvPr/>
        </p:nvGrpSpPr>
        <p:grpSpPr>
          <a:xfrm>
            <a:off x="3391182" y="2753032"/>
            <a:ext cx="15781725" cy="9390823"/>
            <a:chOff x="0" y="0"/>
            <a:chExt cx="15781724" cy="9390822"/>
          </a:xfrm>
        </p:grpSpPr>
        <p:cxnSp>
          <p:nvCxnSpPr>
            <p:cNvPr id="1459" name="Google Shape;1459;p55"/>
            <p:cNvCxnSpPr/>
            <p:nvPr/>
          </p:nvCxnSpPr>
          <p:spPr>
            <a:xfrm>
              <a:off x="0" y="8120821"/>
              <a:ext cx="1270000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grpSp>
          <p:nvGrpSpPr>
            <p:cNvPr id="1460" name="Google Shape;1460;p55"/>
            <p:cNvGrpSpPr/>
            <p:nvPr/>
          </p:nvGrpSpPr>
          <p:grpSpPr>
            <a:xfrm>
              <a:off x="1170986" y="0"/>
              <a:ext cx="14610738" cy="5014453"/>
              <a:chOff x="0" y="0"/>
              <a:chExt cx="14610737" cy="5014452"/>
            </a:xfrm>
          </p:grpSpPr>
          <p:sp>
            <p:nvSpPr>
              <p:cNvPr id="1461" name="Google Shape;1461;p55"/>
              <p:cNvSpPr/>
              <p:nvPr/>
            </p:nvSpPr>
            <p:spPr>
              <a:xfrm>
                <a:off x="0" y="2340077"/>
                <a:ext cx="4286864" cy="2654711"/>
              </a:xfrm>
              <a:custGeom>
                <a:rect b="b" l="l" r="r" t="t"/>
                <a:pathLst>
                  <a:path extrusionOk="0" h="21600" w="21600">
                    <a:moveTo>
                      <a:pt x="19519" y="0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19519" y="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4306528" y="0"/>
                <a:ext cx="5958350" cy="5014452"/>
              </a:xfrm>
              <a:custGeom>
                <a:rect b="b" l="l" r="r" t="t"/>
                <a:pathLst>
                  <a:path extrusionOk="0" h="21600" w="21600">
                    <a:moveTo>
                      <a:pt x="0" y="8640"/>
                    </a:moveTo>
                    <a:lnTo>
                      <a:pt x="10693" y="0"/>
                    </a:lnTo>
                    <a:lnTo>
                      <a:pt x="21600" y="8640"/>
                    </a:lnTo>
                    <a:lnTo>
                      <a:pt x="18962" y="9826"/>
                    </a:lnTo>
                    <a:lnTo>
                      <a:pt x="18962" y="21600"/>
                    </a:lnTo>
                    <a:lnTo>
                      <a:pt x="2566" y="21431"/>
                    </a:lnTo>
                    <a:cubicBezTo>
                      <a:pt x="2543" y="17562"/>
                      <a:pt x="2519" y="13694"/>
                      <a:pt x="2495" y="9826"/>
                    </a:cubicBezTo>
                    <a:lnTo>
                      <a:pt x="0" y="864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55"/>
              <p:cNvSpPr/>
              <p:nvPr/>
            </p:nvSpPr>
            <p:spPr>
              <a:xfrm>
                <a:off x="10245211" y="2300747"/>
                <a:ext cx="4365526" cy="2674375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043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64" name="Google Shape;1464;p55"/>
          <p:cNvSpPr txBox="1"/>
          <p:nvPr/>
        </p:nvSpPr>
        <p:spPr>
          <a:xfrm>
            <a:off x="3342967" y="9908598"/>
            <a:ext cx="15318660" cy="6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point of intersection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image plane</a:t>
            </a:r>
            <a:endParaRPr/>
          </a:p>
        </p:txBody>
      </p:sp>
      <p:sp>
        <p:nvSpPr>
          <p:cNvPr id="1465" name="Google Shape;1465;p55"/>
          <p:cNvSpPr txBox="1"/>
          <p:nvPr/>
        </p:nvSpPr>
        <p:spPr>
          <a:xfrm>
            <a:off x="10127226" y="3755921"/>
            <a:ext cx="306803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plane</a:t>
            </a:r>
            <a:endParaRPr/>
          </a:p>
        </p:txBody>
      </p:sp>
      <p:sp>
        <p:nvSpPr>
          <p:cNvPr id="1466" name="Google Shape;1466;p55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1467" name="Google Shape;1467;p55"/>
          <p:cNvSpPr txBox="1"/>
          <p:nvPr/>
        </p:nvSpPr>
        <p:spPr>
          <a:xfrm>
            <a:off x="3350225" y="10786707"/>
            <a:ext cx="1850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</a:t>
            </a:r>
            <a:r>
              <a:rPr b="1" lang="en-US" sz="3200"/>
              <a:t>ar plane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200"/>
              <a:t>the plane that contains the two camera centers and a 3D point in the world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56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Some terminology</a:t>
            </a:r>
            <a:endParaRPr/>
          </a:p>
        </p:txBody>
      </p:sp>
      <p:sp>
        <p:nvSpPr>
          <p:cNvPr id="1473" name="Google Shape;1473;p56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474" name="Google Shape;1474;p56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5" name="Google Shape;1475;p56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56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56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56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56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56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1" name="Google Shape;1481;p56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482" name="Google Shape;1482;p56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483" name="Google Shape;1483;p56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56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56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486" name="Google Shape;1486;p56"/>
          <p:cNvSpPr txBox="1"/>
          <p:nvPr/>
        </p:nvSpPr>
        <p:spPr>
          <a:xfrm>
            <a:off x="15537640" y="4710117"/>
            <a:ext cx="91576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487" name="Google Shape;1487;p56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488" name="Google Shape;1488;p56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9" name="Google Shape;1489;p56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0" name="Google Shape;1490;p56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91" name="Google Shape;1491;p56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2" name="Google Shape;1492;p56"/>
          <p:cNvGrpSpPr/>
          <p:nvPr/>
        </p:nvGrpSpPr>
        <p:grpSpPr>
          <a:xfrm>
            <a:off x="3426418" y="7718510"/>
            <a:ext cx="15647167" cy="1956200"/>
            <a:chOff x="0" y="0"/>
            <a:chExt cx="15647166" cy="1956199"/>
          </a:xfrm>
        </p:grpSpPr>
        <p:grpSp>
          <p:nvGrpSpPr>
            <p:cNvPr id="1493" name="Google Shape;1493;p56"/>
            <p:cNvGrpSpPr/>
            <p:nvPr/>
          </p:nvGrpSpPr>
          <p:grpSpPr>
            <a:xfrm>
              <a:off x="1130881" y="0"/>
              <a:ext cx="14516285" cy="24543"/>
              <a:chOff x="0" y="0"/>
              <a:chExt cx="14516284" cy="24542"/>
            </a:xfrm>
          </p:grpSpPr>
          <p:cxnSp>
            <p:nvCxnSpPr>
              <p:cNvPr id="1494" name="Google Shape;1494;p56"/>
              <p:cNvCxnSpPr/>
              <p:nvPr/>
            </p:nvCxnSpPr>
            <p:spPr>
              <a:xfrm flipH="1" rot="10800000">
                <a:off x="0" y="12271"/>
                <a:ext cx="4270219" cy="12271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5" name="Google Shape;1495;p56"/>
              <p:cNvCxnSpPr/>
              <p:nvPr/>
            </p:nvCxnSpPr>
            <p:spPr>
              <a:xfrm>
                <a:off x="4981920" y="0"/>
                <a:ext cx="4589257" cy="24540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6" name="Google Shape;1496;p56"/>
              <p:cNvCxnSpPr/>
              <p:nvPr/>
            </p:nvCxnSpPr>
            <p:spPr>
              <a:xfrm>
                <a:off x="10233797" y="12269"/>
                <a:ext cx="4282487" cy="3176"/>
              </a:xfrm>
              <a:prstGeom prst="straightConnector1">
                <a:avLst/>
              </a:prstGeom>
              <a:solidFill>
                <a:srgbClr val="4F81BD"/>
              </a:solidFill>
              <a:ln cap="flat" cmpd="sng" w="12700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97" name="Google Shape;1497;p56"/>
            <p:cNvSpPr txBox="1"/>
            <p:nvPr/>
          </p:nvSpPr>
          <p:spPr>
            <a:xfrm>
              <a:off x="0" y="1316713"/>
              <a:ext cx="9841429" cy="6394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Baseline: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the line connecting the two camera centers</a:t>
              </a:r>
              <a:endParaRPr/>
            </a:p>
          </p:txBody>
        </p:sp>
      </p:grpSp>
      <p:grpSp>
        <p:nvGrpSpPr>
          <p:cNvPr id="1498" name="Google Shape;1498;p56"/>
          <p:cNvGrpSpPr/>
          <p:nvPr/>
        </p:nvGrpSpPr>
        <p:grpSpPr>
          <a:xfrm>
            <a:off x="3416582" y="2753032"/>
            <a:ext cx="15756325" cy="9390823"/>
            <a:chOff x="0" y="0"/>
            <a:chExt cx="15756324" cy="9390822"/>
          </a:xfrm>
        </p:grpSpPr>
        <p:cxnSp>
          <p:nvCxnSpPr>
            <p:cNvPr id="1499" name="Google Shape;1499;p56"/>
            <p:cNvCxnSpPr/>
            <p:nvPr/>
          </p:nvCxnSpPr>
          <p:spPr>
            <a:xfrm>
              <a:off x="0" y="8120821"/>
              <a:ext cx="1270000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grpSp>
          <p:nvGrpSpPr>
            <p:cNvPr id="1500" name="Google Shape;1500;p56"/>
            <p:cNvGrpSpPr/>
            <p:nvPr/>
          </p:nvGrpSpPr>
          <p:grpSpPr>
            <a:xfrm>
              <a:off x="1145586" y="0"/>
              <a:ext cx="14610738" cy="5014453"/>
              <a:chOff x="0" y="0"/>
              <a:chExt cx="14610737" cy="5014452"/>
            </a:xfrm>
          </p:grpSpPr>
          <p:sp>
            <p:nvSpPr>
              <p:cNvPr id="1501" name="Google Shape;1501;p56"/>
              <p:cNvSpPr/>
              <p:nvPr/>
            </p:nvSpPr>
            <p:spPr>
              <a:xfrm>
                <a:off x="0" y="2340077"/>
                <a:ext cx="4286864" cy="2654711"/>
              </a:xfrm>
              <a:custGeom>
                <a:rect b="b" l="l" r="r" t="t"/>
                <a:pathLst>
                  <a:path extrusionOk="0" h="21600" w="21600">
                    <a:moveTo>
                      <a:pt x="19519" y="0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19519" y="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6"/>
              <p:cNvSpPr/>
              <p:nvPr/>
            </p:nvSpPr>
            <p:spPr>
              <a:xfrm>
                <a:off x="4306528" y="0"/>
                <a:ext cx="5958350" cy="5014452"/>
              </a:xfrm>
              <a:custGeom>
                <a:rect b="b" l="l" r="r" t="t"/>
                <a:pathLst>
                  <a:path extrusionOk="0" h="21600" w="21600">
                    <a:moveTo>
                      <a:pt x="0" y="8640"/>
                    </a:moveTo>
                    <a:lnTo>
                      <a:pt x="10693" y="0"/>
                    </a:lnTo>
                    <a:lnTo>
                      <a:pt x="21600" y="8640"/>
                    </a:lnTo>
                    <a:lnTo>
                      <a:pt x="18962" y="9826"/>
                    </a:lnTo>
                    <a:lnTo>
                      <a:pt x="18962" y="21600"/>
                    </a:lnTo>
                    <a:lnTo>
                      <a:pt x="2566" y="21431"/>
                    </a:lnTo>
                    <a:cubicBezTo>
                      <a:pt x="2543" y="17562"/>
                      <a:pt x="2519" y="13694"/>
                      <a:pt x="2495" y="9826"/>
                    </a:cubicBezTo>
                    <a:lnTo>
                      <a:pt x="0" y="864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56"/>
              <p:cNvSpPr/>
              <p:nvPr/>
            </p:nvSpPr>
            <p:spPr>
              <a:xfrm>
                <a:off x="10245211" y="2300747"/>
                <a:ext cx="4365526" cy="2674375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2043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BBE0E3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t/>
                </a:r>
                <a:endParaRPr b="1" i="0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04" name="Google Shape;1504;p56"/>
          <p:cNvSpPr txBox="1"/>
          <p:nvPr/>
        </p:nvSpPr>
        <p:spPr>
          <a:xfrm>
            <a:off x="3372463" y="11859021"/>
            <a:ext cx="16567356" cy="6394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line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intersection of 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plane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each image plane</a:t>
            </a:r>
            <a:endParaRPr/>
          </a:p>
        </p:txBody>
      </p:sp>
      <p:cxnSp>
        <p:nvCxnSpPr>
          <p:cNvPr id="1505" name="Google Shape;1505;p56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6" name="Google Shape;1506;p56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7" name="Google Shape;1507;p56"/>
          <p:cNvSpPr txBox="1"/>
          <p:nvPr/>
        </p:nvSpPr>
        <p:spPr>
          <a:xfrm>
            <a:off x="3342967" y="9908598"/>
            <a:ext cx="15318660" cy="6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point of intersection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image plane</a:t>
            </a:r>
            <a:endParaRPr/>
          </a:p>
        </p:txBody>
      </p:sp>
      <p:sp>
        <p:nvSpPr>
          <p:cNvPr id="1508" name="Google Shape;1508;p56"/>
          <p:cNvSpPr txBox="1"/>
          <p:nvPr/>
        </p:nvSpPr>
        <p:spPr>
          <a:xfrm>
            <a:off x="6705600" y="3323302"/>
            <a:ext cx="2661067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line</a:t>
            </a:r>
            <a:endParaRPr/>
          </a:p>
        </p:txBody>
      </p:sp>
      <p:sp>
        <p:nvSpPr>
          <p:cNvPr id="1509" name="Google Shape;1509;p56"/>
          <p:cNvSpPr txBox="1"/>
          <p:nvPr/>
        </p:nvSpPr>
        <p:spPr>
          <a:xfrm>
            <a:off x="13892979" y="3038165"/>
            <a:ext cx="266106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line</a:t>
            </a:r>
            <a:endParaRPr/>
          </a:p>
        </p:txBody>
      </p:sp>
      <p:sp>
        <p:nvSpPr>
          <p:cNvPr id="1510" name="Google Shape;1510;p56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1511" name="Google Shape;1511;p56"/>
          <p:cNvSpPr txBox="1"/>
          <p:nvPr/>
        </p:nvSpPr>
        <p:spPr>
          <a:xfrm>
            <a:off x="3350225" y="10786707"/>
            <a:ext cx="1850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</a:t>
            </a:r>
            <a:r>
              <a:rPr b="1" lang="en-US" sz="3200"/>
              <a:t>ar plane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200"/>
              <a:t>the plane that contains the two camera centers and a 3D point in the world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6" name="Google Shape;1516;p57"/>
          <p:cNvCxnSpPr/>
          <p:nvPr/>
        </p:nvCxnSpPr>
        <p:spPr>
          <a:xfrm flipH="1" rot="10800000">
            <a:off x="8876600" y="1877475"/>
            <a:ext cx="4221134" cy="2895976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7" name="Google Shape;1517;p57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8" name="Google Shape;1518;p57"/>
          <p:cNvCxnSpPr/>
          <p:nvPr/>
        </p:nvCxnSpPr>
        <p:spPr>
          <a:xfrm flipH="1">
            <a:off x="14747875" y="4879976"/>
            <a:ext cx="508000" cy="3162301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9" name="Google Shape;1519;p57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57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57"/>
          <p:cNvSpPr/>
          <p:nvPr/>
        </p:nvSpPr>
        <p:spPr>
          <a:xfrm>
            <a:off x="10518775" y="3533776"/>
            <a:ext cx="152401" cy="152401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57"/>
          <p:cNvSpPr/>
          <p:nvPr/>
        </p:nvSpPr>
        <p:spPr>
          <a:xfrm>
            <a:off x="9210676" y="4422776"/>
            <a:ext cx="152401" cy="152401"/>
          </a:xfrm>
          <a:prstGeom prst="ellipse">
            <a:avLst/>
          </a:prstGeom>
          <a:solidFill>
            <a:srgbClr val="3366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57"/>
          <p:cNvSpPr txBox="1"/>
          <p:nvPr/>
        </p:nvSpPr>
        <p:spPr>
          <a:xfrm>
            <a:off x="3920835" y="296717"/>
            <a:ext cx="16484601" cy="125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constraint</a:t>
            </a:r>
            <a:endParaRPr/>
          </a:p>
        </p:txBody>
      </p:sp>
      <p:sp>
        <p:nvSpPr>
          <p:cNvPr id="1524" name="Google Shape;1524;p57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57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6" name="Google Shape;1526;p57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27" name="Google Shape;1527;p57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528" name="Google Shape;1528;p57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9" name="Google Shape;1529;p57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0" name="Google Shape;1530;p57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31" name="Google Shape;1531;p57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532" name="Google Shape;1532;p57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533" name="Google Shape;1533;p57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57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57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536" name="Google Shape;1536;p57"/>
          <p:cNvSpPr txBox="1"/>
          <p:nvPr/>
        </p:nvSpPr>
        <p:spPr>
          <a:xfrm>
            <a:off x="15537659" y="4710125"/>
            <a:ext cx="17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 ?</a:t>
            </a:r>
            <a:endParaRPr/>
          </a:p>
        </p:txBody>
      </p:sp>
      <p:grpSp>
        <p:nvGrpSpPr>
          <p:cNvPr id="1537" name="Google Shape;1537;p57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538" name="Google Shape;1538;p57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9" name="Google Shape;1539;p57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0" name="Google Shape;1540;p57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41" name="Google Shape;1541;p57"/>
          <p:cNvGrpSpPr/>
          <p:nvPr/>
        </p:nvGrpSpPr>
        <p:grpSpPr>
          <a:xfrm>
            <a:off x="10648857" y="3663856"/>
            <a:ext cx="8379662" cy="4023246"/>
            <a:chOff x="0" y="-1"/>
            <a:chExt cx="8379661" cy="4023245"/>
          </a:xfrm>
        </p:grpSpPr>
        <p:sp>
          <p:nvSpPr>
            <p:cNvPr id="1542" name="Google Shape;1542;p57"/>
            <p:cNvSpPr/>
            <p:nvPr/>
          </p:nvSpPr>
          <p:spPr>
            <a:xfrm>
              <a:off x="4378419" y="2067018"/>
              <a:ext cx="152401" cy="152401"/>
            </a:xfrm>
            <a:prstGeom prst="ellipse">
              <a:avLst/>
            </a:prstGeom>
            <a:solidFill>
              <a:srgbClr val="33CC3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3" name="Google Shape;1543;p57"/>
            <p:cNvCxnSpPr/>
            <p:nvPr/>
          </p:nvCxnSpPr>
          <p:spPr>
            <a:xfrm>
              <a:off x="0" y="-1"/>
              <a:ext cx="3455076" cy="1674064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4" name="Google Shape;1544;p57"/>
            <p:cNvCxnSpPr/>
            <p:nvPr/>
          </p:nvCxnSpPr>
          <p:spPr>
            <a:xfrm>
              <a:off x="4508501" y="2197098"/>
              <a:ext cx="3871160" cy="182614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45" name="Google Shape;1545;p57"/>
          <p:cNvGrpSpPr/>
          <p:nvPr/>
        </p:nvGrpSpPr>
        <p:grpSpPr>
          <a:xfrm>
            <a:off x="9340758" y="4552856"/>
            <a:ext cx="9669502" cy="3176936"/>
            <a:chOff x="0" y="-1"/>
            <a:chExt cx="9669500" cy="3176934"/>
          </a:xfrm>
        </p:grpSpPr>
        <p:sp>
          <p:nvSpPr>
            <p:cNvPr id="1546" name="Google Shape;1546;p57"/>
            <p:cNvSpPr/>
            <p:nvPr/>
          </p:nvSpPr>
          <p:spPr>
            <a:xfrm>
              <a:off x="5572218" y="1762218"/>
              <a:ext cx="152401" cy="152401"/>
            </a:xfrm>
            <a:prstGeom prst="ellipse">
              <a:avLst/>
            </a:prstGeom>
            <a:solidFill>
              <a:srgbClr val="3366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7" name="Google Shape;1547;p57"/>
            <p:cNvCxnSpPr/>
            <p:nvPr/>
          </p:nvCxnSpPr>
          <p:spPr>
            <a:xfrm>
              <a:off x="0" y="-1"/>
              <a:ext cx="4763176" cy="154587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8" name="Google Shape;1548;p57"/>
            <p:cNvCxnSpPr/>
            <p:nvPr/>
          </p:nvCxnSpPr>
          <p:spPr>
            <a:xfrm>
              <a:off x="5724617" y="1838417"/>
              <a:ext cx="3944883" cy="133851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49" name="Google Shape;1549;p57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57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551" name="Google Shape;1551;p57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2" name="Google Shape;1552;p57"/>
          <p:cNvSpPr txBox="1"/>
          <p:nvPr/>
        </p:nvSpPr>
        <p:spPr>
          <a:xfrm>
            <a:off x="13892979" y="3038165"/>
            <a:ext cx="266106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epipolar line</a:t>
            </a:r>
            <a:endParaRPr/>
          </a:p>
        </p:txBody>
      </p:sp>
      <p:sp>
        <p:nvSpPr>
          <p:cNvPr id="1553" name="Google Shape;1553;p57"/>
          <p:cNvSpPr txBox="1"/>
          <p:nvPr/>
        </p:nvSpPr>
        <p:spPr>
          <a:xfrm>
            <a:off x="6764594" y="9399637"/>
            <a:ext cx="10046812" cy="1768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search for matches across epipolar lines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epipolar lines intersect at the epipoles</a:t>
            </a:r>
            <a:endParaRPr/>
          </a:p>
        </p:txBody>
      </p:sp>
      <p:sp>
        <p:nvSpPr>
          <p:cNvPr id="1554" name="Google Shape;1554;p57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58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Epipolar constraint</a:t>
            </a:r>
            <a:endParaRPr/>
          </a:p>
        </p:txBody>
      </p:sp>
      <p:sp>
        <p:nvSpPr>
          <p:cNvPr id="1560" name="Google Shape;1560;p58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561" name="Google Shape;1561;p58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2" name="Google Shape;1562;p58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58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58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58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58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7" name="Google Shape;1567;p58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8" name="Google Shape;1568;p58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569" name="Google Shape;1569;p58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570" name="Google Shape;1570;p58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58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58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573" name="Google Shape;1573;p58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574" name="Google Shape;1574;p58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575" name="Google Shape;1575;p58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6" name="Google Shape;1576;p58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7" name="Google Shape;1577;p58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78" name="Google Shape;1578;p58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58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580" name="Google Shape;1580;p58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1" name="Google Shape;1581;p58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2" name="Google Shape;1582;p58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83" name="Google Shape;1583;p58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58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5" name="Google Shape;1585;p58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6" name="Google Shape;1586;p58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7" name="Google Shape;1587;p58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8" name="Google Shape;1588;p58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9" name="Google Shape;1589;p58"/>
          <p:cNvCxnSpPr>
            <a:stCxn id="1587" idx="0"/>
            <a:endCxn id="1570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0" name="Google Shape;1590;p58"/>
          <p:cNvSpPr txBox="1"/>
          <p:nvPr/>
        </p:nvSpPr>
        <p:spPr>
          <a:xfrm>
            <a:off x="3543208" y="8629471"/>
            <a:ext cx="17768458" cy="12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observe a point in one image, its position in the other image is constrained to lie on the epipolar line.</a:t>
            </a:r>
            <a:endParaRPr/>
          </a:p>
        </p:txBody>
      </p:sp>
      <p:grpSp>
        <p:nvGrpSpPr>
          <p:cNvPr id="1591" name="Google Shape;1591;p58"/>
          <p:cNvGrpSpPr/>
          <p:nvPr/>
        </p:nvGrpSpPr>
        <p:grpSpPr>
          <a:xfrm>
            <a:off x="3543208" y="10162747"/>
            <a:ext cx="18484690" cy="2189274"/>
            <a:chOff x="0" y="0"/>
            <a:chExt cx="18484689" cy="2189273"/>
          </a:xfrm>
        </p:grpSpPr>
        <p:sp>
          <p:nvSpPr>
            <p:cNvPr id="1592" name="Google Shape;1592;p58"/>
            <p:cNvSpPr txBox="1"/>
            <p:nvPr/>
          </p:nvSpPr>
          <p:spPr>
            <a:xfrm>
              <a:off x="180036" y="1329279"/>
              <a:ext cx="5557937" cy="859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00"/>
                <a:buFont typeface="Helvetica Neue"/>
                <a:buNone/>
              </a:pPr>
              <a:r>
                <a:t/>
              </a:r>
              <a:endParaRPr b="1" i="0" sz="7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93" name="Google Shape;1593;p58"/>
            <p:cNvSpPr txBox="1"/>
            <p:nvPr/>
          </p:nvSpPr>
          <p:spPr>
            <a:xfrm>
              <a:off x="0" y="0"/>
              <a:ext cx="18484689" cy="829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How do we get this line? We want a function that, given a point  tells us what this line is:</a:t>
              </a:r>
              <a:endParaRPr/>
            </a:p>
          </p:txBody>
        </p:sp>
      </p:grpSp>
      <p:grpSp>
        <p:nvGrpSpPr>
          <p:cNvPr id="1594" name="Google Shape;1594;p58"/>
          <p:cNvGrpSpPr/>
          <p:nvPr/>
        </p:nvGrpSpPr>
        <p:grpSpPr>
          <a:xfrm>
            <a:off x="9956449" y="11498160"/>
            <a:ext cx="9032439" cy="847726"/>
            <a:chOff x="0" y="0"/>
            <a:chExt cx="9032438" cy="847725"/>
          </a:xfrm>
        </p:grpSpPr>
        <p:sp>
          <p:nvSpPr>
            <p:cNvPr id="1595" name="Google Shape;1595;p58"/>
            <p:cNvSpPr txBox="1"/>
            <p:nvPr/>
          </p:nvSpPr>
          <p:spPr>
            <a:xfrm>
              <a:off x="0" y="106413"/>
              <a:ext cx="2051368" cy="6348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such that</a:t>
              </a:r>
              <a:endParaRPr/>
            </a:p>
          </p:txBody>
        </p:sp>
        <p:sp>
          <p:nvSpPr>
            <p:cNvPr id="1596" name="Google Shape;1596;p58"/>
            <p:cNvSpPr txBox="1"/>
            <p:nvPr/>
          </p:nvSpPr>
          <p:spPr>
            <a:xfrm>
              <a:off x="2681373" y="0"/>
              <a:ext cx="63510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0"/>
                <a:buFont typeface="Helvetica Neue"/>
                <a:buNone/>
              </a:pPr>
              <a:r>
                <a:t/>
              </a:r>
              <a:endParaRPr b="1" i="0" sz="7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597" name="Google Shape;1597;p58"/>
          <p:cNvSpPr txBox="1"/>
          <p:nvPr/>
        </p:nvSpPr>
        <p:spPr>
          <a:xfrm>
            <a:off x="3753220" y="12706950"/>
            <a:ext cx="15453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							. In other words </a:t>
            </a:r>
            <a:endParaRPr/>
          </a:p>
        </p:txBody>
      </p:sp>
      <p:pic>
        <p:nvPicPr>
          <p:cNvPr id="1598" name="Google Shape;159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1445" y="10898846"/>
            <a:ext cx="5620225" cy="164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1475" y="11151700"/>
            <a:ext cx="5986100" cy="10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3139" y="12623014"/>
            <a:ext cx="3016850" cy="807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54525" y="12375375"/>
            <a:ext cx="3865275" cy="10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60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fundamental matrix</a:t>
            </a:r>
            <a:endParaRPr/>
          </a:p>
        </p:txBody>
      </p:sp>
      <p:sp>
        <p:nvSpPr>
          <p:cNvPr id="1607" name="Google Shape;1607;p60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608" name="Google Shape;1608;p60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9" name="Google Shape;1609;p60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60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60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60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60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4" name="Google Shape;1614;p60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5" name="Google Shape;1615;p60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616" name="Google Shape;1616;p60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617" name="Google Shape;1617;p60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60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60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620" name="Google Shape;1620;p60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621" name="Google Shape;1621;p60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622" name="Google Shape;1622;p60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3" name="Google Shape;1623;p60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4" name="Google Shape;1624;p60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25" name="Google Shape;1625;p60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6" name="Google Shape;1626;p60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627" name="Google Shape;1627;p60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8" name="Google Shape;1628;p60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9" name="Google Shape;1629;p60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30" name="Google Shape;1630;p60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60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2" name="Google Shape;1632;p60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3" name="Google Shape;1633;p60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4" name="Google Shape;1634;p60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5" name="Google Shape;1635;p60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6" name="Google Shape;1636;p60"/>
          <p:cNvCxnSpPr>
            <a:stCxn id="1634" idx="0"/>
            <a:endCxn id="1617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7" name="Google Shape;1637;p60"/>
          <p:cNvSpPr txBox="1"/>
          <p:nvPr/>
        </p:nvSpPr>
        <p:spPr>
          <a:xfrm>
            <a:off x="7831008" y="12085905"/>
            <a:ext cx="8939085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F: fundamental matrix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image point in homogeneous coordinates</a:t>
            </a:r>
            <a:endParaRPr/>
          </a:p>
        </p:txBody>
      </p:sp>
      <p:sp>
        <p:nvSpPr>
          <p:cNvPr id="1638" name="Google Shape;1638;p60"/>
          <p:cNvSpPr txBox="1"/>
          <p:nvPr/>
        </p:nvSpPr>
        <p:spPr>
          <a:xfrm>
            <a:off x="3567543" y="8629471"/>
            <a:ext cx="1776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can be shown that our function, f, can be written as a</a:t>
            </a:r>
            <a:r>
              <a:rPr b="1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matrix multiplication in homogeneous coordinates</a:t>
            </a: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1639" name="Google Shape;1639;p60"/>
          <p:cNvSpPr txBox="1"/>
          <p:nvPr/>
        </p:nvSpPr>
        <p:spPr>
          <a:xfrm>
            <a:off x="9536578" y="10586198"/>
            <a:ext cx="5823955" cy="10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40" name="Google Shape;164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2111" y="10132242"/>
            <a:ext cx="6502225" cy="161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61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fundamental matrix</a:t>
            </a:r>
            <a:endParaRPr/>
          </a:p>
        </p:txBody>
      </p:sp>
      <p:sp>
        <p:nvSpPr>
          <p:cNvPr id="1646" name="Google Shape;1646;p61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647" name="Google Shape;1647;p61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8" name="Google Shape;1648;p61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61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61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61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61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3" name="Google Shape;1653;p61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4" name="Google Shape;1654;p61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655" name="Google Shape;1655;p61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656" name="Google Shape;1656;p61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61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61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659" name="Google Shape;1659;p61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660" name="Google Shape;1660;p61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661" name="Google Shape;1661;p61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62" name="Google Shape;1662;p61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3" name="Google Shape;1663;p61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64" name="Google Shape;1664;p61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5" name="Google Shape;1665;p61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666" name="Google Shape;1666;p61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7" name="Google Shape;1667;p61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8" name="Google Shape;1668;p61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69" name="Google Shape;1669;p61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61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1" name="Google Shape;1671;p61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2" name="Google Shape;1672;p61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3" name="Google Shape;1673;p61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4" name="Google Shape;1674;p61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5" name="Google Shape;1675;p61"/>
          <p:cNvCxnSpPr>
            <a:stCxn id="1673" idx="0"/>
            <a:endCxn id="1656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6" name="Google Shape;1676;p61"/>
          <p:cNvSpPr txBox="1"/>
          <p:nvPr/>
        </p:nvSpPr>
        <p:spPr>
          <a:xfrm>
            <a:off x="7831008" y="12085905"/>
            <a:ext cx="8939085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F: fundamental matrix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image point in homogeneous coordinates</a:t>
            </a:r>
            <a:endParaRPr/>
          </a:p>
        </p:txBody>
      </p:sp>
      <p:sp>
        <p:nvSpPr>
          <p:cNvPr id="1677" name="Google Shape;1677;p61"/>
          <p:cNvSpPr txBox="1"/>
          <p:nvPr/>
        </p:nvSpPr>
        <p:spPr>
          <a:xfrm>
            <a:off x="3567543" y="8629471"/>
            <a:ext cx="1776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can be shown that our function, f, can be written as a</a:t>
            </a:r>
            <a:r>
              <a:rPr b="1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matrix multiplication in homogeneous coordinates</a:t>
            </a: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</p:txBody>
      </p:sp>
      <p:sp>
        <p:nvSpPr>
          <p:cNvPr id="1678" name="Google Shape;1678;p61"/>
          <p:cNvSpPr txBox="1"/>
          <p:nvPr/>
        </p:nvSpPr>
        <p:spPr>
          <a:xfrm>
            <a:off x="19293941" y="13098857"/>
            <a:ext cx="5049318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  <p:sp>
        <p:nvSpPr>
          <p:cNvPr id="1679" name="Google Shape;1679;p61"/>
          <p:cNvSpPr txBox="1"/>
          <p:nvPr/>
        </p:nvSpPr>
        <p:spPr>
          <a:xfrm>
            <a:off x="10037439" y="10521332"/>
            <a:ext cx="4491494" cy="10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0" name="Google Shape;1680;p61"/>
          <p:cNvSpPr txBox="1"/>
          <p:nvPr/>
        </p:nvSpPr>
        <p:spPr>
          <a:xfrm>
            <a:off x="5915868" y="10757168"/>
            <a:ext cx="3371763" cy="6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concisely:</a:t>
            </a:r>
            <a:endParaRPr/>
          </a:p>
        </p:txBody>
      </p:sp>
      <p:pic>
        <p:nvPicPr>
          <p:cNvPr id="1681" name="Google Shape;168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3164" y="10057883"/>
            <a:ext cx="6065134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2"/>
          <p:cNvSpPr txBox="1"/>
          <p:nvPr/>
        </p:nvSpPr>
        <p:spPr>
          <a:xfrm>
            <a:off x="17133565" y="16215101"/>
            <a:ext cx="8545424" cy="18211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K, K’: intrinsics matrices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R, t: relative pose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See </a:t>
            </a:r>
            <a:r>
              <a:rPr b="0" i="0" lang="en-US" sz="3600" u="sng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Hartley and Zisserman</a:t>
            </a: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for derivation</a:t>
            </a:r>
            <a:endParaRPr/>
          </a:p>
        </p:txBody>
      </p:sp>
      <p:sp>
        <p:nvSpPr>
          <p:cNvPr id="1687" name="Google Shape;1687;p6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fundamental matrix</a:t>
            </a:r>
            <a:endParaRPr/>
          </a:p>
        </p:txBody>
      </p:sp>
      <p:sp>
        <p:nvSpPr>
          <p:cNvPr id="1688" name="Google Shape;1688;p62"/>
          <p:cNvSpPr txBox="1"/>
          <p:nvPr>
            <p:ph idx="12" type="sldNum"/>
          </p:nvPr>
        </p:nvSpPr>
        <p:spPr>
          <a:xfrm>
            <a:off x="23488084" y="117792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689" name="Google Shape;1689;p62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0" name="Google Shape;1690;p62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62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62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62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62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5" name="Google Shape;1695;p62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6" name="Google Shape;1696;p62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697" name="Google Shape;1697;p62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698" name="Google Shape;1698;p62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62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62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701" name="Google Shape;1701;p62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702" name="Google Shape;1702;p62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703" name="Google Shape;1703;p62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4" name="Google Shape;1704;p62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5" name="Google Shape;1705;p62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06" name="Google Shape;1706;p62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7" name="Google Shape;1707;p62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708" name="Google Shape;1708;p62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9" name="Google Shape;1709;p62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62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11" name="Google Shape;1711;p62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62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3" name="Google Shape;1713;p62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4" name="Google Shape;1714;p62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5" name="Google Shape;1715;p62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6" name="Google Shape;1716;p62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7" name="Google Shape;1717;p62"/>
          <p:cNvCxnSpPr>
            <a:stCxn id="1715" idx="0"/>
            <a:endCxn id="1698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" id="1718" name="Google Shape;1718;p62"/>
          <p:cNvPicPr preferRelativeResize="0"/>
          <p:nvPr/>
        </p:nvPicPr>
        <p:blipFill rotWithShape="1">
          <a:blip r:embed="rId4">
            <a:alphaModFix/>
          </a:blip>
          <a:srcRect b="0" l="10025" r="0" t="0"/>
          <a:stretch/>
        </p:blipFill>
        <p:spPr>
          <a:xfrm>
            <a:off x="18172540" y="14687523"/>
            <a:ext cx="6467575" cy="132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62"/>
          <p:cNvSpPr txBox="1"/>
          <p:nvPr/>
        </p:nvSpPr>
        <p:spPr>
          <a:xfrm>
            <a:off x="17514489" y="13797922"/>
            <a:ext cx="7783577" cy="709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 Light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Closely related to projection matrix:</a:t>
            </a:r>
            <a:endParaRPr/>
          </a:p>
        </p:txBody>
      </p:sp>
      <p:sp>
        <p:nvSpPr>
          <p:cNvPr id="1720" name="Google Shape;1720;p62"/>
          <p:cNvSpPr txBox="1"/>
          <p:nvPr/>
        </p:nvSpPr>
        <p:spPr>
          <a:xfrm>
            <a:off x="9946253" y="9147382"/>
            <a:ext cx="4489462" cy="1061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21" name="Google Shape;172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2400" y="9313775"/>
            <a:ext cx="5657267" cy="18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63"/>
          <p:cNvSpPr txBox="1"/>
          <p:nvPr/>
        </p:nvSpPr>
        <p:spPr>
          <a:xfrm>
            <a:off x="17133565" y="16215101"/>
            <a:ext cx="8545424" cy="18211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K, K’: intrinsics matrices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R, t: relative pose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See </a:t>
            </a:r>
            <a:r>
              <a:rPr b="0" i="0" lang="en-US" sz="3600" u="sng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Hartley and Zisserman</a:t>
            </a:r>
            <a:r>
              <a:rPr b="0" i="0" lang="en-US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for derivation</a:t>
            </a:r>
            <a:endParaRPr/>
          </a:p>
        </p:txBody>
      </p:sp>
      <p:sp>
        <p:nvSpPr>
          <p:cNvPr id="1727" name="Google Shape;1727;p63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fundamental matrix</a:t>
            </a:r>
            <a:endParaRPr/>
          </a:p>
        </p:txBody>
      </p:sp>
      <p:sp>
        <p:nvSpPr>
          <p:cNvPr id="1728" name="Google Shape;1728;p63"/>
          <p:cNvSpPr txBox="1"/>
          <p:nvPr>
            <p:ph idx="12" type="sldNum"/>
          </p:nvPr>
        </p:nvSpPr>
        <p:spPr>
          <a:xfrm>
            <a:off x="23488084" y="117792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729" name="Google Shape;1729;p63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0" name="Google Shape;1730;p63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63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63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63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63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5" name="Google Shape;1735;p63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6" name="Google Shape;1736;p63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737" name="Google Shape;1737;p63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738" name="Google Shape;1738;p63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63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63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741" name="Google Shape;1741;p63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742" name="Google Shape;1742;p63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743" name="Google Shape;1743;p63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4" name="Google Shape;1744;p63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63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46" name="Google Shape;1746;p63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p63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748" name="Google Shape;1748;p63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9" name="Google Shape;1749;p63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0" name="Google Shape;1750;p63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1" name="Google Shape;1751;p63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63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3" name="Google Shape;1753;p63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4" name="Google Shape;1754;p63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5" name="Google Shape;1755;p63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6" name="Google Shape;1756;p63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7" name="Google Shape;1757;p63"/>
          <p:cNvCxnSpPr>
            <a:stCxn id="1755" idx="0"/>
            <a:endCxn id="1738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age" id="1758" name="Google Shape;1758;p63"/>
          <p:cNvPicPr preferRelativeResize="0"/>
          <p:nvPr/>
        </p:nvPicPr>
        <p:blipFill rotWithShape="1">
          <a:blip r:embed="rId4">
            <a:alphaModFix/>
          </a:blip>
          <a:srcRect b="0" l="10025" r="0" t="0"/>
          <a:stretch/>
        </p:blipFill>
        <p:spPr>
          <a:xfrm>
            <a:off x="18172540" y="14687523"/>
            <a:ext cx="6467575" cy="132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63"/>
          <p:cNvSpPr txBox="1"/>
          <p:nvPr/>
        </p:nvSpPr>
        <p:spPr>
          <a:xfrm>
            <a:off x="17514489" y="13797922"/>
            <a:ext cx="7783577" cy="709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 Light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Closely related to projection matrix:</a:t>
            </a:r>
            <a:endParaRPr/>
          </a:p>
        </p:txBody>
      </p:sp>
      <p:sp>
        <p:nvSpPr>
          <p:cNvPr id="1760" name="Google Shape;1760;p63"/>
          <p:cNvSpPr txBox="1"/>
          <p:nvPr/>
        </p:nvSpPr>
        <p:spPr>
          <a:xfrm>
            <a:off x="9946253" y="9147382"/>
            <a:ext cx="5168805" cy="10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61" name="Google Shape;1761;p63"/>
          <p:cNvGrpSpPr/>
          <p:nvPr/>
        </p:nvGrpSpPr>
        <p:grpSpPr>
          <a:xfrm>
            <a:off x="9091002" y="10682883"/>
            <a:ext cx="10071559" cy="2672005"/>
            <a:chOff x="0" y="0"/>
            <a:chExt cx="10071558" cy="2672003"/>
          </a:xfrm>
        </p:grpSpPr>
        <p:sp>
          <p:nvSpPr>
            <p:cNvPr id="1762" name="Google Shape;1762;p63"/>
            <p:cNvSpPr txBox="1"/>
            <p:nvPr/>
          </p:nvSpPr>
          <p:spPr>
            <a:xfrm>
              <a:off x="0" y="1396922"/>
              <a:ext cx="10071558" cy="1275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 Light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u: a line induced by p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 Light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p, p’: image points in homogeneous coordinates</a:t>
              </a:r>
              <a:endParaRPr/>
            </a:p>
          </p:txBody>
        </p:sp>
        <p:sp>
          <p:nvSpPr>
            <p:cNvPr id="1763" name="Google Shape;1763;p63"/>
            <p:cNvSpPr txBox="1"/>
            <p:nvPr/>
          </p:nvSpPr>
          <p:spPr>
            <a:xfrm>
              <a:off x="853726" y="0"/>
              <a:ext cx="3535078" cy="1062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Helvetica Neue"/>
                <a:buNone/>
              </a:pPr>
              <a:r>
                <a:t/>
              </a:r>
              <a:endParaRPr b="1" i="0" sz="8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764" name="Google Shape;176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0950" y="8944061"/>
            <a:ext cx="6467575" cy="286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6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fundamental matrix</a:t>
            </a:r>
            <a:endParaRPr/>
          </a:p>
        </p:txBody>
      </p:sp>
      <p:sp>
        <p:nvSpPr>
          <p:cNvPr id="1770" name="Google Shape;1770;p65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771" name="Google Shape;1771;p65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2" name="Google Shape;1772;p65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65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65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65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65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7" name="Google Shape;1777;p65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8" name="Google Shape;1778;p65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779" name="Google Shape;1779;p65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780" name="Google Shape;1780;p65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65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65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783" name="Google Shape;1783;p65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784" name="Google Shape;1784;p65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785" name="Google Shape;1785;p65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6" name="Google Shape;1786;p65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7" name="Google Shape;1787;p65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8" name="Google Shape;1788;p65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9" name="Google Shape;1789;p65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790" name="Google Shape;1790;p65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1" name="Google Shape;1791;p65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2" name="Google Shape;1792;p65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93" name="Google Shape;1793;p65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65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5" name="Google Shape;1795;p65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6" name="Google Shape;1796;p65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7" name="Google Shape;1797;p65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8" name="Google Shape;1798;p65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9" name="Google Shape;1799;p65"/>
          <p:cNvCxnSpPr>
            <a:stCxn id="1797" idx="0"/>
            <a:endCxn id="1780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0" name="Google Shape;1800;p65"/>
          <p:cNvSpPr txBox="1"/>
          <p:nvPr/>
        </p:nvSpPr>
        <p:spPr>
          <a:xfrm>
            <a:off x="9531928" y="10016834"/>
            <a:ext cx="3932655" cy="13180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baseline="3000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p’ = 0</a:t>
            </a:r>
            <a:endParaRPr/>
          </a:p>
        </p:txBody>
      </p:sp>
      <p:sp>
        <p:nvSpPr>
          <p:cNvPr id="1801" name="Google Shape;1801;p65"/>
          <p:cNvSpPr txBox="1"/>
          <p:nvPr/>
        </p:nvSpPr>
        <p:spPr>
          <a:xfrm>
            <a:off x="7323008" y="11704905"/>
            <a:ext cx="9904607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u: a line induced by 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p, p’: image points in homogeneous coordinates</a:t>
            </a:r>
            <a:endParaRPr/>
          </a:p>
        </p:txBody>
      </p:sp>
      <p:sp>
        <p:nvSpPr>
          <p:cNvPr id="1802" name="Google Shape;1802;p65"/>
          <p:cNvSpPr txBox="1"/>
          <p:nvPr/>
        </p:nvSpPr>
        <p:spPr>
          <a:xfrm>
            <a:off x="3567543" y="8629471"/>
            <a:ext cx="17768458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observe a point in one image, its position in the other image is constrained to lie on line defined by above.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67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The essential matrix</a:t>
            </a:r>
            <a:endParaRPr/>
          </a:p>
        </p:txBody>
      </p:sp>
      <p:cxnSp>
        <p:nvCxnSpPr>
          <p:cNvPr id="1808" name="Google Shape;1808;p67"/>
          <p:cNvCxnSpPr/>
          <p:nvPr/>
        </p:nvCxnSpPr>
        <p:spPr>
          <a:xfrm flipH="1" rot="10800000">
            <a:off x="8876600" y="2692493"/>
            <a:ext cx="3016859" cy="2080959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9" name="Google Shape;1809;p67"/>
          <p:cNvSpPr/>
          <p:nvPr/>
        </p:nvSpPr>
        <p:spPr>
          <a:xfrm>
            <a:off x="8347076" y="5032376"/>
            <a:ext cx="152401" cy="152401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67"/>
          <p:cNvSpPr/>
          <p:nvPr/>
        </p:nvSpPr>
        <p:spPr>
          <a:xfrm>
            <a:off x="15128875" y="5032376"/>
            <a:ext cx="152400" cy="152401"/>
          </a:xfrm>
          <a:prstGeom prst="ellipse">
            <a:avLst/>
          </a:prstGeom>
          <a:solidFill>
            <a:srgbClr val="CC3300"/>
          </a:solidFill>
          <a:ln cap="flat" cmpd="sng" w="12700">
            <a:solidFill>
              <a:srgbClr val="CC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67"/>
          <p:cNvSpPr/>
          <p:nvPr/>
        </p:nvSpPr>
        <p:spPr>
          <a:xfrm>
            <a:off x="11763375" y="2670175"/>
            <a:ext cx="152401" cy="152401"/>
          </a:xfrm>
          <a:prstGeom prst="ellipse">
            <a:avLst/>
          </a:prstGeom>
          <a:solidFill>
            <a:srgbClr val="FF66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67"/>
          <p:cNvSpPr/>
          <p:nvPr/>
        </p:nvSpPr>
        <p:spPr>
          <a:xfrm>
            <a:off x="4201449" y="3092312"/>
            <a:ext cx="5325501" cy="5313379"/>
          </a:xfrm>
          <a:custGeom>
            <a:rect b="b" l="l" r="r" t="t"/>
            <a:pathLst>
              <a:path extrusionOk="0" h="21600" w="21600">
                <a:moveTo>
                  <a:pt x="50" y="0"/>
                </a:moveTo>
                <a:lnTo>
                  <a:pt x="21600" y="8031"/>
                </a:lnTo>
                <a:lnTo>
                  <a:pt x="21600" y="21600"/>
                </a:lnTo>
                <a:lnTo>
                  <a:pt x="0" y="13519"/>
                </a:lnTo>
                <a:lnTo>
                  <a:pt x="50" y="0"/>
                </a:lnTo>
                <a:close/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67"/>
          <p:cNvSpPr/>
          <p:nvPr/>
        </p:nvSpPr>
        <p:spPr>
          <a:xfrm>
            <a:off x="14140746" y="3104583"/>
            <a:ext cx="5300958" cy="5301108"/>
          </a:xfrm>
          <a:custGeom>
            <a:rect b="b" l="l" r="r" t="t"/>
            <a:pathLst>
              <a:path extrusionOk="0" h="21600" w="21600">
                <a:moveTo>
                  <a:pt x="50" y="21600"/>
                </a:moveTo>
                <a:cubicBezTo>
                  <a:pt x="33" y="17067"/>
                  <a:pt x="0" y="8000"/>
                  <a:pt x="0" y="8000"/>
                </a:cubicBezTo>
                <a:lnTo>
                  <a:pt x="21600" y="0"/>
                </a:lnTo>
                <a:lnTo>
                  <a:pt x="21600" y="13450"/>
                </a:lnTo>
                <a:lnTo>
                  <a:pt x="50" y="21600"/>
                </a:lnTo>
                <a:close/>
              </a:path>
            </a:pathLst>
          </a:custGeom>
          <a:noFill/>
          <a:ln cap="flat" cmpd="sng" w="762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4" name="Google Shape;1814;p67"/>
          <p:cNvCxnSpPr/>
          <p:nvPr/>
        </p:nvCxnSpPr>
        <p:spPr>
          <a:xfrm flipH="1" rot="10800000">
            <a:off x="4569572" y="5104769"/>
            <a:ext cx="3865283" cy="2638284"/>
          </a:xfrm>
          <a:prstGeom prst="straightConnector1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5" name="Google Shape;1815;p67"/>
          <p:cNvSpPr txBox="1"/>
          <p:nvPr/>
        </p:nvSpPr>
        <p:spPr>
          <a:xfrm>
            <a:off x="3710620" y="7657151"/>
            <a:ext cx="728431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816" name="Google Shape;1816;p67"/>
          <p:cNvSpPr txBox="1"/>
          <p:nvPr/>
        </p:nvSpPr>
        <p:spPr>
          <a:xfrm>
            <a:off x="19206593" y="7618362"/>
            <a:ext cx="1118605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O’</a:t>
            </a:r>
            <a:endParaRPr/>
          </a:p>
        </p:txBody>
      </p:sp>
      <p:sp>
        <p:nvSpPr>
          <p:cNvPr id="1817" name="Google Shape;1817;p67"/>
          <p:cNvSpPr/>
          <p:nvPr/>
        </p:nvSpPr>
        <p:spPr>
          <a:xfrm>
            <a:off x="4483675" y="7693966"/>
            <a:ext cx="122709" cy="110441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67"/>
          <p:cNvSpPr/>
          <p:nvPr/>
        </p:nvSpPr>
        <p:spPr>
          <a:xfrm>
            <a:off x="19010258" y="7669424"/>
            <a:ext cx="124681" cy="120733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67"/>
          <p:cNvSpPr txBox="1"/>
          <p:nvPr/>
        </p:nvSpPr>
        <p:spPr>
          <a:xfrm>
            <a:off x="8434854" y="5055685"/>
            <a:ext cx="449853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820" name="Google Shape;1820;p67"/>
          <p:cNvSpPr txBox="1"/>
          <p:nvPr/>
        </p:nvSpPr>
        <p:spPr>
          <a:xfrm>
            <a:off x="15537640" y="4710117"/>
            <a:ext cx="551429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p’</a:t>
            </a:r>
            <a:endParaRPr/>
          </a:p>
        </p:txBody>
      </p:sp>
      <p:grpSp>
        <p:nvGrpSpPr>
          <p:cNvPr id="1821" name="Google Shape;1821;p67"/>
          <p:cNvGrpSpPr/>
          <p:nvPr/>
        </p:nvGrpSpPr>
        <p:grpSpPr>
          <a:xfrm>
            <a:off x="11893457" y="2800257"/>
            <a:ext cx="7223223" cy="4886848"/>
            <a:chOff x="0" y="0"/>
            <a:chExt cx="7223221" cy="4886846"/>
          </a:xfrm>
        </p:grpSpPr>
        <p:sp>
          <p:nvSpPr>
            <p:cNvPr id="1822" name="Google Shape;1822;p67"/>
            <p:cNvSpPr/>
            <p:nvPr/>
          </p:nvSpPr>
          <p:spPr>
            <a:xfrm>
              <a:off x="3235418" y="2219418"/>
              <a:ext cx="152401" cy="152401"/>
            </a:xfrm>
            <a:prstGeom prst="ellipse">
              <a:avLst/>
            </a:prstGeom>
            <a:solidFill>
              <a:srgbClr val="FF66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3" name="Google Shape;1823;p67"/>
            <p:cNvCxnSpPr/>
            <p:nvPr/>
          </p:nvCxnSpPr>
          <p:spPr>
            <a:xfrm rot="10800000">
              <a:off x="3387819" y="2295617"/>
              <a:ext cx="3835402" cy="2591229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4" name="Google Shape;1824;p67"/>
            <p:cNvCxnSpPr/>
            <p:nvPr/>
          </p:nvCxnSpPr>
          <p:spPr>
            <a:xfrm>
              <a:off x="0" y="0"/>
              <a:ext cx="2922181" cy="1960920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5" name="Google Shape;1825;p67"/>
          <p:cNvSpPr/>
          <p:nvPr/>
        </p:nvSpPr>
        <p:spPr>
          <a:xfrm>
            <a:off x="14715445" y="7657148"/>
            <a:ext cx="161541" cy="157549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6" name="Google Shape;1826;p67"/>
          <p:cNvGrpSpPr/>
          <p:nvPr/>
        </p:nvGrpSpPr>
        <p:grpSpPr>
          <a:xfrm>
            <a:off x="4557299" y="7718510"/>
            <a:ext cx="14516282" cy="24545"/>
            <a:chOff x="0" y="0"/>
            <a:chExt cx="14516280" cy="24543"/>
          </a:xfrm>
        </p:grpSpPr>
        <p:cxnSp>
          <p:nvCxnSpPr>
            <p:cNvPr id="1827" name="Google Shape;1827;p67"/>
            <p:cNvCxnSpPr/>
            <p:nvPr/>
          </p:nvCxnSpPr>
          <p:spPr>
            <a:xfrm flipH="1" rot="10800000">
              <a:off x="0" y="12270"/>
              <a:ext cx="4270216" cy="12273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8" name="Google Shape;1828;p67"/>
            <p:cNvCxnSpPr/>
            <p:nvPr/>
          </p:nvCxnSpPr>
          <p:spPr>
            <a:xfrm>
              <a:off x="4981919" y="0"/>
              <a:ext cx="4589256" cy="24542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9" name="Google Shape;1829;p67"/>
            <p:cNvCxnSpPr/>
            <p:nvPr/>
          </p:nvCxnSpPr>
          <p:spPr>
            <a:xfrm>
              <a:off x="10233795" y="12270"/>
              <a:ext cx="4282485" cy="3176"/>
            </a:xfrm>
            <a:prstGeom prst="straightConnector1">
              <a:avLst/>
            </a:prstGeom>
            <a:solidFill>
              <a:srgbClr val="4F81BD"/>
            </a:solidFill>
            <a:ln cap="flat" cmpd="sng" w="127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30" name="Google Shape;1830;p67"/>
          <p:cNvSpPr/>
          <p:nvPr/>
        </p:nvSpPr>
        <p:spPr>
          <a:xfrm>
            <a:off x="8652388" y="7570837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67"/>
          <p:cNvSpPr/>
          <p:nvPr/>
        </p:nvSpPr>
        <p:spPr>
          <a:xfrm>
            <a:off x="14699226" y="7580669"/>
            <a:ext cx="294969" cy="314633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2" name="Google Shape;1832;p67"/>
          <p:cNvCxnSpPr/>
          <p:nvPr/>
        </p:nvCxnSpPr>
        <p:spPr>
          <a:xfrm>
            <a:off x="8278762" y="4208206"/>
            <a:ext cx="727587" cy="4463846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3" name="Google Shape;1833;p67"/>
          <p:cNvCxnSpPr/>
          <p:nvPr/>
        </p:nvCxnSpPr>
        <p:spPr>
          <a:xfrm flipH="1">
            <a:off x="14709057" y="3696930"/>
            <a:ext cx="747254" cy="4798140"/>
          </a:xfrm>
          <a:prstGeom prst="straightConnector1">
            <a:avLst/>
          </a:prstGeom>
          <a:solidFill>
            <a:srgbClr val="BBE0E3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4" name="Google Shape;1834;p67"/>
          <p:cNvSpPr/>
          <p:nvPr/>
        </p:nvSpPr>
        <p:spPr>
          <a:xfrm>
            <a:off x="12461468" y="5295391"/>
            <a:ext cx="152401" cy="152401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5" name="Google Shape;1835;p67"/>
          <p:cNvCxnSpPr/>
          <p:nvPr/>
        </p:nvCxnSpPr>
        <p:spPr>
          <a:xfrm>
            <a:off x="12526296" y="5348748"/>
            <a:ext cx="6502220" cy="2338357"/>
          </a:xfrm>
          <a:prstGeom prst="straightConnector1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67"/>
          <p:cNvCxnSpPr>
            <a:stCxn id="1834" idx="0"/>
            <a:endCxn id="1817" idx="0"/>
          </p:cNvCxnSpPr>
          <p:nvPr/>
        </p:nvCxnSpPr>
        <p:spPr>
          <a:xfrm flipH="1">
            <a:off x="4545069" y="5295391"/>
            <a:ext cx="7992600" cy="2398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7" name="Google Shape;1837;p67"/>
          <p:cNvSpPr txBox="1"/>
          <p:nvPr/>
        </p:nvSpPr>
        <p:spPr>
          <a:xfrm>
            <a:off x="9531928" y="10016834"/>
            <a:ext cx="4892596" cy="13180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3000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p’ = 0</a:t>
            </a:r>
            <a:endParaRPr/>
          </a:p>
        </p:txBody>
      </p:sp>
      <p:sp>
        <p:nvSpPr>
          <p:cNvPr id="1838" name="Google Shape;1838;p67"/>
          <p:cNvSpPr txBox="1"/>
          <p:nvPr/>
        </p:nvSpPr>
        <p:spPr>
          <a:xfrm>
            <a:off x="7323008" y="11704905"/>
            <a:ext cx="9904607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E: essential matrix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p, p’: image points in homogeneous coordinates</a:t>
            </a:r>
            <a:endParaRPr/>
          </a:p>
        </p:txBody>
      </p:sp>
      <p:sp>
        <p:nvSpPr>
          <p:cNvPr id="1839" name="Google Shape;1839;p67"/>
          <p:cNvSpPr txBox="1"/>
          <p:nvPr/>
        </p:nvSpPr>
        <p:spPr>
          <a:xfrm>
            <a:off x="3567543" y="8629471"/>
            <a:ext cx="17768458" cy="1234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observe a point in one image, its position in the other image is constrained to lie on line defined by above.</a:t>
            </a:r>
            <a:endParaRPr/>
          </a:p>
        </p:txBody>
      </p:sp>
      <p:pic>
        <p:nvPicPr>
          <p:cNvPr id="1840" name="Google Shape;18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5382" y="10235368"/>
            <a:ext cx="6307834" cy="12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67"/>
          <p:cNvSpPr txBox="1"/>
          <p:nvPr/>
        </p:nvSpPr>
        <p:spPr>
          <a:xfrm>
            <a:off x="19100725" y="12402625"/>
            <a:ext cx="531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latin typeface="Helvetica Neue"/>
                <a:ea typeface="Helvetica Neue"/>
                <a:cs typeface="Helvetica Neue"/>
                <a:sym typeface="Helvetica Neue"/>
              </a:rPr>
              <a:t>Intrinsics</a:t>
            </a:r>
            <a:endParaRPr sz="5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2" name="Google Shape;1842;p67"/>
          <p:cNvCxnSpPr>
            <a:endCxn id="1840" idx="2"/>
          </p:cNvCxnSpPr>
          <p:nvPr/>
        </p:nvCxnSpPr>
        <p:spPr>
          <a:xfrm rot="10800000">
            <a:off x="19279299" y="11470093"/>
            <a:ext cx="402000" cy="85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3" name="Google Shape;1843;p67"/>
          <p:cNvCxnSpPr/>
          <p:nvPr/>
        </p:nvCxnSpPr>
        <p:spPr>
          <a:xfrm flipH="1" rot="10800000">
            <a:off x="20624725" y="11742375"/>
            <a:ext cx="711300" cy="54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121.png" id="1848" name="Google Shape;184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2950" y="6007100"/>
            <a:ext cx="7051676" cy="6619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22.png" id="1849" name="Google Shape;184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6007100"/>
            <a:ext cx="7051676" cy="6619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23.png" id="1850" name="Google Shape;1850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700" y="1381125"/>
            <a:ext cx="7410450" cy="449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64"/>
          <p:cNvSpPr txBox="1"/>
          <p:nvPr/>
        </p:nvSpPr>
        <p:spPr>
          <a:xfrm>
            <a:off x="4914900" y="285750"/>
            <a:ext cx="14554200" cy="95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None/>
            </a:pPr>
            <a:r>
              <a:rPr b="0" i="0" lang="en-US" sz="6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converging cameras</a:t>
            </a:r>
            <a:endParaRPr/>
          </a:p>
        </p:txBody>
      </p:sp>
      <p:sp>
        <p:nvSpPr>
          <p:cNvPr id="1852" name="Google Shape;1852;p64"/>
          <p:cNvSpPr txBox="1"/>
          <p:nvPr/>
        </p:nvSpPr>
        <p:spPr>
          <a:xfrm>
            <a:off x="3048000" y="13106400"/>
            <a:ext cx="7950200" cy="394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 from Hartley &amp; Zisserman</a:t>
            </a:r>
            <a:endParaRPr/>
          </a:p>
        </p:txBody>
      </p:sp>
      <p:sp>
        <p:nvSpPr>
          <p:cNvPr id="1853" name="Google Shape;1853;p64"/>
          <p:cNvSpPr txBox="1"/>
          <p:nvPr/>
        </p:nvSpPr>
        <p:spPr>
          <a:xfrm>
            <a:off x="20220550" y="13092861"/>
            <a:ext cx="4057156" cy="421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Kristen Grauman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68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Image rectification</a:t>
            </a:r>
            <a:endParaRPr/>
          </a:p>
        </p:txBody>
      </p:sp>
      <p:sp>
        <p:nvSpPr>
          <p:cNvPr id="1859" name="Google Shape;1859;p68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27.png" id="1860" name="Google Shape;186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828800"/>
            <a:ext cx="11766550" cy="485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8.png" id="1861" name="Google Shape;186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4175"/>
            <a:ext cx="13281027" cy="57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2" name="Google Shape;1862;p68"/>
          <p:cNvSpPr/>
          <p:nvPr/>
        </p:nvSpPr>
        <p:spPr>
          <a:xfrm>
            <a:off x="11430000" y="6705600"/>
            <a:ext cx="1371600" cy="1066800"/>
          </a:xfrm>
          <a:custGeom>
            <a:rect b="b" l="l" r="r" t="t"/>
            <a:pathLst>
              <a:path extrusionOk="0" h="21600" w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68"/>
          <p:cNvSpPr txBox="1"/>
          <p:nvPr/>
        </p:nvSpPr>
        <p:spPr>
          <a:xfrm>
            <a:off x="21314706" y="13183665"/>
            <a:ext cx="3683001" cy="433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 Light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A. Efros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69"/>
          <p:cNvSpPr txBox="1"/>
          <p:nvPr>
            <p:ph idx="12" type="sldNum"/>
          </p:nvPr>
        </p:nvSpPr>
        <p:spPr>
          <a:xfrm>
            <a:off x="18832054" y="13045439"/>
            <a:ext cx="551181" cy="574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fld id="{00000000-1234-1234-1234-123412341234}" type="slidenum"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cxnSp>
        <p:nvCxnSpPr>
          <p:cNvPr id="1869" name="Google Shape;1869;p69"/>
          <p:cNvCxnSpPr/>
          <p:nvPr/>
        </p:nvCxnSpPr>
        <p:spPr>
          <a:xfrm>
            <a:off x="4419600" y="3301998"/>
            <a:ext cx="15544800" cy="318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0" name="Google Shape;1870;p69"/>
          <p:cNvSpPr txBox="1"/>
          <p:nvPr>
            <p:ph type="title"/>
          </p:nvPr>
        </p:nvSpPr>
        <p:spPr>
          <a:xfrm>
            <a:off x="4419600" y="-1346200"/>
            <a:ext cx="15544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"/>
              <a:buNone/>
            </a:pPr>
            <a:r>
              <a:rPr lang="en-US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Active stereo with structured light</a:t>
            </a:r>
            <a:endParaRPr/>
          </a:p>
        </p:txBody>
      </p:sp>
      <p:pic>
        <p:nvPicPr>
          <p:cNvPr descr="image29.png" id="1871" name="Google Shape;187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1175" y="1790700"/>
            <a:ext cx="18284825" cy="342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2" name="Google Shape;1872;p69"/>
          <p:cNvGrpSpPr/>
          <p:nvPr/>
        </p:nvGrpSpPr>
        <p:grpSpPr>
          <a:xfrm>
            <a:off x="3200399" y="6705600"/>
            <a:ext cx="7467601" cy="3810000"/>
            <a:chOff x="0" y="0"/>
            <a:chExt cx="7467600" cy="3810000"/>
          </a:xfrm>
        </p:grpSpPr>
        <p:grpSp>
          <p:nvGrpSpPr>
            <p:cNvPr id="1873" name="Google Shape;1873;p69"/>
            <p:cNvGrpSpPr/>
            <p:nvPr/>
          </p:nvGrpSpPr>
          <p:grpSpPr>
            <a:xfrm>
              <a:off x="3200400" y="762000"/>
              <a:ext cx="457200" cy="762000"/>
              <a:chOff x="0" y="0"/>
              <a:chExt cx="457200" cy="762000"/>
            </a:xfrm>
          </p:grpSpPr>
          <p:sp>
            <p:nvSpPr>
              <p:cNvPr id="1874" name="Google Shape;1874;p69"/>
              <p:cNvSpPr/>
              <p:nvPr/>
            </p:nvSpPr>
            <p:spPr>
              <a:xfrm>
                <a:off x="152400" y="304800"/>
                <a:ext cx="304800" cy="1524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69"/>
              <p:cNvSpPr/>
              <p:nvPr/>
            </p:nvSpPr>
            <p:spPr>
              <a:xfrm>
                <a:off x="0" y="0"/>
                <a:ext cx="304800" cy="7620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6" name="Google Shape;1876;p69"/>
            <p:cNvGrpSpPr/>
            <p:nvPr/>
          </p:nvGrpSpPr>
          <p:grpSpPr>
            <a:xfrm>
              <a:off x="3200400" y="2438400"/>
              <a:ext cx="457200" cy="762000"/>
              <a:chOff x="0" y="0"/>
              <a:chExt cx="457200" cy="762000"/>
            </a:xfrm>
          </p:grpSpPr>
          <p:sp>
            <p:nvSpPr>
              <p:cNvPr id="1877" name="Google Shape;1877;p69"/>
              <p:cNvSpPr/>
              <p:nvPr/>
            </p:nvSpPr>
            <p:spPr>
              <a:xfrm>
                <a:off x="152400" y="304800"/>
                <a:ext cx="304800" cy="1524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8" name="Google Shape;1878;p69"/>
              <p:cNvSpPr/>
              <p:nvPr/>
            </p:nvSpPr>
            <p:spPr>
              <a:xfrm>
                <a:off x="0" y="0"/>
                <a:ext cx="304800" cy="7620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9" name="Google Shape;1879;p69"/>
            <p:cNvGrpSpPr/>
            <p:nvPr/>
          </p:nvGrpSpPr>
          <p:grpSpPr>
            <a:xfrm>
              <a:off x="1981200" y="1676400"/>
              <a:ext cx="1412875" cy="609600"/>
              <a:chOff x="0" y="0"/>
              <a:chExt cx="1412875" cy="609600"/>
            </a:xfrm>
          </p:grpSpPr>
          <p:sp>
            <p:nvSpPr>
              <p:cNvPr id="1880" name="Google Shape;1880;p69"/>
              <p:cNvSpPr/>
              <p:nvPr/>
            </p:nvSpPr>
            <p:spPr>
              <a:xfrm>
                <a:off x="955675" y="241300"/>
                <a:ext cx="457200" cy="152400"/>
              </a:xfrm>
              <a:prstGeom prst="rect">
                <a:avLst/>
              </a:prstGeom>
              <a:solidFill>
                <a:srgbClr val="00CC9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1" name="Google Shape;1881;p69"/>
              <p:cNvSpPr/>
              <p:nvPr/>
            </p:nvSpPr>
            <p:spPr>
              <a:xfrm>
                <a:off x="0" y="0"/>
                <a:ext cx="1066800" cy="609600"/>
              </a:xfrm>
              <a:prstGeom prst="rect">
                <a:avLst/>
              </a:prstGeom>
              <a:solidFill>
                <a:srgbClr val="00CC9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image30.png" id="1882" name="Google Shape;188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2700" y="304800"/>
              <a:ext cx="1104900" cy="3505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69"/>
            <p:cNvSpPr txBox="1"/>
            <p:nvPr/>
          </p:nvSpPr>
          <p:spPr>
            <a:xfrm>
              <a:off x="2286000" y="3200400"/>
              <a:ext cx="1746449" cy="456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camera 2</a:t>
              </a:r>
              <a:endParaRPr/>
            </a:p>
          </p:txBody>
        </p:sp>
        <p:sp>
          <p:nvSpPr>
            <p:cNvPr id="1884" name="Google Shape;1884;p69"/>
            <p:cNvSpPr txBox="1"/>
            <p:nvPr/>
          </p:nvSpPr>
          <p:spPr>
            <a:xfrm>
              <a:off x="2286000" y="0"/>
              <a:ext cx="1746449" cy="456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camera 1</a:t>
              </a:r>
              <a:endParaRPr/>
            </a:p>
          </p:txBody>
        </p:sp>
        <p:sp>
          <p:nvSpPr>
            <p:cNvPr id="1885" name="Google Shape;1885;p69"/>
            <p:cNvSpPr txBox="1"/>
            <p:nvPr/>
          </p:nvSpPr>
          <p:spPr>
            <a:xfrm>
              <a:off x="0" y="1612900"/>
              <a:ext cx="1633538" cy="456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projector</a:t>
              </a:r>
              <a:endParaRPr/>
            </a:p>
          </p:txBody>
        </p:sp>
        <p:sp>
          <p:nvSpPr>
            <p:cNvPr id="1886" name="Google Shape;1886;p69"/>
            <p:cNvSpPr/>
            <p:nvPr/>
          </p:nvSpPr>
          <p:spPr>
            <a:xfrm>
              <a:off x="3352800" y="609600"/>
              <a:ext cx="3048001" cy="3048001"/>
            </a:xfrm>
            <a:custGeom>
              <a:rect b="b" l="l" r="r" t="t"/>
              <a:pathLst>
                <a:path extrusionOk="0" h="21600" w="21600">
                  <a:moveTo>
                    <a:pt x="0" y="972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9720"/>
                  </a:lnTo>
                  <a:close/>
                </a:path>
              </a:pathLst>
            </a:custGeom>
            <a:solidFill>
              <a:srgbClr val="B2B2B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7" name="Google Shape;1887;p69"/>
          <p:cNvGrpSpPr/>
          <p:nvPr/>
        </p:nvGrpSpPr>
        <p:grpSpPr>
          <a:xfrm>
            <a:off x="12649198" y="6705600"/>
            <a:ext cx="7467602" cy="3810000"/>
            <a:chOff x="-1" y="0"/>
            <a:chExt cx="7467601" cy="3810000"/>
          </a:xfrm>
        </p:grpSpPr>
        <p:grpSp>
          <p:nvGrpSpPr>
            <p:cNvPr id="1888" name="Google Shape;1888;p69"/>
            <p:cNvGrpSpPr/>
            <p:nvPr/>
          </p:nvGrpSpPr>
          <p:grpSpPr>
            <a:xfrm>
              <a:off x="3200400" y="762000"/>
              <a:ext cx="457200" cy="762000"/>
              <a:chOff x="0" y="0"/>
              <a:chExt cx="457200" cy="762000"/>
            </a:xfrm>
          </p:grpSpPr>
          <p:sp>
            <p:nvSpPr>
              <p:cNvPr id="1889" name="Google Shape;1889;p69"/>
              <p:cNvSpPr/>
              <p:nvPr/>
            </p:nvSpPr>
            <p:spPr>
              <a:xfrm>
                <a:off x="152400" y="304800"/>
                <a:ext cx="304800" cy="1524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69"/>
              <p:cNvSpPr/>
              <p:nvPr/>
            </p:nvSpPr>
            <p:spPr>
              <a:xfrm>
                <a:off x="0" y="0"/>
                <a:ext cx="304800" cy="762000"/>
              </a:xfrm>
              <a:prstGeom prst="rect">
                <a:avLst/>
              </a:prstGeom>
              <a:solidFill>
                <a:srgbClr val="FF9900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1" name="Google Shape;1891;p69"/>
            <p:cNvGrpSpPr/>
            <p:nvPr/>
          </p:nvGrpSpPr>
          <p:grpSpPr>
            <a:xfrm>
              <a:off x="1981200" y="1676400"/>
              <a:ext cx="1412875" cy="609600"/>
              <a:chOff x="0" y="0"/>
              <a:chExt cx="1412875" cy="609600"/>
            </a:xfrm>
          </p:grpSpPr>
          <p:sp>
            <p:nvSpPr>
              <p:cNvPr id="1892" name="Google Shape;1892;p69"/>
              <p:cNvSpPr/>
              <p:nvPr/>
            </p:nvSpPr>
            <p:spPr>
              <a:xfrm>
                <a:off x="955675" y="241300"/>
                <a:ext cx="457200" cy="152400"/>
              </a:xfrm>
              <a:prstGeom prst="rect">
                <a:avLst/>
              </a:prstGeom>
              <a:solidFill>
                <a:srgbClr val="00CC9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3" name="Google Shape;1893;p69"/>
              <p:cNvSpPr/>
              <p:nvPr/>
            </p:nvSpPr>
            <p:spPr>
              <a:xfrm>
                <a:off x="0" y="0"/>
                <a:ext cx="1066800" cy="609600"/>
              </a:xfrm>
              <a:prstGeom prst="rect">
                <a:avLst/>
              </a:prstGeom>
              <a:solidFill>
                <a:srgbClr val="00CC99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800"/>
                  <a:buFont typeface="Arial"/>
                  <a:buNone/>
                </a:pPr>
                <a:r>
                  <a:t/>
                </a:r>
                <a:endParaRPr b="1" i="0" sz="4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image30.png" id="1894" name="Google Shape;189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2700" y="304800"/>
              <a:ext cx="1104900" cy="3505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5" name="Google Shape;1895;p69"/>
            <p:cNvSpPr txBox="1"/>
            <p:nvPr/>
          </p:nvSpPr>
          <p:spPr>
            <a:xfrm>
              <a:off x="2286000" y="0"/>
              <a:ext cx="1746449" cy="456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camera 1</a:t>
              </a:r>
              <a:endParaRPr/>
            </a:p>
          </p:txBody>
        </p:sp>
        <p:sp>
          <p:nvSpPr>
            <p:cNvPr id="1896" name="Google Shape;1896;p69"/>
            <p:cNvSpPr txBox="1"/>
            <p:nvPr/>
          </p:nvSpPr>
          <p:spPr>
            <a:xfrm>
              <a:off x="-1" y="1612900"/>
              <a:ext cx="1633539" cy="456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projector</a:t>
              </a:r>
              <a:endParaRPr/>
            </a:p>
          </p:txBody>
        </p:sp>
        <p:sp>
          <p:nvSpPr>
            <p:cNvPr id="1897" name="Google Shape;1897;p69"/>
            <p:cNvSpPr/>
            <p:nvPr/>
          </p:nvSpPr>
          <p:spPr>
            <a:xfrm>
              <a:off x="3352800" y="609600"/>
              <a:ext cx="3048001" cy="3048001"/>
            </a:xfrm>
            <a:custGeom>
              <a:rect b="b" l="l" r="r" t="t"/>
              <a:pathLst>
                <a:path extrusionOk="0" h="21600" w="21600">
                  <a:moveTo>
                    <a:pt x="0" y="972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9720"/>
                  </a:lnTo>
                  <a:close/>
                </a:path>
              </a:pathLst>
            </a:custGeom>
            <a:solidFill>
              <a:srgbClr val="B2B2B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t/>
              </a:r>
              <a:endParaRPr b="1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8" name="Google Shape;1898;p69"/>
          <p:cNvSpPr txBox="1"/>
          <p:nvPr/>
        </p:nvSpPr>
        <p:spPr>
          <a:xfrm>
            <a:off x="20421600" y="12982452"/>
            <a:ext cx="4673600" cy="495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 Light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R. Szeliski</a:t>
            </a:r>
            <a:endParaRPr/>
          </a:p>
        </p:txBody>
      </p:sp>
      <p:sp>
        <p:nvSpPr>
          <p:cNvPr id="1899" name="Google Shape;1899;p69"/>
          <p:cNvSpPr txBox="1"/>
          <p:nvPr/>
        </p:nvSpPr>
        <p:spPr>
          <a:xfrm>
            <a:off x="325127" y="12835428"/>
            <a:ext cx="17708881" cy="6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 Light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[Zhang, Curless, Seitz, 2002]</a:t>
            </a:r>
            <a:endParaRPr/>
          </a:p>
        </p:txBody>
      </p:sp>
      <p:sp>
        <p:nvSpPr>
          <p:cNvPr id="1900" name="Google Shape;1900;p69"/>
          <p:cNvSpPr txBox="1"/>
          <p:nvPr/>
        </p:nvSpPr>
        <p:spPr>
          <a:xfrm>
            <a:off x="5818685" y="10793933"/>
            <a:ext cx="4934001" cy="530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Easy-to-match pattern </a:t>
            </a:r>
            <a:endParaRPr/>
          </a:p>
        </p:txBody>
      </p:sp>
      <p:sp>
        <p:nvSpPr>
          <p:cNvPr id="1901" name="Google Shape;1901;p69"/>
          <p:cNvSpPr txBox="1"/>
          <p:nvPr/>
        </p:nvSpPr>
        <p:spPr>
          <a:xfrm>
            <a:off x="13828163" y="10793933"/>
            <a:ext cx="8422247" cy="530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we really need the second camera?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70"/>
          <p:cNvSpPr txBox="1"/>
          <p:nvPr>
            <p:ph idx="12" type="sldNum"/>
          </p:nvPr>
        </p:nvSpPr>
        <p:spPr>
          <a:xfrm>
            <a:off x="18832054" y="13045439"/>
            <a:ext cx="551181" cy="574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fld id="{00000000-1234-1234-1234-123412341234}" type="slidenum"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07" name="Google Shape;1907;p70"/>
          <p:cNvSpPr txBox="1"/>
          <p:nvPr/>
        </p:nvSpPr>
        <p:spPr>
          <a:xfrm>
            <a:off x="4419600" y="12496800"/>
            <a:ext cx="3835400" cy="391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576, Spring 2008</a:t>
            </a:r>
            <a:endParaRPr/>
          </a:p>
        </p:txBody>
      </p:sp>
      <p:sp>
        <p:nvSpPr>
          <p:cNvPr id="1908" name="Google Shape;1908;p70"/>
          <p:cNvSpPr txBox="1"/>
          <p:nvPr/>
        </p:nvSpPr>
        <p:spPr>
          <a:xfrm>
            <a:off x="9296400" y="12496800"/>
            <a:ext cx="5816600" cy="391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matching</a:t>
            </a:r>
            <a:endParaRPr/>
          </a:p>
        </p:txBody>
      </p:sp>
      <p:sp>
        <p:nvSpPr>
          <p:cNvPr id="1909" name="Google Shape;1909;p70"/>
          <p:cNvSpPr txBox="1"/>
          <p:nvPr>
            <p:ph type="title"/>
          </p:nvPr>
        </p:nvSpPr>
        <p:spPr>
          <a:xfrm>
            <a:off x="4419600" y="-1092200"/>
            <a:ext cx="15544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Helvetica Neue"/>
              <a:buNone/>
            </a:pPr>
            <a:r>
              <a:rPr lang="en-US" sz="10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RGB-D sensors</a:t>
            </a:r>
            <a:endParaRPr/>
          </a:p>
        </p:txBody>
      </p:sp>
      <p:sp>
        <p:nvSpPr>
          <p:cNvPr id="1910" name="Google Shape;1910;p70"/>
          <p:cNvSpPr/>
          <p:nvPr/>
        </p:nvSpPr>
        <p:spPr>
          <a:xfrm>
            <a:off x="4318000" y="12331700"/>
            <a:ext cx="9677400" cy="82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11" name="Google Shape;1911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185" y="6665958"/>
            <a:ext cx="12288898" cy="4374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912" name="Google Shape;1912;p70"/>
          <p:cNvPicPr preferRelativeResize="0"/>
          <p:nvPr/>
        </p:nvPicPr>
        <p:blipFill rotWithShape="1">
          <a:blip r:embed="rId4">
            <a:alphaModFix/>
          </a:blip>
          <a:srcRect b="0" l="49821" r="0" t="0"/>
          <a:stretch/>
        </p:blipFill>
        <p:spPr>
          <a:xfrm>
            <a:off x="15221895" y="2540962"/>
            <a:ext cx="6608681" cy="495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913" name="Google Shape;1913;p70"/>
          <p:cNvPicPr preferRelativeResize="0"/>
          <p:nvPr/>
        </p:nvPicPr>
        <p:blipFill rotWithShape="1">
          <a:blip r:embed="rId4">
            <a:alphaModFix/>
          </a:blip>
          <a:srcRect b="0" l="0" r="49881" t="0"/>
          <a:stretch/>
        </p:blipFill>
        <p:spPr>
          <a:xfrm>
            <a:off x="15251176" y="7616171"/>
            <a:ext cx="6600780" cy="495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4" name="Google Shape;1914;p70"/>
          <p:cNvGrpSpPr/>
          <p:nvPr/>
        </p:nvGrpSpPr>
        <p:grpSpPr>
          <a:xfrm>
            <a:off x="5901997" y="5297811"/>
            <a:ext cx="3835401" cy="2654233"/>
            <a:chOff x="0" y="0"/>
            <a:chExt cx="3835400" cy="2654231"/>
          </a:xfrm>
        </p:grpSpPr>
        <p:cxnSp>
          <p:nvCxnSpPr>
            <p:cNvPr id="1915" name="Google Shape;1915;p70"/>
            <p:cNvCxnSpPr/>
            <p:nvPr/>
          </p:nvCxnSpPr>
          <p:spPr>
            <a:xfrm flipH="1" rot="10800000">
              <a:off x="768924" y="663592"/>
              <a:ext cx="486187" cy="1990639"/>
            </a:xfrm>
            <a:prstGeom prst="straightConnector1">
              <a:avLst/>
            </a:prstGeom>
            <a:noFill/>
            <a:ln cap="flat" cmpd="sng" w="63500">
              <a:solidFill>
                <a:srgbClr val="D5D5D5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sp>
          <p:nvSpPr>
            <p:cNvPr id="1916" name="Google Shape;1916;p70"/>
            <p:cNvSpPr txBox="1"/>
            <p:nvPr/>
          </p:nvSpPr>
          <p:spPr>
            <a:xfrm>
              <a:off x="0" y="0"/>
              <a:ext cx="3835400" cy="693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Helvetica Neue Light"/>
                <a:buNone/>
              </a:pPr>
              <a:r>
                <a:rPr b="0" i="0" lang="en-US" sz="47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RGB camera</a:t>
              </a:r>
              <a:endParaRPr/>
            </a:p>
          </p:txBody>
        </p:sp>
      </p:grpSp>
      <p:grpSp>
        <p:nvGrpSpPr>
          <p:cNvPr id="1917" name="Google Shape;1917;p70"/>
          <p:cNvGrpSpPr/>
          <p:nvPr/>
        </p:nvGrpSpPr>
        <p:grpSpPr>
          <a:xfrm>
            <a:off x="1073264" y="5297811"/>
            <a:ext cx="13492868" cy="2616400"/>
            <a:chOff x="0" y="0"/>
            <a:chExt cx="13492868" cy="2616398"/>
          </a:xfrm>
        </p:grpSpPr>
        <p:cxnSp>
          <p:nvCxnSpPr>
            <p:cNvPr id="1918" name="Google Shape;1918;p70"/>
            <p:cNvCxnSpPr/>
            <p:nvPr/>
          </p:nvCxnSpPr>
          <p:spPr>
            <a:xfrm rot="10800000">
              <a:off x="1650011" y="703644"/>
              <a:ext cx="1549477" cy="1912754"/>
            </a:xfrm>
            <a:prstGeom prst="straightConnector1">
              <a:avLst/>
            </a:prstGeom>
            <a:noFill/>
            <a:ln cap="flat" cmpd="sng" w="63500">
              <a:solidFill>
                <a:srgbClr val="D5D5D5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sp>
          <p:nvSpPr>
            <p:cNvPr id="1919" name="Google Shape;1919;p70"/>
            <p:cNvSpPr txBox="1"/>
            <p:nvPr/>
          </p:nvSpPr>
          <p:spPr>
            <a:xfrm>
              <a:off x="0" y="0"/>
              <a:ext cx="4581525" cy="693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Helvetica Neue Light"/>
                <a:buNone/>
              </a:pPr>
              <a:r>
                <a:rPr b="0" i="0" lang="en-US" sz="47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Infrared projector</a:t>
              </a:r>
              <a:endParaRPr/>
            </a:p>
          </p:txBody>
        </p:sp>
        <p:cxnSp>
          <p:nvCxnSpPr>
            <p:cNvPr id="1920" name="Google Shape;1920;p70"/>
            <p:cNvCxnSpPr/>
            <p:nvPr/>
          </p:nvCxnSpPr>
          <p:spPr>
            <a:xfrm flipH="1" rot="10800000">
              <a:off x="6678122" y="684760"/>
              <a:ext cx="3864644" cy="1919448"/>
            </a:xfrm>
            <a:prstGeom prst="straightConnector1">
              <a:avLst/>
            </a:prstGeom>
            <a:noFill/>
            <a:ln cap="flat" cmpd="sng" w="63500">
              <a:solidFill>
                <a:srgbClr val="D5D5D5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sp>
          <p:nvSpPr>
            <p:cNvPr id="1921" name="Google Shape;1921;p70"/>
            <p:cNvSpPr txBox="1"/>
            <p:nvPr/>
          </p:nvSpPr>
          <p:spPr>
            <a:xfrm>
              <a:off x="9108876" y="0"/>
              <a:ext cx="4383992" cy="693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39687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00"/>
                <a:buFont typeface="Helvetica Neue Light"/>
                <a:buNone/>
              </a:pPr>
              <a:r>
                <a:rPr b="0" i="0" lang="en-US" sz="47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Infrared camera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71"/>
          <p:cNvSpPr txBox="1"/>
          <p:nvPr>
            <p:ph idx="12" type="sldNum"/>
          </p:nvPr>
        </p:nvSpPr>
        <p:spPr>
          <a:xfrm>
            <a:off x="17833208" y="12496800"/>
            <a:ext cx="452384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fld id="{00000000-1234-1234-1234-123412341234}" type="slidenum"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27" name="Google Shape;1927;p71"/>
          <p:cNvSpPr txBox="1"/>
          <p:nvPr/>
        </p:nvSpPr>
        <p:spPr>
          <a:xfrm>
            <a:off x="4419600" y="12496800"/>
            <a:ext cx="3835400" cy="391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576, Spring 2008</a:t>
            </a:r>
            <a:endParaRPr/>
          </a:p>
        </p:txBody>
      </p:sp>
      <p:sp>
        <p:nvSpPr>
          <p:cNvPr id="1928" name="Google Shape;1928;p71"/>
          <p:cNvSpPr txBox="1"/>
          <p:nvPr/>
        </p:nvSpPr>
        <p:spPr>
          <a:xfrm>
            <a:off x="9296400" y="12496800"/>
            <a:ext cx="5816600" cy="391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Stereo matching</a:t>
            </a:r>
            <a:endParaRPr/>
          </a:p>
        </p:txBody>
      </p:sp>
      <p:cxnSp>
        <p:nvCxnSpPr>
          <p:cNvPr id="1929" name="Google Shape;1929;p71"/>
          <p:cNvCxnSpPr/>
          <p:nvPr/>
        </p:nvCxnSpPr>
        <p:spPr>
          <a:xfrm>
            <a:off x="4419600" y="3047998"/>
            <a:ext cx="15544800" cy="318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0" name="Google Shape;1930;p71"/>
          <p:cNvSpPr txBox="1"/>
          <p:nvPr>
            <p:ph type="title"/>
          </p:nvPr>
        </p:nvSpPr>
        <p:spPr>
          <a:xfrm>
            <a:off x="4419600" y="914400"/>
            <a:ext cx="155448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8000"/>
              <a:buFont typeface="Arial"/>
              <a:buNone/>
            </a:pPr>
            <a:r>
              <a:t/>
            </a:r>
            <a:endParaRPr sz="8000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1.png" id="1931" name="Google Shape;193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-50800"/>
            <a:ext cx="18288000" cy="137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72"/>
          <p:cNvSpPr txBox="1"/>
          <p:nvPr>
            <p:ph idx="12" type="sldNum"/>
          </p:nvPr>
        </p:nvSpPr>
        <p:spPr>
          <a:xfrm>
            <a:off x="18070032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b="1"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7" name="Google Shape;1937;p72"/>
          <p:cNvSpPr txBox="1"/>
          <p:nvPr>
            <p:ph type="title"/>
          </p:nvPr>
        </p:nvSpPr>
        <p:spPr>
          <a:xfrm>
            <a:off x="3962400" y="180975"/>
            <a:ext cx="16459200" cy="3019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2.png" id="1938" name="Google Shape;193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-25400"/>
            <a:ext cx="18288000" cy="137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73"/>
          <p:cNvSpPr txBox="1"/>
          <p:nvPr>
            <p:ph idx="12" type="sldNum"/>
          </p:nvPr>
        </p:nvSpPr>
        <p:spPr>
          <a:xfrm>
            <a:off x="18070032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b="1"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44" name="Google Shape;1944;p73"/>
          <p:cNvSpPr txBox="1"/>
          <p:nvPr>
            <p:ph type="title"/>
          </p:nvPr>
        </p:nvSpPr>
        <p:spPr>
          <a:xfrm>
            <a:off x="3962400" y="180975"/>
            <a:ext cx="16459200" cy="3019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3.png" id="1945" name="Google Shape;194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-152400"/>
            <a:ext cx="18288000" cy="139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74"/>
          <p:cNvSpPr txBox="1"/>
          <p:nvPr>
            <p:ph idx="12" type="sldNum"/>
          </p:nvPr>
        </p:nvSpPr>
        <p:spPr>
          <a:xfrm>
            <a:off x="18070032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b="1"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51" name="Google Shape;1951;p74"/>
          <p:cNvSpPr txBox="1"/>
          <p:nvPr>
            <p:ph type="title"/>
          </p:nvPr>
        </p:nvSpPr>
        <p:spPr>
          <a:xfrm>
            <a:off x="3962400" y="180975"/>
            <a:ext cx="16459200" cy="3019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rmAutofit/>
          </a:bodyPr>
          <a:lstStyle/>
          <a:p>
            <a:pPr indent="39687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t/>
            </a:r>
            <a:endParaRPr sz="8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4.png" id="1952" name="Google Shape;195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-457200"/>
            <a:ext cx="18288000" cy="146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52.png" id="1957" name="Google Shape;195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1738" y="4029076"/>
            <a:ext cx="16900524" cy="690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8" name="Google Shape;1958;p75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Making panoramas</a:t>
            </a:r>
            <a:endParaRPr/>
          </a:p>
        </p:txBody>
      </p:sp>
      <p:sp>
        <p:nvSpPr>
          <p:cNvPr id="1959" name="Google Shape;1959;p75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76"/>
          <p:cNvSpPr txBox="1"/>
          <p:nvPr>
            <p:ph type="title"/>
          </p:nvPr>
        </p:nvSpPr>
        <p:spPr>
          <a:xfrm>
            <a:off x="3962400" y="5715000"/>
            <a:ext cx="1645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Helvetica Neue"/>
              <a:buNone/>
            </a:pPr>
            <a:r>
              <a:rPr b="0" lang="en-US" sz="9600">
                <a:latin typeface="Helvetica Neue"/>
                <a:ea typeface="Helvetica Neue"/>
                <a:cs typeface="Helvetica Neue"/>
                <a:sym typeface="Helvetica Neue"/>
              </a:rPr>
              <a:t>Making panoramas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1969" name="Google Shape;196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2124" y="5181600"/>
            <a:ext cx="7696676" cy="5778500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pic>
        <p:nvPicPr>
          <p:cNvPr descr="IMG_0102" id="1970" name="Google Shape;1970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5181600"/>
            <a:ext cx="7696676" cy="5778500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sp>
        <p:nvSpPr>
          <p:cNvPr id="1971" name="Google Shape;1971;p77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42"/>
              <a:buFont typeface="Helvetica Neue"/>
              <a:buNone/>
            </a:pPr>
            <a:r>
              <a:rPr lang="en-US" sz="6942">
                <a:latin typeface="Helvetica Neue"/>
                <a:ea typeface="Helvetica Neue"/>
                <a:cs typeface="Helvetica Neue"/>
                <a:sym typeface="Helvetica Neue"/>
              </a:rPr>
              <a:t>What is the geometric relationship between these two images?</a:t>
            </a:r>
            <a:endParaRPr/>
          </a:p>
        </p:txBody>
      </p:sp>
      <p:grpSp>
        <p:nvGrpSpPr>
          <p:cNvPr id="1972" name="Google Shape;1972;p77"/>
          <p:cNvGrpSpPr/>
          <p:nvPr/>
        </p:nvGrpSpPr>
        <p:grpSpPr>
          <a:xfrm>
            <a:off x="11430000" y="6705600"/>
            <a:ext cx="1371600" cy="2083951"/>
            <a:chOff x="0" y="0"/>
            <a:chExt cx="1371600" cy="2083950"/>
          </a:xfrm>
        </p:grpSpPr>
        <p:sp>
          <p:nvSpPr>
            <p:cNvPr id="1973" name="Google Shape;1973;p77"/>
            <p:cNvSpPr/>
            <p:nvPr/>
          </p:nvSpPr>
          <p:spPr>
            <a:xfrm>
              <a:off x="0" y="864750"/>
              <a:ext cx="1371600" cy="1219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F81BD"/>
            </a:solidFill>
            <a:ln>
              <a:noFill/>
            </a:ln>
            <a:effectLst>
              <a:outerShdw blurRad="101600" rotWithShape="0" dir="2700000" dist="762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77"/>
            <p:cNvSpPr txBox="1"/>
            <p:nvPr/>
          </p:nvSpPr>
          <p:spPr>
            <a:xfrm>
              <a:off x="152399" y="0"/>
              <a:ext cx="572216" cy="994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Calibri"/>
                <a:buNone/>
              </a:pPr>
              <a:r>
                <a:rPr b="0" i="0" lang="en-US" sz="6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2.png" id="1979" name="Google Shape;197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3200400"/>
            <a:ext cx="17429653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78"/>
          <p:cNvSpPr txBox="1"/>
          <p:nvPr/>
        </p:nvSpPr>
        <p:spPr>
          <a:xfrm>
            <a:off x="7552347" y="10934579"/>
            <a:ext cx="10210547" cy="8526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don’t these image line up exactly?</a:t>
            </a:r>
            <a:endParaRPr/>
          </a:p>
        </p:txBody>
      </p:sp>
      <p:sp>
        <p:nvSpPr>
          <p:cNvPr id="1981" name="Google Shape;1981;p7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Image alignment</a:t>
            </a:r>
            <a:endParaRPr/>
          </a:p>
        </p:txBody>
      </p:sp>
      <p:sp>
        <p:nvSpPr>
          <p:cNvPr id="1982" name="Google Shape;1982;p78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79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0"/>
              <a:buFont typeface="Calibri"/>
              <a:buNone/>
            </a:pPr>
            <a:r>
              <a:rPr lang="en-US" sz="7410"/>
              <a:t>What is the geometric relationship between these two images?</a:t>
            </a:r>
            <a:endParaRPr/>
          </a:p>
        </p:txBody>
      </p:sp>
      <p:pic>
        <p:nvPicPr>
          <p:cNvPr descr="C:\snavely\matlab\A2P3\search.png" id="1988" name="Google Shape;198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0" y="4724400"/>
            <a:ext cx="8534400" cy="7415984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pic>
        <p:nvPicPr>
          <p:cNvPr descr="image4.png" id="1989" name="Google Shape;1989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7568" y="5077967"/>
            <a:ext cx="4279232" cy="6504433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grpSp>
        <p:nvGrpSpPr>
          <p:cNvPr id="1990" name="Google Shape;1990;p79"/>
          <p:cNvGrpSpPr/>
          <p:nvPr/>
        </p:nvGrpSpPr>
        <p:grpSpPr>
          <a:xfrm>
            <a:off x="9601200" y="6755249"/>
            <a:ext cx="1371600" cy="2083952"/>
            <a:chOff x="0" y="0"/>
            <a:chExt cx="1371600" cy="2083950"/>
          </a:xfrm>
        </p:grpSpPr>
        <p:sp>
          <p:nvSpPr>
            <p:cNvPr id="1991" name="Google Shape;1991;p79"/>
            <p:cNvSpPr/>
            <p:nvPr/>
          </p:nvSpPr>
          <p:spPr>
            <a:xfrm>
              <a:off x="0" y="864750"/>
              <a:ext cx="1371600" cy="1219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F81BD"/>
            </a:solidFill>
            <a:ln>
              <a:noFill/>
            </a:ln>
            <a:effectLst>
              <a:outerShdw blurRad="101600" rotWithShape="0" dir="2700000" dist="762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79"/>
            <p:cNvSpPr txBox="1"/>
            <p:nvPr/>
          </p:nvSpPr>
          <p:spPr>
            <a:xfrm>
              <a:off x="152399" y="0"/>
              <a:ext cx="572216" cy="994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Calibri"/>
                <a:buNone/>
              </a:pPr>
              <a:r>
                <a:rPr b="0" i="0" lang="en-US" sz="6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1993" name="Google Shape;1993;p79"/>
          <p:cNvSpPr txBox="1"/>
          <p:nvPr/>
        </p:nvSpPr>
        <p:spPr>
          <a:xfrm>
            <a:off x="4698989" y="12306179"/>
            <a:ext cx="14909226" cy="693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Answer: Similarity transformation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(translation, rotation, uniform scale)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1998" name="Google Shape;199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667" y="7411360"/>
            <a:ext cx="4076701" cy="306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02" id="1999" name="Google Shape;1999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3667" y="3962400"/>
            <a:ext cx="4076701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3" id="2000" name="Google Shape;2000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6" y="5104038"/>
            <a:ext cx="8685367" cy="4039962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80"/>
          <p:cNvSpPr/>
          <p:nvPr/>
        </p:nvSpPr>
        <p:spPr>
          <a:xfrm>
            <a:off x="9231095" y="6553202"/>
            <a:ext cx="1284517" cy="128451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80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0"/>
              <a:buFont typeface="Calibri"/>
              <a:buNone/>
            </a:pPr>
            <a:r>
              <a:rPr lang="en-US" sz="7410"/>
              <a:t>What is the geometric relationship between these two images?</a:t>
            </a:r>
            <a:endParaRPr/>
          </a:p>
        </p:txBody>
      </p:sp>
      <p:sp>
        <p:nvSpPr>
          <p:cNvPr id="2003" name="Google Shape;2003;p80"/>
          <p:cNvSpPr txBox="1"/>
          <p:nvPr/>
        </p:nvSpPr>
        <p:spPr>
          <a:xfrm>
            <a:off x="10668000" y="11125200"/>
            <a:ext cx="9433938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important for creating mosaics!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81"/>
          <p:cNvSpPr txBox="1"/>
          <p:nvPr/>
        </p:nvSpPr>
        <p:spPr>
          <a:xfrm>
            <a:off x="9296400" y="12835870"/>
            <a:ext cx="5791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Stitching</a:t>
            </a:r>
            <a:endParaRPr/>
          </a:p>
        </p:txBody>
      </p:sp>
      <p:sp>
        <p:nvSpPr>
          <p:cNvPr id="2009" name="Google Shape;2009;p81"/>
          <p:cNvSpPr txBox="1"/>
          <p:nvPr/>
        </p:nvSpPr>
        <p:spPr>
          <a:xfrm>
            <a:off x="3962400" y="12835870"/>
            <a:ext cx="4267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Richard Szeliski</a:t>
            </a:r>
            <a:endParaRPr/>
          </a:p>
        </p:txBody>
      </p:sp>
      <p:sp>
        <p:nvSpPr>
          <p:cNvPr id="2010" name="Google Shape;2010;p81"/>
          <p:cNvSpPr txBox="1"/>
          <p:nvPr>
            <p:ph idx="4294967295" type="sldNum"/>
          </p:nvPr>
        </p:nvSpPr>
        <p:spPr>
          <a:xfrm>
            <a:off x="20067815" y="12835870"/>
            <a:ext cx="353785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11" name="Google Shape;2011;p81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Image Warping</a:t>
            </a:r>
            <a:endParaRPr/>
          </a:p>
        </p:txBody>
      </p:sp>
      <p:sp>
        <p:nvSpPr>
          <p:cNvPr id="2012" name="Google Shape;2012;p81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filtering: change </a:t>
            </a:r>
            <a:r>
              <a:rPr i="1" lang="en-US"/>
              <a:t>range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h(f(x))</a:t>
            </a:r>
            <a:endParaRPr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685800" lvl="0" marL="685800" rtl="0" algn="l">
              <a:lnSpc>
                <a:spcPct val="17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warping: change </a:t>
            </a:r>
            <a:r>
              <a:rPr i="1" lang="en-US"/>
              <a:t>domain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f(h(x))</a:t>
            </a:r>
            <a:endParaRPr/>
          </a:p>
        </p:txBody>
      </p:sp>
      <p:grpSp>
        <p:nvGrpSpPr>
          <p:cNvPr id="2013" name="Google Shape;2013;p81"/>
          <p:cNvGrpSpPr/>
          <p:nvPr/>
        </p:nvGrpSpPr>
        <p:grpSpPr>
          <a:xfrm>
            <a:off x="6096000" y="5334000"/>
            <a:ext cx="3962400" cy="1828800"/>
            <a:chOff x="0" y="0"/>
            <a:chExt cx="3962400" cy="1828800"/>
          </a:xfrm>
        </p:grpSpPr>
        <p:cxnSp>
          <p:nvCxnSpPr>
            <p:cNvPr id="2014" name="Google Shape;2014;p81"/>
            <p:cNvCxnSpPr/>
            <p:nvPr/>
          </p:nvCxnSpPr>
          <p:spPr>
            <a:xfrm flipH="1">
              <a:off x="609599" y="152400"/>
              <a:ext cx="1" cy="1676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5" name="Google Shape;2015;p81"/>
            <p:cNvCxnSpPr/>
            <p:nvPr/>
          </p:nvCxnSpPr>
          <p:spPr>
            <a:xfrm>
              <a:off x="609600" y="1828800"/>
              <a:ext cx="30480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6" name="Google Shape;2016;p81"/>
            <p:cNvSpPr/>
            <p:nvPr/>
          </p:nvSpPr>
          <p:spPr>
            <a:xfrm>
              <a:off x="914400" y="453475"/>
              <a:ext cx="2133600" cy="1087474"/>
            </a:xfrm>
            <a:custGeom>
              <a:rect b="b" l="l" r="r" t="t"/>
              <a:pathLst>
                <a:path extrusionOk="0" h="19266" w="21600">
                  <a:moveTo>
                    <a:pt x="0" y="16266"/>
                  </a:moveTo>
                  <a:cubicBezTo>
                    <a:pt x="771" y="8616"/>
                    <a:pt x="1543" y="966"/>
                    <a:pt x="3086" y="66"/>
                  </a:cubicBezTo>
                  <a:cubicBezTo>
                    <a:pt x="4629" y="-834"/>
                    <a:pt x="6943" y="7716"/>
                    <a:pt x="9257" y="10866"/>
                  </a:cubicBezTo>
                  <a:cubicBezTo>
                    <a:pt x="11571" y="14016"/>
                    <a:pt x="14914" y="20766"/>
                    <a:pt x="16971" y="18966"/>
                  </a:cubicBezTo>
                  <a:cubicBezTo>
                    <a:pt x="19029" y="17166"/>
                    <a:pt x="20829" y="3216"/>
                    <a:pt x="21600" y="66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81"/>
            <p:cNvSpPr/>
            <p:nvPr/>
          </p:nvSpPr>
          <p:spPr>
            <a:xfrm>
              <a:off x="0" y="0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2018" name="Google Shape;2018;p81"/>
            <p:cNvSpPr/>
            <p:nvPr/>
          </p:nvSpPr>
          <p:spPr>
            <a:xfrm>
              <a:off x="3200400" y="1704975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019" name="Google Shape;2019;p81"/>
          <p:cNvGrpSpPr/>
          <p:nvPr/>
        </p:nvGrpSpPr>
        <p:grpSpPr>
          <a:xfrm>
            <a:off x="10210800" y="5943600"/>
            <a:ext cx="3200400" cy="457200"/>
            <a:chOff x="0" y="0"/>
            <a:chExt cx="3200400" cy="457200"/>
          </a:xfrm>
        </p:grpSpPr>
        <p:sp>
          <p:nvSpPr>
            <p:cNvPr id="2020" name="Google Shape;2020;p81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021" name="Google Shape;2021;p81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22" name="Google Shape;2022;p81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023" name="Google Shape;2023;p81"/>
          <p:cNvGrpSpPr/>
          <p:nvPr/>
        </p:nvGrpSpPr>
        <p:grpSpPr>
          <a:xfrm>
            <a:off x="14325600" y="5334000"/>
            <a:ext cx="3962400" cy="1828800"/>
            <a:chOff x="0" y="0"/>
            <a:chExt cx="3962400" cy="1828800"/>
          </a:xfrm>
        </p:grpSpPr>
        <p:cxnSp>
          <p:nvCxnSpPr>
            <p:cNvPr id="2024" name="Google Shape;2024;p81"/>
            <p:cNvCxnSpPr/>
            <p:nvPr/>
          </p:nvCxnSpPr>
          <p:spPr>
            <a:xfrm flipH="1">
              <a:off x="609599" y="152400"/>
              <a:ext cx="1" cy="1676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5" name="Google Shape;2025;p81"/>
            <p:cNvCxnSpPr/>
            <p:nvPr/>
          </p:nvCxnSpPr>
          <p:spPr>
            <a:xfrm>
              <a:off x="609600" y="1828800"/>
              <a:ext cx="30480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6" name="Google Shape;2026;p81"/>
            <p:cNvSpPr/>
            <p:nvPr/>
          </p:nvSpPr>
          <p:spPr>
            <a:xfrm>
              <a:off x="914400" y="426014"/>
              <a:ext cx="2133600" cy="453115"/>
            </a:xfrm>
            <a:custGeom>
              <a:rect b="b" l="l" r="r" t="t"/>
              <a:pathLst>
                <a:path extrusionOk="0" h="19266" w="21600">
                  <a:moveTo>
                    <a:pt x="0" y="16266"/>
                  </a:moveTo>
                  <a:cubicBezTo>
                    <a:pt x="771" y="8616"/>
                    <a:pt x="1543" y="966"/>
                    <a:pt x="3086" y="66"/>
                  </a:cubicBezTo>
                  <a:cubicBezTo>
                    <a:pt x="4629" y="-834"/>
                    <a:pt x="6943" y="7716"/>
                    <a:pt x="9257" y="10866"/>
                  </a:cubicBezTo>
                  <a:cubicBezTo>
                    <a:pt x="11571" y="14016"/>
                    <a:pt x="14914" y="20766"/>
                    <a:pt x="16971" y="18966"/>
                  </a:cubicBezTo>
                  <a:cubicBezTo>
                    <a:pt x="19029" y="17166"/>
                    <a:pt x="20829" y="3216"/>
                    <a:pt x="21600" y="66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81"/>
            <p:cNvSpPr/>
            <p:nvPr/>
          </p:nvSpPr>
          <p:spPr>
            <a:xfrm>
              <a:off x="0" y="0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2028" name="Google Shape;2028;p81"/>
            <p:cNvSpPr/>
            <p:nvPr/>
          </p:nvSpPr>
          <p:spPr>
            <a:xfrm>
              <a:off x="3200400" y="1704975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029" name="Google Shape;2029;p81"/>
          <p:cNvGrpSpPr/>
          <p:nvPr/>
        </p:nvGrpSpPr>
        <p:grpSpPr>
          <a:xfrm>
            <a:off x="6096000" y="10058400"/>
            <a:ext cx="3962400" cy="1828800"/>
            <a:chOff x="0" y="0"/>
            <a:chExt cx="3962400" cy="1828800"/>
          </a:xfrm>
        </p:grpSpPr>
        <p:cxnSp>
          <p:nvCxnSpPr>
            <p:cNvPr id="2030" name="Google Shape;2030;p81"/>
            <p:cNvCxnSpPr/>
            <p:nvPr/>
          </p:nvCxnSpPr>
          <p:spPr>
            <a:xfrm flipH="1">
              <a:off x="609599" y="152400"/>
              <a:ext cx="1" cy="1676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1" name="Google Shape;2031;p81"/>
            <p:cNvCxnSpPr/>
            <p:nvPr/>
          </p:nvCxnSpPr>
          <p:spPr>
            <a:xfrm>
              <a:off x="609600" y="1828800"/>
              <a:ext cx="30480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2" name="Google Shape;2032;p81"/>
            <p:cNvSpPr/>
            <p:nvPr/>
          </p:nvSpPr>
          <p:spPr>
            <a:xfrm>
              <a:off x="914400" y="453475"/>
              <a:ext cx="2133600" cy="1087474"/>
            </a:xfrm>
            <a:custGeom>
              <a:rect b="b" l="l" r="r" t="t"/>
              <a:pathLst>
                <a:path extrusionOk="0" h="19266" w="21600">
                  <a:moveTo>
                    <a:pt x="0" y="16266"/>
                  </a:moveTo>
                  <a:cubicBezTo>
                    <a:pt x="771" y="8616"/>
                    <a:pt x="1543" y="966"/>
                    <a:pt x="3086" y="66"/>
                  </a:cubicBezTo>
                  <a:cubicBezTo>
                    <a:pt x="4629" y="-834"/>
                    <a:pt x="6943" y="7716"/>
                    <a:pt x="9257" y="10866"/>
                  </a:cubicBezTo>
                  <a:cubicBezTo>
                    <a:pt x="11571" y="14016"/>
                    <a:pt x="14914" y="20766"/>
                    <a:pt x="16971" y="18966"/>
                  </a:cubicBezTo>
                  <a:cubicBezTo>
                    <a:pt x="19029" y="17166"/>
                    <a:pt x="20829" y="3216"/>
                    <a:pt x="21600" y="66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81"/>
            <p:cNvSpPr/>
            <p:nvPr/>
          </p:nvSpPr>
          <p:spPr>
            <a:xfrm>
              <a:off x="0" y="0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/>
            </a:p>
          </p:txBody>
        </p:sp>
        <p:sp>
          <p:nvSpPr>
            <p:cNvPr id="2034" name="Google Shape;2034;p81"/>
            <p:cNvSpPr/>
            <p:nvPr/>
          </p:nvSpPr>
          <p:spPr>
            <a:xfrm>
              <a:off x="3200400" y="1704975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2035" name="Google Shape;2035;p81"/>
          <p:cNvGrpSpPr/>
          <p:nvPr/>
        </p:nvGrpSpPr>
        <p:grpSpPr>
          <a:xfrm>
            <a:off x="10210800" y="10629900"/>
            <a:ext cx="3200400" cy="457200"/>
            <a:chOff x="0" y="0"/>
            <a:chExt cx="3200400" cy="457200"/>
          </a:xfrm>
        </p:grpSpPr>
        <p:sp>
          <p:nvSpPr>
            <p:cNvPr id="2036" name="Google Shape;2036;p81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037" name="Google Shape;2037;p81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38" name="Google Shape;2038;p81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039" name="Google Shape;2039;p81"/>
          <p:cNvGrpSpPr/>
          <p:nvPr/>
        </p:nvGrpSpPr>
        <p:grpSpPr>
          <a:xfrm>
            <a:off x="14325600" y="10058400"/>
            <a:ext cx="3962400" cy="1828800"/>
            <a:chOff x="0" y="0"/>
            <a:chExt cx="3962400" cy="1828800"/>
          </a:xfrm>
        </p:grpSpPr>
        <p:cxnSp>
          <p:nvCxnSpPr>
            <p:cNvPr id="2040" name="Google Shape;2040;p81"/>
            <p:cNvCxnSpPr/>
            <p:nvPr/>
          </p:nvCxnSpPr>
          <p:spPr>
            <a:xfrm flipH="1">
              <a:off x="609599" y="152400"/>
              <a:ext cx="1" cy="1676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1" name="Google Shape;2041;p81"/>
            <p:cNvCxnSpPr/>
            <p:nvPr/>
          </p:nvCxnSpPr>
          <p:spPr>
            <a:xfrm>
              <a:off x="609600" y="1828800"/>
              <a:ext cx="30480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42" name="Google Shape;2042;p81"/>
            <p:cNvSpPr/>
            <p:nvPr/>
          </p:nvSpPr>
          <p:spPr>
            <a:xfrm>
              <a:off x="2133600" y="453475"/>
              <a:ext cx="1219201" cy="1087474"/>
            </a:xfrm>
            <a:custGeom>
              <a:rect b="b" l="l" r="r" t="t"/>
              <a:pathLst>
                <a:path extrusionOk="0" h="19266" w="21600">
                  <a:moveTo>
                    <a:pt x="0" y="16266"/>
                  </a:moveTo>
                  <a:cubicBezTo>
                    <a:pt x="771" y="8616"/>
                    <a:pt x="1543" y="966"/>
                    <a:pt x="3086" y="66"/>
                  </a:cubicBezTo>
                  <a:cubicBezTo>
                    <a:pt x="4629" y="-834"/>
                    <a:pt x="6943" y="7716"/>
                    <a:pt x="9257" y="10866"/>
                  </a:cubicBezTo>
                  <a:cubicBezTo>
                    <a:pt x="11571" y="14016"/>
                    <a:pt x="14914" y="20766"/>
                    <a:pt x="16971" y="18966"/>
                  </a:cubicBezTo>
                  <a:cubicBezTo>
                    <a:pt x="19029" y="17166"/>
                    <a:pt x="20829" y="3216"/>
                    <a:pt x="21600" y="66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81"/>
            <p:cNvSpPr/>
            <p:nvPr/>
          </p:nvSpPr>
          <p:spPr>
            <a:xfrm>
              <a:off x="0" y="0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2044" name="Google Shape;2044;p81"/>
            <p:cNvSpPr/>
            <p:nvPr/>
          </p:nvSpPr>
          <p:spPr>
            <a:xfrm>
              <a:off x="3200400" y="1704975"/>
              <a:ext cx="7620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82"/>
          <p:cNvSpPr txBox="1"/>
          <p:nvPr/>
        </p:nvSpPr>
        <p:spPr>
          <a:xfrm>
            <a:off x="9296400" y="12835870"/>
            <a:ext cx="5791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Stitching</a:t>
            </a:r>
            <a:endParaRPr/>
          </a:p>
        </p:txBody>
      </p:sp>
      <p:sp>
        <p:nvSpPr>
          <p:cNvPr id="2050" name="Google Shape;2050;p82"/>
          <p:cNvSpPr txBox="1"/>
          <p:nvPr/>
        </p:nvSpPr>
        <p:spPr>
          <a:xfrm>
            <a:off x="3962400" y="12835870"/>
            <a:ext cx="4267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Richard Szeliski</a:t>
            </a:r>
            <a:endParaRPr/>
          </a:p>
        </p:txBody>
      </p:sp>
      <p:sp>
        <p:nvSpPr>
          <p:cNvPr id="2051" name="Google Shape;2051;p82"/>
          <p:cNvSpPr txBox="1"/>
          <p:nvPr>
            <p:ph idx="4294967295" type="sldNum"/>
          </p:nvPr>
        </p:nvSpPr>
        <p:spPr>
          <a:xfrm>
            <a:off x="20067815" y="12835870"/>
            <a:ext cx="353785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52" name="Google Shape;2052;p82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Image Warping</a:t>
            </a:r>
            <a:endParaRPr/>
          </a:p>
        </p:txBody>
      </p:sp>
      <p:sp>
        <p:nvSpPr>
          <p:cNvPr id="2053" name="Google Shape;2053;p8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filtering: change </a:t>
            </a:r>
            <a:r>
              <a:rPr i="1" lang="en-US"/>
              <a:t>range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h(f(x))</a:t>
            </a:r>
            <a:endParaRPr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685800" lvl="0" marL="685800" rtl="0" algn="l">
              <a:lnSpc>
                <a:spcPct val="17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warping: change </a:t>
            </a:r>
            <a:r>
              <a:rPr i="1" lang="en-US"/>
              <a:t>domain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f(h(x))</a:t>
            </a:r>
            <a:endParaRPr/>
          </a:p>
        </p:txBody>
      </p:sp>
      <p:grpSp>
        <p:nvGrpSpPr>
          <p:cNvPr id="2054" name="Google Shape;2054;p82"/>
          <p:cNvGrpSpPr/>
          <p:nvPr/>
        </p:nvGrpSpPr>
        <p:grpSpPr>
          <a:xfrm>
            <a:off x="10210800" y="5848350"/>
            <a:ext cx="3200400" cy="457200"/>
            <a:chOff x="0" y="0"/>
            <a:chExt cx="3200400" cy="457200"/>
          </a:xfrm>
        </p:grpSpPr>
        <p:sp>
          <p:nvSpPr>
            <p:cNvPr id="2055" name="Google Shape;2055;p82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056" name="Google Shape;2056;p82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57" name="Google Shape;2057;p82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058" name="Google Shape;2058;p82"/>
          <p:cNvGrpSpPr/>
          <p:nvPr/>
        </p:nvGrpSpPr>
        <p:grpSpPr>
          <a:xfrm>
            <a:off x="10210800" y="10629900"/>
            <a:ext cx="3200400" cy="457200"/>
            <a:chOff x="0" y="0"/>
            <a:chExt cx="3200400" cy="457200"/>
          </a:xfrm>
        </p:grpSpPr>
        <p:sp>
          <p:nvSpPr>
            <p:cNvPr id="2059" name="Google Shape;2059;p82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060" name="Google Shape;2060;p82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61" name="Google Shape;2061;p82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HHHIMG_1166" id="2062" name="Google Shape;206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518160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063" name="Google Shape;206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5200" y="518160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064" name="Google Shape;206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1000125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065" name="Google Shape;206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6625" y="10210800"/>
            <a:ext cx="3686174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82"/>
          <p:cNvSpPr txBox="1"/>
          <p:nvPr/>
        </p:nvSpPr>
        <p:spPr>
          <a:xfrm>
            <a:off x="5943600" y="5238750"/>
            <a:ext cx="609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067" name="Google Shape;2067;p82"/>
          <p:cNvSpPr txBox="1"/>
          <p:nvPr/>
        </p:nvSpPr>
        <p:spPr>
          <a:xfrm>
            <a:off x="5943600" y="10086975"/>
            <a:ext cx="609600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068" name="Google Shape;2068;p82"/>
          <p:cNvSpPr txBox="1"/>
          <p:nvPr/>
        </p:nvSpPr>
        <p:spPr>
          <a:xfrm>
            <a:off x="14325600" y="10239375"/>
            <a:ext cx="609600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2069" name="Google Shape;2069;p82"/>
          <p:cNvSpPr txBox="1"/>
          <p:nvPr/>
        </p:nvSpPr>
        <p:spPr>
          <a:xfrm>
            <a:off x="14325600" y="5238750"/>
            <a:ext cx="609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83"/>
          <p:cNvSpPr txBox="1"/>
          <p:nvPr/>
        </p:nvSpPr>
        <p:spPr>
          <a:xfrm>
            <a:off x="9296400" y="12835870"/>
            <a:ext cx="5791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Stitching</a:t>
            </a:r>
            <a:endParaRPr/>
          </a:p>
        </p:txBody>
      </p:sp>
      <p:sp>
        <p:nvSpPr>
          <p:cNvPr id="2075" name="Google Shape;2075;p83"/>
          <p:cNvSpPr txBox="1"/>
          <p:nvPr/>
        </p:nvSpPr>
        <p:spPr>
          <a:xfrm>
            <a:off x="3962400" y="12835870"/>
            <a:ext cx="4267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Richard Szeliski</a:t>
            </a:r>
            <a:endParaRPr/>
          </a:p>
        </p:txBody>
      </p:sp>
      <p:sp>
        <p:nvSpPr>
          <p:cNvPr id="2076" name="Google Shape;2076;p83"/>
          <p:cNvSpPr txBox="1"/>
          <p:nvPr>
            <p:ph idx="4294967295" type="sldNum"/>
          </p:nvPr>
        </p:nvSpPr>
        <p:spPr>
          <a:xfrm>
            <a:off x="20067815" y="12835870"/>
            <a:ext cx="353785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77" name="Google Shape;2077;p8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Parametric (global) warping</a:t>
            </a:r>
            <a:endParaRPr/>
          </a:p>
        </p:txBody>
      </p:sp>
      <p:sp>
        <p:nvSpPr>
          <p:cNvPr id="2078" name="Google Shape;2078;p83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Examples of parametric warps:</a:t>
            </a:r>
            <a:endParaRPr/>
          </a:p>
        </p:txBody>
      </p:sp>
      <p:pic>
        <p:nvPicPr>
          <p:cNvPr descr="HHHIMG_1166" id="2079" name="Google Shape;2079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9426" y="5610226"/>
            <a:ext cx="2924175" cy="219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83"/>
          <p:cNvSpPr txBox="1"/>
          <p:nvPr/>
        </p:nvSpPr>
        <p:spPr>
          <a:xfrm>
            <a:off x="6096000" y="7800975"/>
            <a:ext cx="2438400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translation</a:t>
            </a:r>
            <a:endParaRPr/>
          </a:p>
        </p:txBody>
      </p:sp>
      <p:pic>
        <p:nvPicPr>
          <p:cNvPr descr="HHHIMG_1166" id="2081" name="Google Shape;208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0" y="5638800"/>
            <a:ext cx="2924176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tated" id="2082" name="Google Shape;2082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0400" y="5181600"/>
            <a:ext cx="3511550" cy="28225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83"/>
          <p:cNvSpPr txBox="1"/>
          <p:nvPr/>
        </p:nvSpPr>
        <p:spPr>
          <a:xfrm>
            <a:off x="11283950" y="7772400"/>
            <a:ext cx="2438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rotation</a:t>
            </a:r>
            <a:endParaRPr/>
          </a:p>
        </p:txBody>
      </p:sp>
      <p:sp>
        <p:nvSpPr>
          <p:cNvPr id="2084" name="Google Shape;2084;p83"/>
          <p:cNvSpPr txBox="1"/>
          <p:nvPr/>
        </p:nvSpPr>
        <p:spPr>
          <a:xfrm>
            <a:off x="16154400" y="7620000"/>
            <a:ext cx="2438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/>
          </a:p>
        </p:txBody>
      </p:sp>
      <p:pic>
        <p:nvPicPr>
          <p:cNvPr descr="affine" id="2085" name="Google Shape;2085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1200" y="8991600"/>
            <a:ext cx="3492500" cy="261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6" name="Google Shape;2086;p83"/>
          <p:cNvSpPr txBox="1"/>
          <p:nvPr/>
        </p:nvSpPr>
        <p:spPr>
          <a:xfrm>
            <a:off x="6096000" y="11887200"/>
            <a:ext cx="2438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affine</a:t>
            </a:r>
            <a:endParaRPr/>
          </a:p>
        </p:txBody>
      </p:sp>
      <p:pic>
        <p:nvPicPr>
          <p:cNvPr descr="perspective" id="2087" name="Google Shape;2087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0400" y="9296400"/>
            <a:ext cx="3127376" cy="200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83"/>
          <p:cNvSpPr txBox="1"/>
          <p:nvPr/>
        </p:nvSpPr>
        <p:spPr>
          <a:xfrm>
            <a:off x="11052175" y="11480800"/>
            <a:ext cx="2743201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perspective</a:t>
            </a:r>
            <a:endParaRPr/>
          </a:p>
        </p:txBody>
      </p:sp>
      <p:pic>
        <p:nvPicPr>
          <p:cNvPr descr="cylindrical" id="2089" name="Google Shape;2089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22625" y="9086850"/>
            <a:ext cx="31273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83"/>
          <p:cNvSpPr txBox="1"/>
          <p:nvPr/>
        </p:nvSpPr>
        <p:spPr>
          <a:xfrm>
            <a:off x="16002000" y="11785600"/>
            <a:ext cx="27432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cylindrical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4"/>
          <p:cNvSpPr txBox="1"/>
          <p:nvPr/>
        </p:nvSpPr>
        <p:spPr>
          <a:xfrm>
            <a:off x="9296400" y="12835870"/>
            <a:ext cx="5791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Stitching</a:t>
            </a:r>
            <a:endParaRPr/>
          </a:p>
        </p:txBody>
      </p:sp>
      <p:sp>
        <p:nvSpPr>
          <p:cNvPr id="2096" name="Google Shape;2096;p84"/>
          <p:cNvSpPr txBox="1"/>
          <p:nvPr/>
        </p:nvSpPr>
        <p:spPr>
          <a:xfrm>
            <a:off x="3962400" y="12835870"/>
            <a:ext cx="4267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Richard Szeliski</a:t>
            </a:r>
            <a:endParaRPr/>
          </a:p>
        </p:txBody>
      </p:sp>
      <p:sp>
        <p:nvSpPr>
          <p:cNvPr id="2097" name="Google Shape;2097;p84"/>
          <p:cNvSpPr txBox="1"/>
          <p:nvPr>
            <p:ph idx="4294967295" type="sldNum"/>
          </p:nvPr>
        </p:nvSpPr>
        <p:spPr>
          <a:xfrm>
            <a:off x="20067815" y="12835870"/>
            <a:ext cx="353785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98" name="Google Shape;2098;p8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Parametric (global) warping</a:t>
            </a:r>
            <a:endParaRPr/>
          </a:p>
        </p:txBody>
      </p:sp>
      <p:sp>
        <p:nvSpPr>
          <p:cNvPr id="2099" name="Google Shape;2099;p84"/>
          <p:cNvSpPr txBox="1"/>
          <p:nvPr>
            <p:ph idx="1" type="body"/>
          </p:nvPr>
        </p:nvSpPr>
        <p:spPr>
          <a:xfrm>
            <a:off x="3962400" y="3200401"/>
            <a:ext cx="16459200" cy="15240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Examples of parametric warps:</a:t>
            </a:r>
            <a:endParaRPr/>
          </a:p>
        </p:txBody>
      </p:sp>
      <p:pic>
        <p:nvPicPr>
          <p:cNvPr descr="HHHIMG_1166" id="2100" name="Google Shape;210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6677025"/>
            <a:ext cx="2924175" cy="219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84"/>
          <p:cNvSpPr txBox="1"/>
          <p:nvPr/>
        </p:nvSpPr>
        <p:spPr>
          <a:xfrm>
            <a:off x="5610224" y="8867775"/>
            <a:ext cx="24384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translation</a:t>
            </a:r>
            <a:endParaRPr/>
          </a:p>
        </p:txBody>
      </p:sp>
      <p:pic>
        <p:nvPicPr>
          <p:cNvPr descr="HHHIMG_1166" id="2102" name="Google Shape;210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6225" y="6705600"/>
            <a:ext cx="2924176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tated" id="2103" name="Google Shape;2103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4624" y="6248400"/>
            <a:ext cx="3511551" cy="2822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84"/>
          <p:cNvSpPr txBox="1"/>
          <p:nvPr/>
        </p:nvSpPr>
        <p:spPr>
          <a:xfrm>
            <a:off x="10798174" y="8839200"/>
            <a:ext cx="2438401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rotation</a:t>
            </a:r>
            <a:endParaRPr/>
          </a:p>
        </p:txBody>
      </p:sp>
      <p:sp>
        <p:nvSpPr>
          <p:cNvPr id="2105" name="Google Shape;2105;p84"/>
          <p:cNvSpPr txBox="1"/>
          <p:nvPr/>
        </p:nvSpPr>
        <p:spPr>
          <a:xfrm>
            <a:off x="15668625" y="8686800"/>
            <a:ext cx="2438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85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Parametric (global) warping</a:t>
            </a:r>
            <a:endParaRPr/>
          </a:p>
        </p:txBody>
      </p:sp>
      <p:sp>
        <p:nvSpPr>
          <p:cNvPr id="2111" name="Google Shape;2111;p85"/>
          <p:cNvSpPr txBox="1"/>
          <p:nvPr>
            <p:ph idx="1" type="body"/>
          </p:nvPr>
        </p:nvSpPr>
        <p:spPr>
          <a:xfrm>
            <a:off x="3492500" y="5581650"/>
            <a:ext cx="17449800" cy="54133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Transformation T is a coordinate-changing machine: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n-US" sz="4800"/>
              <a:t>					p’ = </a:t>
            </a:r>
            <a:r>
              <a:rPr i="1" lang="en-US"/>
              <a:t>T</a:t>
            </a:r>
            <a:r>
              <a:rPr lang="en-US" sz="4800"/>
              <a:t>(p)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What does it mean that </a:t>
            </a:r>
            <a:r>
              <a:rPr i="1" lang="en-US"/>
              <a:t>T</a:t>
            </a:r>
            <a:r>
              <a:rPr lang="en-US" sz="4800"/>
              <a:t> is global?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Is the same for any point p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can be described by just a few numbers (parameters)</a:t>
            </a:r>
            <a:endParaRPr sz="5600"/>
          </a:p>
          <a:p>
            <a:pPr indent="-685800" lvl="0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Let’s consider </a:t>
            </a:r>
            <a:r>
              <a:rPr i="1" lang="en-US"/>
              <a:t>linear</a:t>
            </a:r>
            <a:r>
              <a:rPr lang="en-US" sz="4800"/>
              <a:t> xforms (can be represented by a 2D matrix):</a:t>
            </a:r>
            <a:endParaRPr/>
          </a:p>
        </p:txBody>
      </p:sp>
      <p:grpSp>
        <p:nvGrpSpPr>
          <p:cNvPr id="2112" name="Google Shape;2112;p85"/>
          <p:cNvGrpSpPr/>
          <p:nvPr/>
        </p:nvGrpSpPr>
        <p:grpSpPr>
          <a:xfrm>
            <a:off x="9753600" y="3380032"/>
            <a:ext cx="3200400" cy="457201"/>
            <a:chOff x="0" y="0"/>
            <a:chExt cx="3200400" cy="457200"/>
          </a:xfrm>
        </p:grpSpPr>
        <p:sp>
          <p:nvSpPr>
            <p:cNvPr id="2113" name="Google Shape;2113;p85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/>
            </a:p>
          </p:txBody>
        </p:sp>
        <p:cxnSp>
          <p:nvCxnSpPr>
            <p:cNvPr id="2114" name="Google Shape;2114;p85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5" name="Google Shape;2115;p85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HHHIMG_1166" id="2116" name="Google Shape;21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751382"/>
            <a:ext cx="2924176" cy="2190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117" name="Google Shape;211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0800" y="3418132"/>
            <a:ext cx="3686177" cy="1524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85"/>
          <p:cNvSpPr txBox="1"/>
          <p:nvPr/>
        </p:nvSpPr>
        <p:spPr>
          <a:xfrm>
            <a:off x="6096000" y="4942132"/>
            <a:ext cx="1671658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(x,y)</a:t>
            </a:r>
            <a:endParaRPr/>
          </a:p>
        </p:txBody>
      </p:sp>
      <p:sp>
        <p:nvSpPr>
          <p:cNvPr id="2119" name="Google Shape;2119;p85"/>
          <p:cNvSpPr txBox="1"/>
          <p:nvPr/>
        </p:nvSpPr>
        <p:spPr>
          <a:xfrm>
            <a:off x="14544675" y="4942132"/>
            <a:ext cx="1998708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(x’,y’)</a:t>
            </a:r>
            <a:endParaRPr/>
          </a:p>
        </p:txBody>
      </p:sp>
      <p:sp>
        <p:nvSpPr>
          <p:cNvPr id="2120" name="Google Shape;2120;p85"/>
          <p:cNvSpPr/>
          <p:nvPr/>
        </p:nvSpPr>
        <p:spPr>
          <a:xfrm>
            <a:off x="15306675" y="3637207"/>
            <a:ext cx="238125" cy="238125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85"/>
          <p:cNvSpPr/>
          <p:nvPr/>
        </p:nvSpPr>
        <p:spPr>
          <a:xfrm>
            <a:off x="7077076" y="3113332"/>
            <a:ext cx="238125" cy="238129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3.png" id="2122" name="Google Shape;2122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6" y="10941505"/>
            <a:ext cx="3512003" cy="1041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4.png" id="2123" name="Google Shape;2123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4863" y="10423069"/>
            <a:ext cx="6779079" cy="2370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86"/>
          <p:cNvSpPr txBox="1"/>
          <p:nvPr>
            <p:ph type="title"/>
          </p:nvPr>
        </p:nvSpPr>
        <p:spPr>
          <a:xfrm>
            <a:off x="3505200" y="457200"/>
            <a:ext cx="1737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Common linear transformations</a:t>
            </a:r>
            <a:endParaRPr/>
          </a:p>
        </p:txBody>
      </p:sp>
      <p:sp>
        <p:nvSpPr>
          <p:cNvPr id="2129" name="Google Shape;2129;p86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Uniform scaling by </a:t>
            </a:r>
            <a:r>
              <a:rPr i="1" lang="en-US"/>
              <a:t>s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pic>
        <p:nvPicPr>
          <p:cNvPr descr="C:\snavely\work\teaching\09Sp-CS1114\lectures\lec14\eye.jpg" id="2130" name="Google Shape;213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1471" y="5540830"/>
            <a:ext cx="5686290" cy="3815325"/>
          </a:xfrm>
          <a:prstGeom prst="rect">
            <a:avLst/>
          </a:prstGeom>
          <a:noFill/>
          <a:ln>
            <a:noFill/>
          </a:ln>
          <a:effectLst>
            <a:outerShdw blurRad="381000" rotWithShape="0" dir="2700000" dist="381000">
              <a:srgbClr val="000000">
                <a:alpha val="40000"/>
              </a:srgbClr>
            </a:outerShdw>
          </a:effectLst>
        </p:spPr>
      </p:pic>
      <p:pic>
        <p:nvPicPr>
          <p:cNvPr descr="C:\snavely\work\teaching\09Sp-CS1114\lectures\lec14\eye.jpg" id="2131" name="Google Shape;2131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56672" y="4131130"/>
            <a:ext cx="7836129" cy="5257801"/>
          </a:xfrm>
          <a:prstGeom prst="rect">
            <a:avLst/>
          </a:prstGeom>
          <a:noFill/>
          <a:ln>
            <a:noFill/>
          </a:ln>
          <a:effectLst>
            <a:outerShdw blurRad="381000" rotWithShape="0" dir="2700000" dist="381000">
              <a:srgbClr val="000000">
                <a:alpha val="40000"/>
              </a:srgbClr>
            </a:outerShdw>
          </a:effectLst>
        </p:spPr>
      </p:pic>
      <p:grpSp>
        <p:nvGrpSpPr>
          <p:cNvPr id="2132" name="Google Shape;2132;p86"/>
          <p:cNvGrpSpPr/>
          <p:nvPr/>
        </p:nvGrpSpPr>
        <p:grpSpPr>
          <a:xfrm>
            <a:off x="7418613" y="10620294"/>
            <a:ext cx="5514210" cy="2444856"/>
            <a:chOff x="0" y="0"/>
            <a:chExt cx="5514208" cy="2444855"/>
          </a:xfrm>
        </p:grpSpPr>
        <p:pic>
          <p:nvPicPr>
            <p:cNvPr descr="image17.png" id="2133" name="Google Shape;2133;p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514208" cy="2444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18.png" id="2134" name="Google Shape;2134;p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1221" y="686460"/>
              <a:ext cx="639765" cy="7948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5" name="Google Shape;2135;p86"/>
          <p:cNvSpPr/>
          <p:nvPr/>
        </p:nvSpPr>
        <p:spPr>
          <a:xfrm>
            <a:off x="5123833" y="9165769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86"/>
          <p:cNvSpPr/>
          <p:nvPr/>
        </p:nvSpPr>
        <p:spPr>
          <a:xfrm>
            <a:off x="12417262" y="9209312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86"/>
          <p:cNvSpPr txBox="1"/>
          <p:nvPr/>
        </p:nvSpPr>
        <p:spPr>
          <a:xfrm>
            <a:off x="4005941" y="8926279"/>
            <a:ext cx="1050376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(0,0)</a:t>
            </a:r>
            <a:endParaRPr/>
          </a:p>
        </p:txBody>
      </p:sp>
      <p:sp>
        <p:nvSpPr>
          <p:cNvPr id="2138" name="Google Shape;2138;p86"/>
          <p:cNvSpPr txBox="1"/>
          <p:nvPr/>
        </p:nvSpPr>
        <p:spPr>
          <a:xfrm>
            <a:off x="11342913" y="8948047"/>
            <a:ext cx="1050376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(0,0)</a:t>
            </a:r>
            <a:endParaRPr/>
          </a:p>
        </p:txBody>
      </p:sp>
      <p:sp>
        <p:nvSpPr>
          <p:cNvPr id="2139" name="Google Shape;2139;p86"/>
          <p:cNvSpPr txBox="1"/>
          <p:nvPr/>
        </p:nvSpPr>
        <p:spPr>
          <a:xfrm>
            <a:off x="14151426" y="11342909"/>
            <a:ext cx="5217339" cy="797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inverse?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87"/>
          <p:cNvSpPr txBox="1"/>
          <p:nvPr>
            <p:ph type="title"/>
          </p:nvPr>
        </p:nvSpPr>
        <p:spPr>
          <a:xfrm>
            <a:off x="3048000" y="45720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Common linear transformations</a:t>
            </a:r>
            <a:endParaRPr/>
          </a:p>
        </p:txBody>
      </p:sp>
      <p:sp>
        <p:nvSpPr>
          <p:cNvPr id="2145" name="Google Shape;2145;p87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Rotation by angle </a:t>
            </a:r>
            <a:r>
              <a:rPr i="1" lang="en-US" sz="5600">
                <a:latin typeface="Verdana"/>
                <a:ea typeface="Verdana"/>
                <a:cs typeface="Verdana"/>
                <a:sym typeface="Verdana"/>
              </a:rPr>
              <a:t>θ </a:t>
            </a:r>
            <a:r>
              <a:rPr lang="en-US" sz="5600"/>
              <a:t>(about the origin)</a:t>
            </a:r>
            <a:endParaRPr/>
          </a:p>
        </p:txBody>
      </p:sp>
      <p:pic>
        <p:nvPicPr>
          <p:cNvPr descr="C:\snavely\work\teaching\09Sp-CS1114\lectures\lec14\eye.jpg" id="2146" name="Google Shape;214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930" y="6237520"/>
            <a:ext cx="5686289" cy="3815325"/>
          </a:xfrm>
          <a:prstGeom prst="rect">
            <a:avLst/>
          </a:prstGeom>
          <a:noFill/>
          <a:ln>
            <a:noFill/>
          </a:ln>
          <a:effectLst>
            <a:outerShdw blurRad="381000" rotWithShape="0" dir="2700000" dist="381000">
              <a:srgbClr val="000000">
                <a:alpha val="40000"/>
              </a:srgbClr>
            </a:outerShdw>
          </a:effectLst>
        </p:spPr>
      </p:pic>
      <p:pic>
        <p:nvPicPr>
          <p:cNvPr descr="C:\snavely\work\teaching\09Sp-CS1114\lectures\lec14\eye.jpg" id="2147" name="Google Shape;21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800000">
            <a:off x="13291532" y="5106630"/>
            <a:ext cx="5686290" cy="3815325"/>
          </a:xfrm>
          <a:prstGeom prst="rect">
            <a:avLst/>
          </a:prstGeom>
          <a:noFill/>
          <a:ln>
            <a:noFill/>
          </a:ln>
          <a:effectLst>
            <a:outerShdw blurRad="381000" rotWithShape="0" dir="2700000" dist="381000">
              <a:srgbClr val="000000">
                <a:alpha val="40000"/>
              </a:srgbClr>
            </a:outerShdw>
          </a:effectLst>
        </p:spPr>
      </p:pic>
      <p:grpSp>
        <p:nvGrpSpPr>
          <p:cNvPr id="2148" name="Google Shape;2148;p87"/>
          <p:cNvGrpSpPr/>
          <p:nvPr/>
        </p:nvGrpSpPr>
        <p:grpSpPr>
          <a:xfrm>
            <a:off x="4958441" y="10768693"/>
            <a:ext cx="8934451" cy="2533651"/>
            <a:chOff x="0" y="0"/>
            <a:chExt cx="8934450" cy="2533650"/>
          </a:xfrm>
        </p:grpSpPr>
        <p:pic>
          <p:nvPicPr>
            <p:cNvPr descr="image19.png" id="2149" name="Google Shape;2149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8934450" cy="253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20.png" id="2150" name="Google Shape;2150;p8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7997" y="747034"/>
              <a:ext cx="907793" cy="7932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1" name="Google Shape;2151;p87"/>
          <p:cNvSpPr/>
          <p:nvPr/>
        </p:nvSpPr>
        <p:spPr>
          <a:xfrm>
            <a:off x="5058519" y="9840683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87"/>
          <p:cNvSpPr txBox="1"/>
          <p:nvPr/>
        </p:nvSpPr>
        <p:spPr>
          <a:xfrm>
            <a:off x="3940628" y="9601193"/>
            <a:ext cx="1050375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(0,0)</a:t>
            </a:r>
            <a:endParaRPr/>
          </a:p>
        </p:txBody>
      </p:sp>
      <p:sp>
        <p:nvSpPr>
          <p:cNvPr id="2153" name="Google Shape;2153;p87"/>
          <p:cNvSpPr/>
          <p:nvPr/>
        </p:nvSpPr>
        <p:spPr>
          <a:xfrm>
            <a:off x="14420232" y="9862456"/>
            <a:ext cx="304801" cy="3048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87"/>
          <p:cNvSpPr txBox="1"/>
          <p:nvPr/>
        </p:nvSpPr>
        <p:spPr>
          <a:xfrm>
            <a:off x="13302341" y="9622966"/>
            <a:ext cx="1050375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(0,0)</a:t>
            </a:r>
            <a:endParaRPr/>
          </a:p>
        </p:txBody>
      </p:sp>
      <p:sp>
        <p:nvSpPr>
          <p:cNvPr id="2155" name="Google Shape;2155;p87"/>
          <p:cNvSpPr txBox="1"/>
          <p:nvPr/>
        </p:nvSpPr>
        <p:spPr>
          <a:xfrm>
            <a:off x="14630409" y="10820382"/>
            <a:ext cx="5217339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inverse?</a:t>
            </a:r>
            <a:endParaRPr/>
          </a:p>
        </p:txBody>
      </p:sp>
      <p:pic>
        <p:nvPicPr>
          <p:cNvPr descr="image21.png" id="2156" name="Google Shape;2156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87675" y="12446454"/>
            <a:ext cx="3509003" cy="768803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87"/>
          <p:cNvSpPr txBox="1"/>
          <p:nvPr/>
        </p:nvSpPr>
        <p:spPr>
          <a:xfrm>
            <a:off x="15479510" y="11691253"/>
            <a:ext cx="2977427" cy="693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rotations:</a:t>
            </a:r>
            <a:endParaRPr/>
          </a:p>
        </p:txBody>
      </p:sp>
      <p:cxnSp>
        <p:nvCxnSpPr>
          <p:cNvPr id="2158" name="Google Shape;2158;p87"/>
          <p:cNvCxnSpPr/>
          <p:nvPr/>
        </p:nvCxnSpPr>
        <p:spPr>
          <a:xfrm>
            <a:off x="14586855" y="10036627"/>
            <a:ext cx="5334002" cy="3178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9" name="Google Shape;2159;p87"/>
          <p:cNvSpPr txBox="1"/>
          <p:nvPr/>
        </p:nvSpPr>
        <p:spPr>
          <a:xfrm>
            <a:off x="16154400" y="9187543"/>
            <a:ext cx="480884" cy="741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Verdana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θ</a:t>
            </a:r>
            <a:endParaRPr/>
          </a:p>
        </p:txBody>
      </p:sp>
      <p:sp>
        <p:nvSpPr>
          <p:cNvPr id="2160" name="Google Shape;2160;p87"/>
          <p:cNvSpPr/>
          <p:nvPr/>
        </p:nvSpPr>
        <p:spPr>
          <a:xfrm>
            <a:off x="15893411" y="9304556"/>
            <a:ext cx="260990" cy="753844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0"/>
                </a:lnTo>
                <a:cubicBezTo>
                  <a:pt x="13993" y="6158"/>
                  <a:pt x="21600" y="13765"/>
                  <a:pt x="21600" y="21600"/>
                </a:cubicBezTo>
              </a:path>
            </a:pathLst>
          </a:cu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8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2x2 Matrices</a:t>
            </a:r>
            <a:endParaRPr/>
          </a:p>
        </p:txBody>
      </p:sp>
      <p:sp>
        <p:nvSpPr>
          <p:cNvPr id="2166" name="Google Shape;2166;p88"/>
          <p:cNvSpPr txBox="1"/>
          <p:nvPr>
            <p:ph idx="1" type="body"/>
          </p:nvPr>
        </p:nvSpPr>
        <p:spPr>
          <a:xfrm>
            <a:off x="3962400" y="3200401"/>
            <a:ext cx="16459200" cy="21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What types of transformations can be </a:t>
            </a:r>
            <a:br>
              <a:rPr lang="en-US" sz="6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represented with a 2x2 matrix?</a:t>
            </a:r>
            <a:endParaRPr/>
          </a:p>
        </p:txBody>
      </p:sp>
      <p:sp>
        <p:nvSpPr>
          <p:cNvPr id="2167" name="Google Shape;2167;p88"/>
          <p:cNvSpPr txBox="1"/>
          <p:nvPr/>
        </p:nvSpPr>
        <p:spPr>
          <a:xfrm>
            <a:off x="4724400" y="5362576"/>
            <a:ext cx="6936354" cy="8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2D mirror about Y axis?</a:t>
            </a:r>
            <a:endParaRPr/>
          </a:p>
        </p:txBody>
      </p:sp>
      <p:sp>
        <p:nvSpPr>
          <p:cNvPr id="2168" name="Google Shape;2168;p88"/>
          <p:cNvSpPr txBox="1"/>
          <p:nvPr/>
        </p:nvSpPr>
        <p:spPr>
          <a:xfrm>
            <a:off x="4724400" y="9172575"/>
            <a:ext cx="7973983" cy="8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2D mirror across line y = x?</a:t>
            </a:r>
            <a:endParaRPr/>
          </a:p>
        </p:txBody>
      </p:sp>
      <p:pic>
        <p:nvPicPr>
          <p:cNvPr descr="image22.png" id="2169" name="Google Shape;216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1" y="6569530"/>
            <a:ext cx="3984173" cy="2160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3.png" id="2170" name="Google Shape;2170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6556" y="6309633"/>
            <a:ext cx="7442225" cy="2573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88"/>
          <p:cNvSpPr/>
          <p:nvPr/>
        </p:nvSpPr>
        <p:spPr>
          <a:xfrm>
            <a:off x="17482460" y="7794172"/>
            <a:ext cx="762001" cy="827315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24.png" id="2172" name="Google Shape;2172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98" y="10515600"/>
            <a:ext cx="407981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5.png" id="2173" name="Google Shape;2173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0" y="10210800"/>
            <a:ext cx="6705600" cy="3182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89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What types of transformations can be </a:t>
            </a:r>
            <a:br>
              <a:rPr lang="en-US" sz="6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represented with a 2x2 matrix?</a:t>
            </a:r>
            <a:endParaRPr/>
          </a:p>
        </p:txBody>
      </p:sp>
      <p:sp>
        <p:nvSpPr>
          <p:cNvPr id="2179" name="Google Shape;2179;p89"/>
          <p:cNvSpPr txBox="1"/>
          <p:nvPr/>
        </p:nvSpPr>
        <p:spPr>
          <a:xfrm>
            <a:off x="4724400" y="5514976"/>
            <a:ext cx="4659680" cy="88951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2D Translation?</a:t>
            </a:r>
            <a:endParaRPr/>
          </a:p>
        </p:txBody>
      </p:sp>
      <p:sp>
        <p:nvSpPr>
          <p:cNvPr id="2180" name="Google Shape;2180;p89"/>
          <p:cNvSpPr txBox="1"/>
          <p:nvPr/>
        </p:nvSpPr>
        <p:spPr>
          <a:xfrm>
            <a:off x="3461640" y="9268282"/>
            <a:ext cx="17634856" cy="940317"/>
          </a:xfrm>
          <a:prstGeom prst="rect">
            <a:avLst/>
          </a:prstGeom>
          <a:noFill/>
          <a:ln cap="flat" cmpd="sng" w="50800">
            <a:solidFill>
              <a:srgbClr val="1F497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Translation is not a linear operation on 2D coordinates</a:t>
            </a:r>
            <a:endParaRPr/>
          </a:p>
        </p:txBody>
      </p:sp>
      <p:sp>
        <p:nvSpPr>
          <p:cNvPr id="2181" name="Google Shape;2181;p89"/>
          <p:cNvSpPr txBox="1"/>
          <p:nvPr/>
        </p:nvSpPr>
        <p:spPr>
          <a:xfrm>
            <a:off x="10398149" y="7010400"/>
            <a:ext cx="100840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NO!</a:t>
            </a:r>
            <a:endParaRPr/>
          </a:p>
        </p:txBody>
      </p:sp>
      <p:pic>
        <p:nvPicPr>
          <p:cNvPr descr="image26.png" id="2182" name="Google Shape;218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13" y="6508298"/>
            <a:ext cx="4949393" cy="222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89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2x2 Matrices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90"/>
          <p:cNvSpPr txBox="1"/>
          <p:nvPr>
            <p:ph type="title"/>
          </p:nvPr>
        </p:nvSpPr>
        <p:spPr>
          <a:xfrm>
            <a:off x="3495676" y="152400"/>
            <a:ext cx="174466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All 2D Linear Transformations</a:t>
            </a:r>
            <a:endParaRPr/>
          </a:p>
        </p:txBody>
      </p:sp>
      <p:sp>
        <p:nvSpPr>
          <p:cNvPr id="2189" name="Google Shape;2189;p90"/>
          <p:cNvSpPr txBox="1"/>
          <p:nvPr>
            <p:ph idx="1" type="body"/>
          </p:nvPr>
        </p:nvSpPr>
        <p:spPr>
          <a:xfrm>
            <a:off x="3657600" y="3225800"/>
            <a:ext cx="17132300" cy="9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Linear transformations are combinations of …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Scale,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Rotation,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Shear, and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Mirror</a:t>
            </a:r>
            <a:endParaRPr sz="5600"/>
          </a:p>
          <a:p>
            <a:pPr indent="-685800" lvl="0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•"/>
            </a:pPr>
            <a:r>
              <a:rPr lang="en-US" sz="4800"/>
              <a:t>Properties of linear transformations: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Origin maps to origin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Lines map to lines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Parallel lines remain parallel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Ratios are preserved</a:t>
            </a:r>
            <a:endParaRPr sz="5600"/>
          </a:p>
          <a:p>
            <a:pPr indent="-571500" lvl="1" marL="1028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–"/>
            </a:pPr>
            <a:r>
              <a:rPr lang="en-US" sz="4000"/>
              <a:t>Closed under composition</a:t>
            </a:r>
            <a:endParaRPr/>
          </a:p>
        </p:txBody>
      </p:sp>
      <p:pic>
        <p:nvPicPr>
          <p:cNvPr descr="image27.pdf" id="2190" name="Google Shape;219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0" y="4330700"/>
            <a:ext cx="4543427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8.pdf" id="2191" name="Google Shape;2191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0781" y="11168289"/>
            <a:ext cx="10252076" cy="20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91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Homogeneous coordinates</a:t>
            </a:r>
            <a:endParaRPr/>
          </a:p>
        </p:txBody>
      </p:sp>
      <p:sp>
        <p:nvSpPr>
          <p:cNvPr id="2197" name="Google Shape;2197;p91"/>
          <p:cNvSpPr txBox="1"/>
          <p:nvPr/>
        </p:nvSpPr>
        <p:spPr>
          <a:xfrm>
            <a:off x="3810000" y="3810000"/>
            <a:ext cx="15544800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Trick:  add one more coordinate:</a:t>
            </a:r>
            <a:endParaRPr/>
          </a:p>
        </p:txBody>
      </p:sp>
      <p:sp>
        <p:nvSpPr>
          <p:cNvPr id="2198" name="Google Shape;2198;p91"/>
          <p:cNvSpPr txBox="1"/>
          <p:nvPr/>
        </p:nvSpPr>
        <p:spPr>
          <a:xfrm>
            <a:off x="6746323" y="7200900"/>
            <a:ext cx="5514400" cy="15469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homogeneous image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coordinates</a:t>
            </a:r>
            <a:endParaRPr/>
          </a:p>
        </p:txBody>
      </p:sp>
      <p:sp>
        <p:nvSpPr>
          <p:cNvPr id="2199" name="Google Shape;2199;p91"/>
          <p:cNvSpPr txBox="1"/>
          <p:nvPr/>
        </p:nvSpPr>
        <p:spPr>
          <a:xfrm>
            <a:off x="4114800" y="10058400"/>
            <a:ext cx="13716000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Converting </a:t>
            </a:r>
            <a:r>
              <a:rPr b="0" i="1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homogeneous coordinates</a:t>
            </a:r>
            <a:endParaRPr/>
          </a:p>
        </p:txBody>
      </p:sp>
      <p:pic>
        <p:nvPicPr>
          <p:cNvPr descr="Edittex" id="2200" name="Google Shape;220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175" y="4899023"/>
            <a:ext cx="3686175" cy="2070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ittex" id="2201" name="Google Shape;2201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11125200"/>
            <a:ext cx="5245100" cy="20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2" name="Google Shape;2202;p91"/>
          <p:cNvGrpSpPr/>
          <p:nvPr/>
        </p:nvGrpSpPr>
        <p:grpSpPr>
          <a:xfrm>
            <a:off x="12801600" y="2918935"/>
            <a:ext cx="7518400" cy="7233811"/>
            <a:chOff x="0" y="0"/>
            <a:chExt cx="7518400" cy="7233809"/>
          </a:xfrm>
        </p:grpSpPr>
        <p:cxnSp>
          <p:nvCxnSpPr>
            <p:cNvPr id="2203" name="Google Shape;2203;p91"/>
            <p:cNvCxnSpPr/>
            <p:nvPr/>
          </p:nvCxnSpPr>
          <p:spPr>
            <a:xfrm>
              <a:off x="2590800" y="4240688"/>
              <a:ext cx="3657601" cy="317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4" name="Google Shape;2204;p91"/>
            <p:cNvCxnSpPr/>
            <p:nvPr/>
          </p:nvCxnSpPr>
          <p:spPr>
            <a:xfrm flipH="1" rot="10800000">
              <a:off x="2587624" y="587851"/>
              <a:ext cx="3176" cy="365918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5" name="Google Shape;2205;p91"/>
            <p:cNvCxnSpPr/>
            <p:nvPr/>
          </p:nvCxnSpPr>
          <p:spPr>
            <a:xfrm flipH="1">
              <a:off x="457199" y="4243864"/>
              <a:ext cx="2133601" cy="213360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6" name="Google Shape;2206;p91"/>
            <p:cNvCxnSpPr/>
            <p:nvPr/>
          </p:nvCxnSpPr>
          <p:spPr>
            <a:xfrm>
              <a:off x="6248400" y="3851979"/>
              <a:ext cx="1270000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207" name="Google Shape;2207;p91"/>
            <p:cNvCxnSpPr/>
            <p:nvPr/>
          </p:nvCxnSpPr>
          <p:spPr>
            <a:xfrm>
              <a:off x="0" y="5963808"/>
              <a:ext cx="1270000" cy="1270001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2208" name="Google Shape;2208;p91"/>
            <p:cNvCxnSpPr/>
            <p:nvPr/>
          </p:nvCxnSpPr>
          <p:spPr>
            <a:xfrm>
              <a:off x="2348447" y="0"/>
              <a:ext cx="1270001" cy="127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cxnSp>
        <p:nvCxnSpPr>
          <p:cNvPr id="2209" name="Google Shape;2209;p91"/>
          <p:cNvCxnSpPr/>
          <p:nvPr/>
        </p:nvCxnSpPr>
        <p:spPr>
          <a:xfrm flipH="1" rot="10800000">
            <a:off x="15392400" y="2590799"/>
            <a:ext cx="2286001" cy="4572002"/>
          </a:xfrm>
          <a:prstGeom prst="straightConnector1">
            <a:avLst/>
          </a:prstGeom>
          <a:noFill/>
          <a:ln cap="flat" cmpd="sng" w="76200">
            <a:solidFill>
              <a:srgbClr val="4A7EB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210" name="Google Shape;2210;p91"/>
          <p:cNvSpPr/>
          <p:nvPr/>
        </p:nvSpPr>
        <p:spPr>
          <a:xfrm>
            <a:off x="15845246" y="6004562"/>
            <a:ext cx="182881" cy="18288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91"/>
          <p:cNvSpPr/>
          <p:nvPr/>
        </p:nvSpPr>
        <p:spPr>
          <a:xfrm>
            <a:off x="17582604" y="2547255"/>
            <a:ext cx="182881" cy="18288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91"/>
          <p:cNvSpPr txBox="1"/>
          <p:nvPr/>
        </p:nvSpPr>
        <p:spPr>
          <a:xfrm>
            <a:off x="17635590" y="2220684"/>
            <a:ext cx="1637056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213" name="Google Shape;2213;p91"/>
          <p:cNvGrpSpPr/>
          <p:nvPr/>
        </p:nvGrpSpPr>
        <p:grpSpPr>
          <a:xfrm>
            <a:off x="12801600" y="4417628"/>
            <a:ext cx="7620000" cy="2906394"/>
            <a:chOff x="0" y="0"/>
            <a:chExt cx="7620000" cy="2906392"/>
          </a:xfrm>
        </p:grpSpPr>
        <p:sp>
          <p:nvSpPr>
            <p:cNvPr id="2214" name="Google Shape;2214;p91"/>
            <p:cNvSpPr/>
            <p:nvPr/>
          </p:nvSpPr>
          <p:spPr>
            <a:xfrm>
              <a:off x="0" y="0"/>
              <a:ext cx="7620000" cy="228797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6596" y="0"/>
                  </a:lnTo>
                  <a:lnTo>
                    <a:pt x="21600" y="0"/>
                  </a:lnTo>
                  <a:lnTo>
                    <a:pt x="15004" y="21600"/>
                  </a:lnTo>
                  <a:close/>
                </a:path>
              </a:pathLst>
            </a:cu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5" name="Google Shape;2215;p91"/>
            <p:cNvCxnSpPr/>
            <p:nvPr/>
          </p:nvCxnSpPr>
          <p:spPr>
            <a:xfrm>
              <a:off x="370115" y="1636391"/>
              <a:ext cx="1270001" cy="1270001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sp>
        <p:nvSpPr>
          <p:cNvPr id="2216" name="Google Shape;2216;p91"/>
          <p:cNvSpPr txBox="1"/>
          <p:nvPr/>
        </p:nvSpPr>
        <p:spPr>
          <a:xfrm>
            <a:off x="15850334" y="5791200"/>
            <a:ext cx="2548777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217" name="Google Shape;2217;p91"/>
          <p:cNvSpPr txBox="1"/>
          <p:nvPr/>
        </p:nvSpPr>
        <p:spPr>
          <a:xfrm>
            <a:off x="17526000" y="3854067"/>
            <a:ext cx="3142997" cy="536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homogeneous plane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92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Translation</a:t>
            </a:r>
            <a:endParaRPr/>
          </a:p>
        </p:txBody>
      </p:sp>
      <p:sp>
        <p:nvSpPr>
          <p:cNvPr id="2223" name="Google Shape;2223;p9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Solution: homogeneous coordinates to the rescue</a:t>
            </a:r>
            <a:endParaRPr/>
          </a:p>
        </p:txBody>
      </p:sp>
      <p:pic>
        <p:nvPicPr>
          <p:cNvPr descr="image29.png" id="2224" name="Google Shape;222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851" y="5551716"/>
            <a:ext cx="7291157" cy="3352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0.png" id="2225" name="Google Shape;2225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6271" y="9383434"/>
            <a:ext cx="13177157" cy="3527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9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Affine transformations</a:t>
            </a:r>
            <a:endParaRPr/>
          </a:p>
        </p:txBody>
      </p:sp>
      <p:pic>
        <p:nvPicPr>
          <p:cNvPr descr="image29.png" id="2231" name="Google Shape;2231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851" y="5551716"/>
            <a:ext cx="7291157" cy="33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93"/>
          <p:cNvSpPr/>
          <p:nvPr/>
        </p:nvSpPr>
        <p:spPr>
          <a:xfrm>
            <a:off x="7924800" y="7794172"/>
            <a:ext cx="3810000" cy="849085"/>
          </a:xfrm>
          <a:prstGeom prst="rect">
            <a:avLst/>
          </a:prstGeom>
          <a:solidFill>
            <a:srgbClr val="FFFF00">
              <a:alpha val="4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93"/>
          <p:cNvSpPr/>
          <p:nvPr/>
        </p:nvSpPr>
        <p:spPr>
          <a:xfrm flipH="1">
            <a:off x="12692743" y="7794172"/>
            <a:ext cx="914401" cy="8055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93"/>
          <p:cNvSpPr txBox="1"/>
          <p:nvPr/>
        </p:nvSpPr>
        <p:spPr>
          <a:xfrm>
            <a:off x="13868396" y="7293430"/>
            <a:ext cx="5834743" cy="19376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transformation with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last row [ 0 0 1 ] we call an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1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affine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transformation</a:t>
            </a:r>
            <a:endParaRPr/>
          </a:p>
        </p:txBody>
      </p:sp>
      <p:pic>
        <p:nvPicPr>
          <p:cNvPr descr="image31.png" id="2235" name="Google Shape;2235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18769" y="9417914"/>
            <a:ext cx="5040089" cy="345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9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Basic affine transformations</a:t>
            </a:r>
            <a:endParaRPr/>
          </a:p>
        </p:txBody>
      </p:sp>
      <p:pic>
        <p:nvPicPr>
          <p:cNvPr descr="image34.pdf" id="2241" name="Google Shape;224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7794152"/>
            <a:ext cx="5737224" cy="2200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5.pdf" id="2242" name="Google Shape;224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224" y="4133850"/>
            <a:ext cx="4203701" cy="220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6.pdf" id="2243" name="Google Shape;2243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01700" y="7794152"/>
            <a:ext cx="5045074" cy="2241551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94"/>
          <p:cNvSpPr txBox="1"/>
          <p:nvPr/>
        </p:nvSpPr>
        <p:spPr>
          <a:xfrm>
            <a:off x="6543673" y="6356350"/>
            <a:ext cx="2084433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Translate</a:t>
            </a:r>
            <a:endParaRPr/>
          </a:p>
        </p:txBody>
      </p:sp>
      <p:sp>
        <p:nvSpPr>
          <p:cNvPr id="2245" name="Google Shape;2245;p94"/>
          <p:cNvSpPr txBox="1"/>
          <p:nvPr/>
        </p:nvSpPr>
        <p:spPr>
          <a:xfrm>
            <a:off x="5868738" y="10035702"/>
            <a:ext cx="4185812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2D </a:t>
            </a:r>
            <a:r>
              <a:rPr b="0" i="1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in-plane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endParaRPr/>
          </a:p>
        </p:txBody>
      </p:sp>
      <p:sp>
        <p:nvSpPr>
          <p:cNvPr id="2246" name="Google Shape;2246;p94"/>
          <p:cNvSpPr txBox="1"/>
          <p:nvPr/>
        </p:nvSpPr>
        <p:spPr>
          <a:xfrm>
            <a:off x="15078075" y="10035702"/>
            <a:ext cx="1415599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Shear</a:t>
            </a:r>
            <a:endParaRPr/>
          </a:p>
        </p:txBody>
      </p:sp>
      <p:pic>
        <p:nvPicPr>
          <p:cNvPr descr="image37.pdf" id="2247" name="Google Shape;2247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01700" y="4114800"/>
            <a:ext cx="4565650" cy="22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94"/>
          <p:cNvSpPr txBox="1"/>
          <p:nvPr/>
        </p:nvSpPr>
        <p:spPr>
          <a:xfrm>
            <a:off x="15078075" y="6400800"/>
            <a:ext cx="1339250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95"/>
          <p:cNvSpPr txBox="1"/>
          <p:nvPr>
            <p:ph type="title"/>
          </p:nvPr>
        </p:nvSpPr>
        <p:spPr>
          <a:xfrm>
            <a:off x="3495676" y="152400"/>
            <a:ext cx="174466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Affine Transformations</a:t>
            </a:r>
            <a:endParaRPr/>
          </a:p>
        </p:txBody>
      </p:sp>
      <p:sp>
        <p:nvSpPr>
          <p:cNvPr id="2254" name="Google Shape;2254;p95"/>
          <p:cNvSpPr txBox="1"/>
          <p:nvPr>
            <p:ph idx="1" type="body"/>
          </p:nvPr>
        </p:nvSpPr>
        <p:spPr>
          <a:xfrm>
            <a:off x="3657600" y="3225800"/>
            <a:ext cx="17132300" cy="9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Affine transformations are combinations of …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Linear transformations, and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Translations</a:t>
            </a:r>
            <a:endParaRPr/>
          </a:p>
          <a:p>
            <a:pPr indent="-33020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r>
              <a:t/>
            </a:r>
            <a:endParaRPr sz="5600"/>
          </a:p>
          <a:p>
            <a:pPr indent="-685800" lvl="0" marL="685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Properties of affine transformations: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FF0000"/>
              </a:buClr>
              <a:buSzPts val="5600"/>
              <a:buChar char="–"/>
            </a:pPr>
            <a:r>
              <a:rPr lang="en-US" sz="5600">
                <a:solidFill>
                  <a:srgbClr val="FF0000"/>
                </a:solidFill>
              </a:rPr>
              <a:t>Origin does not necessarily map to origin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Lines map to lines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Parallel lines remain parallel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Ratios are preserved</a:t>
            </a:r>
            <a:endParaRPr/>
          </a:p>
          <a:p>
            <a:pPr indent="-571500" lvl="1" marL="1028700" rt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/>
              <a:t>Closed under composition</a:t>
            </a:r>
            <a:endParaRPr/>
          </a:p>
        </p:txBody>
      </p:sp>
      <p:pic>
        <p:nvPicPr>
          <p:cNvPr descr="image38.pdf" id="2255" name="Google Shape;225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25600" y="4419600"/>
            <a:ext cx="5565774" cy="236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2260" name="Google Shape;226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667" y="7411360"/>
            <a:ext cx="4076701" cy="306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02" id="2261" name="Google Shape;2261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3667" y="3962400"/>
            <a:ext cx="4076701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3" id="2262" name="Google Shape;2262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6" y="5104038"/>
            <a:ext cx="8685367" cy="40399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96"/>
          <p:cNvSpPr/>
          <p:nvPr/>
        </p:nvSpPr>
        <p:spPr>
          <a:xfrm>
            <a:off x="9231095" y="6553202"/>
            <a:ext cx="1284517" cy="128451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96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Is this an affine transformation?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2269" name="Google Shape;226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667" y="7411360"/>
            <a:ext cx="4076701" cy="306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02" id="2270" name="Google Shape;2270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3667" y="3962400"/>
            <a:ext cx="4076701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3" id="2271" name="Google Shape;2271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6" y="5104038"/>
            <a:ext cx="8685367" cy="4039962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97"/>
          <p:cNvSpPr/>
          <p:nvPr/>
        </p:nvSpPr>
        <p:spPr>
          <a:xfrm>
            <a:off x="9231095" y="6553202"/>
            <a:ext cx="1284517" cy="128451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97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Homographies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9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Recall: affine transformations</a:t>
            </a:r>
            <a:endParaRPr/>
          </a:p>
        </p:txBody>
      </p:sp>
      <p:pic>
        <p:nvPicPr>
          <p:cNvPr descr="image31.png" id="2279" name="Google Shape;22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876800"/>
            <a:ext cx="5040089" cy="34513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0" name="Google Shape;2280;p98"/>
          <p:cNvSpPr txBox="1"/>
          <p:nvPr/>
        </p:nvSpPr>
        <p:spPr>
          <a:xfrm>
            <a:off x="6248400" y="8382000"/>
            <a:ext cx="5467073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affine transformation</a:t>
            </a:r>
            <a:endParaRPr/>
          </a:p>
        </p:txBody>
      </p:sp>
      <p:sp>
        <p:nvSpPr>
          <p:cNvPr id="2281" name="Google Shape;2281;p98"/>
          <p:cNvSpPr/>
          <p:nvPr/>
        </p:nvSpPr>
        <p:spPr>
          <a:xfrm flipH="1">
            <a:off x="11560627" y="7286844"/>
            <a:ext cx="914401" cy="8055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98"/>
          <p:cNvSpPr txBox="1"/>
          <p:nvPr/>
        </p:nvSpPr>
        <p:spPr>
          <a:xfrm>
            <a:off x="12692737" y="6988003"/>
            <a:ext cx="5834743" cy="13153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when we change this row?</a:t>
            </a:r>
            <a:endParaRPr/>
          </a:p>
        </p:txBody>
      </p:sp>
      <p:sp>
        <p:nvSpPr>
          <p:cNvPr id="2283" name="Google Shape;2283;p98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99"/>
          <p:cNvSpPr txBox="1"/>
          <p:nvPr>
            <p:ph type="title"/>
          </p:nvPr>
        </p:nvSpPr>
        <p:spPr>
          <a:xfrm>
            <a:off x="3505200" y="549276"/>
            <a:ext cx="17373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5"/>
              <a:buFont typeface="Arial"/>
              <a:buNone/>
            </a:pPr>
            <a:r>
              <a:rPr lang="en-US" sz="6775">
                <a:latin typeface="Arial"/>
                <a:ea typeface="Arial"/>
                <a:cs typeface="Arial"/>
                <a:sym typeface="Arial"/>
              </a:rPr>
              <a:t>Projective Transformations aka Homographies aka Planar Perspective Maps</a:t>
            </a:r>
            <a:endParaRPr/>
          </a:p>
        </p:txBody>
      </p:sp>
      <p:sp>
        <p:nvSpPr>
          <p:cNvPr id="2289" name="Google Shape;2289;p99"/>
          <p:cNvSpPr txBox="1"/>
          <p:nvPr/>
        </p:nvSpPr>
        <p:spPr>
          <a:xfrm>
            <a:off x="4201938" y="6705597"/>
            <a:ext cx="7511147" cy="15469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Called a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homography</a:t>
            </a: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planar perspective map)</a:t>
            </a:r>
            <a:endParaRPr/>
          </a:p>
        </p:txBody>
      </p:sp>
      <p:grpSp>
        <p:nvGrpSpPr>
          <p:cNvPr id="2290" name="Google Shape;2290;p99"/>
          <p:cNvGrpSpPr/>
          <p:nvPr/>
        </p:nvGrpSpPr>
        <p:grpSpPr>
          <a:xfrm>
            <a:off x="12625613" y="3548291"/>
            <a:ext cx="7979335" cy="3984624"/>
            <a:chOff x="0" y="0"/>
            <a:chExt cx="7979333" cy="3984622"/>
          </a:xfrm>
        </p:grpSpPr>
        <p:pic>
          <p:nvPicPr>
            <p:cNvPr descr="C:\snavely\work\teaching\09Fa-CS6610\lectures\lec02\images\bee_persp.png" id="2291" name="Google Shape;2291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94710" y="0"/>
              <a:ext cx="3984623" cy="3984622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pic>
          <p:nvPicPr>
            <p:cNvPr descr="C:\snavely\work\teaching\09Fa-CS6610\lectures\lec02\images\bee.jpg" id="2292" name="Google Shape;2292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232527"/>
              <a:ext cx="2641589" cy="2641589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sp>
          <p:nvSpPr>
            <p:cNvPr id="2293" name="Google Shape;2293;p99"/>
            <p:cNvSpPr/>
            <p:nvPr/>
          </p:nvSpPr>
          <p:spPr>
            <a:xfrm>
              <a:off x="3214292" y="2047103"/>
              <a:ext cx="902388" cy="86937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8EB4E3"/>
            </a:solidFill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4" name="Google Shape;2294;p99"/>
          <p:cNvGrpSpPr/>
          <p:nvPr/>
        </p:nvGrpSpPr>
        <p:grpSpPr>
          <a:xfrm>
            <a:off x="7113811" y="9274627"/>
            <a:ext cx="10308777" cy="3526974"/>
            <a:chOff x="-1" y="0"/>
            <a:chExt cx="10308776" cy="3526972"/>
          </a:xfrm>
        </p:grpSpPr>
        <p:pic>
          <p:nvPicPr>
            <p:cNvPr descr="image41.png" id="2295" name="Google Shape;2295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" y="0"/>
              <a:ext cx="4408717" cy="3526972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pic>
          <p:nvPicPr>
            <p:cNvPr descr="image42.png" id="2296" name="Google Shape;2296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00058" y="0"/>
              <a:ext cx="4408717" cy="3526972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sp>
          <p:nvSpPr>
            <p:cNvPr id="2297" name="Google Shape;2297;p99"/>
            <p:cNvSpPr/>
            <p:nvPr/>
          </p:nvSpPr>
          <p:spPr>
            <a:xfrm>
              <a:off x="4741921" y="1393507"/>
              <a:ext cx="902387" cy="86937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8EB4E3"/>
            </a:solidFill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43.png" id="2298" name="Google Shape;2298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7200" y="3657600"/>
            <a:ext cx="6357798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9" name="Google Shape;2299;p99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100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Homographies</a:t>
            </a:r>
            <a:endParaRPr/>
          </a:p>
        </p:txBody>
      </p:sp>
      <p:pic>
        <p:nvPicPr>
          <p:cNvPr descr="image44.png" id="2305" name="Google Shape;23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0" y="7162800"/>
            <a:ext cx="8077200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100"/>
          <p:cNvSpPr/>
          <p:nvPr/>
        </p:nvSpPr>
        <p:spPr>
          <a:xfrm flipH="1">
            <a:off x="3352800" y="4267200"/>
            <a:ext cx="2286000" cy="12192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45.png" id="2307" name="Google Shape;2307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3261555"/>
            <a:ext cx="17983200" cy="3139245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100"/>
          <p:cNvSpPr/>
          <p:nvPr/>
        </p:nvSpPr>
        <p:spPr>
          <a:xfrm>
            <a:off x="14325600" y="3048000"/>
            <a:ext cx="6858000" cy="3962400"/>
          </a:xfrm>
          <a:prstGeom prst="rect">
            <a:avLst/>
          </a:prstGeom>
          <a:solidFill>
            <a:srgbClr val="FFFFFF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9" name="Google Shape;2309;p100"/>
          <p:cNvGrpSpPr/>
          <p:nvPr/>
        </p:nvGrpSpPr>
        <p:grpSpPr>
          <a:xfrm>
            <a:off x="5638800" y="5791198"/>
            <a:ext cx="10363202" cy="2286003"/>
            <a:chOff x="0" y="-1"/>
            <a:chExt cx="10363201" cy="2286002"/>
          </a:xfrm>
        </p:grpSpPr>
        <p:sp>
          <p:nvSpPr>
            <p:cNvPr id="2310" name="Google Shape;2310;p100"/>
            <p:cNvSpPr/>
            <p:nvPr/>
          </p:nvSpPr>
          <p:spPr>
            <a:xfrm>
              <a:off x="0" y="2286000"/>
              <a:ext cx="6438773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D9F1"/>
            </a:solidFill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dir="2700000" dist="76200">
                <a:srgbClr val="000000">
                  <a:alpha val="4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Calibri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Note that this can be 0!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Calibri"/>
                <a:buNone/>
              </a:pPr>
              <a:r>
                <a:rPr b="1" i="0" lang="en-US" sz="4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“point at infinity”</a:t>
              </a:r>
              <a:endParaRPr/>
            </a:p>
          </p:txBody>
        </p:sp>
        <p:cxnSp>
          <p:nvCxnSpPr>
            <p:cNvPr id="2311" name="Google Shape;2311;p100"/>
            <p:cNvCxnSpPr/>
            <p:nvPr/>
          </p:nvCxnSpPr>
          <p:spPr>
            <a:xfrm flipH="1" rot="10800000">
              <a:off x="6400800" y="-1"/>
              <a:ext cx="3962401" cy="2286002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12" name="Google Shape;2312;p100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101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Homographies</a:t>
            </a:r>
            <a:endParaRPr/>
          </a:p>
        </p:txBody>
      </p:sp>
      <p:sp>
        <p:nvSpPr>
          <p:cNvPr id="2318" name="Google Shape;2318;p101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Example on board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2"/>
          <p:cNvSpPr/>
          <p:nvPr/>
        </p:nvSpPr>
        <p:spPr>
          <a:xfrm>
            <a:off x="17003487" y="3962400"/>
            <a:ext cx="256033" cy="256032"/>
          </a:xfrm>
          <a:prstGeom prst="ellipse">
            <a:avLst/>
          </a:prstGeom>
          <a:solidFill>
            <a:srgbClr val="FF00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102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Points at infinity</a:t>
            </a:r>
            <a:endParaRPr/>
          </a:p>
        </p:txBody>
      </p:sp>
      <p:sp>
        <p:nvSpPr>
          <p:cNvPr id="2325" name="Google Shape;2325;p10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sz="6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6" name="Google Shape;2326;p102"/>
          <p:cNvGrpSpPr/>
          <p:nvPr/>
        </p:nvGrpSpPr>
        <p:grpSpPr>
          <a:xfrm>
            <a:off x="5026886" y="4724400"/>
            <a:ext cx="14343734" cy="7162800"/>
            <a:chOff x="0" y="0"/>
            <a:chExt cx="14343733" cy="7162800"/>
          </a:xfrm>
        </p:grpSpPr>
        <p:pic>
          <p:nvPicPr>
            <p:cNvPr descr="C:\snavely\work\teaching\09Fa-CS6610\lectures\lec02\images\bee_persp.png" id="2327" name="Google Shape;2327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80933" y="0"/>
              <a:ext cx="7162800" cy="7162800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pic>
          <p:nvPicPr>
            <p:cNvPr descr="C:\snavely\work\teaching\09Fa-CS6610\lectures\lec02\images\bee.jpg" id="2328" name="Google Shape;2328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215604"/>
              <a:ext cx="4748548" cy="4748550"/>
            </a:xfrm>
            <a:prstGeom prst="rect">
              <a:avLst/>
            </a:prstGeom>
            <a:noFill/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</p:pic>
        <p:sp>
          <p:nvSpPr>
            <p:cNvPr id="2329" name="Google Shape;2329;p102"/>
            <p:cNvSpPr/>
            <p:nvPr/>
          </p:nvSpPr>
          <p:spPr>
            <a:xfrm>
              <a:off x="5778046" y="3679895"/>
              <a:ext cx="1622140" cy="156279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8EB4E3"/>
            </a:solidFill>
            <a:ln>
              <a:noFill/>
            </a:ln>
            <a:effectLst>
              <a:outerShdw blurRad="203200" rotWithShape="0" dir="2700000" dist="1524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30" name="Google Shape;2330;p102"/>
          <p:cNvCxnSpPr/>
          <p:nvPr/>
        </p:nvCxnSpPr>
        <p:spPr>
          <a:xfrm flipH="1" rot="10800000">
            <a:off x="5027929" y="2592069"/>
            <a:ext cx="1" cy="899160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31" name="Google Shape;2331;p102"/>
          <p:cNvCxnSpPr/>
          <p:nvPr/>
        </p:nvCxnSpPr>
        <p:spPr>
          <a:xfrm flipH="1" rot="10800000">
            <a:off x="9752329" y="2592069"/>
            <a:ext cx="1" cy="899160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32" name="Google Shape;2332;p102"/>
          <p:cNvCxnSpPr/>
          <p:nvPr/>
        </p:nvCxnSpPr>
        <p:spPr>
          <a:xfrm flipH="1" rot="10800000">
            <a:off x="12235545" y="4139230"/>
            <a:ext cx="4833259" cy="7747975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33" name="Google Shape;2333;p102"/>
          <p:cNvCxnSpPr/>
          <p:nvPr/>
        </p:nvCxnSpPr>
        <p:spPr>
          <a:xfrm rot="10800000">
            <a:off x="17158253" y="4114799"/>
            <a:ext cx="2196557" cy="7772405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334" name="Google Shape;2334;p102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103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Homography</a:t>
            </a:r>
            <a:endParaRPr/>
          </a:p>
        </p:txBody>
      </p:sp>
      <p:sp>
        <p:nvSpPr>
          <p:cNvPr id="2340" name="Google Shape;2340;p103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5.jpg" id="2341" name="Google Shape;234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7637" y="2511972"/>
            <a:ext cx="6201105" cy="46556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.jpg" id="2342" name="Google Shape;2342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4966" y="2554014"/>
            <a:ext cx="6201105" cy="4655659"/>
          </a:xfrm>
          <a:prstGeom prst="rect">
            <a:avLst/>
          </a:prstGeom>
          <a:noFill/>
          <a:ln>
            <a:noFill/>
          </a:ln>
        </p:spPr>
      </p:pic>
      <p:sp>
        <p:nvSpPr>
          <p:cNvPr id="2343" name="Google Shape;2343;p103"/>
          <p:cNvSpPr txBox="1"/>
          <p:nvPr/>
        </p:nvSpPr>
        <p:spPr>
          <a:xfrm>
            <a:off x="4918842" y="1765737"/>
            <a:ext cx="10716315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two pictures taken by rotating the camera:</a:t>
            </a:r>
            <a:endParaRPr/>
          </a:p>
        </p:txBody>
      </p:sp>
      <p:grpSp>
        <p:nvGrpSpPr>
          <p:cNvPr id="2344" name="Google Shape;2344;p103"/>
          <p:cNvGrpSpPr/>
          <p:nvPr/>
        </p:nvGrpSpPr>
        <p:grpSpPr>
          <a:xfrm>
            <a:off x="5644052" y="7846641"/>
            <a:ext cx="13295587" cy="5742360"/>
            <a:chOff x="0" y="0"/>
            <a:chExt cx="13295586" cy="5742359"/>
          </a:xfrm>
        </p:grpSpPr>
        <p:pic>
          <p:nvPicPr>
            <p:cNvPr descr="image5.jpg" id="2345" name="Google Shape;2345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7049" y="0"/>
              <a:ext cx="7648537" cy="57423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6.jpg" id="2346" name="Google Shape;2346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7648536" cy="57423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7" name="Google Shape;2347;p103"/>
          <p:cNvSpPr txBox="1"/>
          <p:nvPr/>
        </p:nvSpPr>
        <p:spPr>
          <a:xfrm>
            <a:off x="6632257" y="7304688"/>
            <a:ext cx="11037505" cy="542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try to build a panorama by overlapping them:</a:t>
            </a:r>
            <a:endParaRPr/>
          </a:p>
        </p:txBody>
      </p:sp>
      <p:sp>
        <p:nvSpPr>
          <p:cNvPr id="2348" name="Google Shape;2348;p103"/>
          <p:cNvSpPr txBox="1"/>
          <p:nvPr/>
        </p:nvSpPr>
        <p:spPr>
          <a:xfrm>
            <a:off x="19988568" y="13136036"/>
            <a:ext cx="4168064" cy="448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0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Homography</a:t>
            </a:r>
            <a:endParaRPr/>
          </a:p>
        </p:txBody>
      </p:sp>
      <p:sp>
        <p:nvSpPr>
          <p:cNvPr id="2354" name="Google Shape;2354;p104"/>
          <p:cNvSpPr txBox="1"/>
          <p:nvPr>
            <p:ph idx="12" type="sldNum"/>
          </p:nvPr>
        </p:nvSpPr>
        <p:spPr>
          <a:xfrm>
            <a:off x="19830484" y="12490450"/>
            <a:ext cx="591116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image5.jpg" id="2355" name="Google Shape;235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7637" y="2511972"/>
            <a:ext cx="6201105" cy="46556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.jpg" id="2356" name="Google Shape;2356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4966" y="2554014"/>
            <a:ext cx="6201105" cy="4655659"/>
          </a:xfrm>
          <a:prstGeom prst="rect">
            <a:avLst/>
          </a:prstGeom>
          <a:noFill/>
          <a:ln>
            <a:noFill/>
          </a:ln>
        </p:spPr>
      </p:pic>
      <p:sp>
        <p:nvSpPr>
          <p:cNvPr id="2357" name="Google Shape;2357;p104"/>
          <p:cNvSpPr txBox="1"/>
          <p:nvPr/>
        </p:nvSpPr>
        <p:spPr>
          <a:xfrm>
            <a:off x="4918842" y="1765737"/>
            <a:ext cx="10716315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two pictures taken by rotating the camera:</a:t>
            </a:r>
            <a:endParaRPr/>
          </a:p>
        </p:txBody>
      </p:sp>
      <p:pic>
        <p:nvPicPr>
          <p:cNvPr descr="image7.jpg" id="2358" name="Google Shape;2358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1064" y="8171801"/>
            <a:ext cx="11007441" cy="554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104"/>
          <p:cNvSpPr txBox="1"/>
          <p:nvPr/>
        </p:nvSpPr>
        <p:spPr>
          <a:xfrm>
            <a:off x="4710717" y="7535915"/>
            <a:ext cx="15244020" cy="554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a homography you can map both images into a single camera:</a:t>
            </a:r>
            <a:endParaRPr/>
          </a:p>
        </p:txBody>
      </p:sp>
      <p:sp>
        <p:nvSpPr>
          <p:cNvPr id="2360" name="Google Shape;2360;p104"/>
          <p:cNvSpPr txBox="1"/>
          <p:nvPr/>
        </p:nvSpPr>
        <p:spPr>
          <a:xfrm>
            <a:off x="19988568" y="13136036"/>
            <a:ext cx="4168064" cy="448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05"/>
          <p:cNvSpPr/>
          <p:nvPr/>
        </p:nvSpPr>
        <p:spPr>
          <a:xfrm>
            <a:off x="12959256" y="2406869"/>
            <a:ext cx="6978869" cy="4351285"/>
          </a:xfrm>
          <a:prstGeom prst="rect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105"/>
          <p:cNvSpPr/>
          <p:nvPr/>
        </p:nvSpPr>
        <p:spPr>
          <a:xfrm>
            <a:off x="4078013" y="2459420"/>
            <a:ext cx="6978869" cy="4351285"/>
          </a:xfrm>
          <a:prstGeom prst="rect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10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Homography</a:t>
            </a:r>
            <a:endParaRPr/>
          </a:p>
        </p:txBody>
      </p:sp>
      <p:sp>
        <p:nvSpPr>
          <p:cNvPr id="2368" name="Google Shape;2368;p105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aphicFrame>
        <p:nvGraphicFramePr>
          <p:cNvPr id="2369" name="Google Shape;2369;p105"/>
          <p:cNvGraphicFramePr/>
          <p:nvPr/>
        </p:nvGraphicFramePr>
        <p:xfrm>
          <a:off x="9543394" y="8726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{78F63330-AEE6-4BD9-8FCA-6D808FB25779}</a:tableStyleId>
              </a:tblPr>
              <a:tblGrid>
                <a:gridCol w="872100"/>
              </a:tblGrid>
              <a:tr h="7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en-US" sz="3600" u="none" cap="none" strike="noStrike"/>
                        <a:t>1</a:t>
                      </a: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’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en-US" sz="3600" u="none" cap="none" strike="noStrike"/>
                        <a:t>1</a:t>
                      </a: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’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baseline="-25000" lang="en-US" sz="3600" u="none" cap="none" strike="noStrike"/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0" name="Google Shape;2370;p105"/>
          <p:cNvSpPr txBox="1"/>
          <p:nvPr/>
        </p:nvSpPr>
        <p:spPr>
          <a:xfrm>
            <a:off x="10438986" y="9443128"/>
            <a:ext cx="462578" cy="701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graphicFrame>
        <p:nvGraphicFramePr>
          <p:cNvPr id="2371" name="Google Shape;2371;p105"/>
          <p:cNvGraphicFramePr/>
          <p:nvPr/>
        </p:nvGraphicFramePr>
        <p:xfrm>
          <a:off x="13919537" y="8672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{78F63330-AEE6-4BD9-8FCA-6D808FB25779}</a:tableStyleId>
              </a:tblPr>
              <a:tblGrid>
                <a:gridCol w="866325"/>
              </a:tblGrid>
              <a:tr h="78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baseline="-25000" lang="en-US" sz="3600" u="none" cap="none" strike="noStrike"/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baseline="-25000" lang="en-US" sz="3600" u="none" cap="none" strike="noStrike"/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2" name="Google Shape;2372;p105"/>
          <p:cNvGraphicFramePr/>
          <p:nvPr/>
        </p:nvGraphicFramePr>
        <p:xfrm>
          <a:off x="11129385" y="8701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{78F63330-AEE6-4BD9-8FCA-6D808FB25779}</a:tableStyleId>
              </a:tblPr>
              <a:tblGrid>
                <a:gridCol w="717400"/>
                <a:gridCol w="720800"/>
                <a:gridCol w="720800"/>
              </a:tblGrid>
              <a:tr h="7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45725" marB="45725" marR="45725" marL="45725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73" name="Google Shape;2373;p105"/>
          <p:cNvSpPr txBox="1"/>
          <p:nvPr/>
        </p:nvSpPr>
        <p:spPr>
          <a:xfrm>
            <a:off x="13384269" y="9311340"/>
            <a:ext cx="322606" cy="701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74" name="Google Shape;2374;p105"/>
          <p:cNvSpPr/>
          <p:nvPr/>
        </p:nvSpPr>
        <p:spPr>
          <a:xfrm>
            <a:off x="6180076" y="3888830"/>
            <a:ext cx="273273" cy="252249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105"/>
          <p:cNvSpPr/>
          <p:nvPr/>
        </p:nvSpPr>
        <p:spPr>
          <a:xfrm>
            <a:off x="8187548" y="3899339"/>
            <a:ext cx="273273" cy="252249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6" name="Google Shape;2376;p105"/>
          <p:cNvSpPr/>
          <p:nvPr/>
        </p:nvSpPr>
        <p:spPr>
          <a:xfrm>
            <a:off x="8198057" y="5486396"/>
            <a:ext cx="273273" cy="252249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7" name="Google Shape;2377;p105"/>
          <p:cNvSpPr/>
          <p:nvPr/>
        </p:nvSpPr>
        <p:spPr>
          <a:xfrm>
            <a:off x="6190584" y="5475892"/>
            <a:ext cx="273273" cy="252249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p105"/>
          <p:cNvSpPr/>
          <p:nvPr/>
        </p:nvSpPr>
        <p:spPr>
          <a:xfrm>
            <a:off x="14598843" y="4151588"/>
            <a:ext cx="273273" cy="252249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105"/>
          <p:cNvSpPr/>
          <p:nvPr/>
        </p:nvSpPr>
        <p:spPr>
          <a:xfrm>
            <a:off x="17215916" y="3111069"/>
            <a:ext cx="273273" cy="252249"/>
          </a:xfrm>
          <a:prstGeom prst="ellipse">
            <a:avLst/>
          </a:prstGeom>
          <a:solidFill>
            <a:srgbClr val="33CC3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0" name="Google Shape;2380;p105"/>
          <p:cNvSpPr/>
          <p:nvPr/>
        </p:nvSpPr>
        <p:spPr>
          <a:xfrm>
            <a:off x="17205405" y="5980377"/>
            <a:ext cx="273273" cy="252249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1" name="Google Shape;2381;p105"/>
          <p:cNvSpPr/>
          <p:nvPr/>
        </p:nvSpPr>
        <p:spPr>
          <a:xfrm>
            <a:off x="14609351" y="5255176"/>
            <a:ext cx="273273" cy="252249"/>
          </a:xfrm>
          <a:prstGeom prst="ellipse">
            <a:avLst/>
          </a:prstGeom>
          <a:solidFill>
            <a:srgbClr val="00B0F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105"/>
          <p:cNvSpPr/>
          <p:nvPr/>
        </p:nvSpPr>
        <p:spPr>
          <a:xfrm>
            <a:off x="6432332" y="4141075"/>
            <a:ext cx="8135006" cy="672663"/>
          </a:xfrm>
          <a:custGeom>
            <a:rect b="b" l="l" r="r" t="t"/>
            <a:pathLst>
              <a:path extrusionOk="0" h="21467" w="21600">
                <a:moveTo>
                  <a:pt x="0" y="0"/>
                </a:moveTo>
                <a:cubicBezTo>
                  <a:pt x="95" y="761"/>
                  <a:pt x="173" y="1687"/>
                  <a:pt x="284" y="2284"/>
                </a:cubicBezTo>
                <a:cubicBezTo>
                  <a:pt x="349" y="2632"/>
                  <a:pt x="437" y="2560"/>
                  <a:pt x="512" y="2741"/>
                </a:cubicBezTo>
                <a:cubicBezTo>
                  <a:pt x="626" y="3017"/>
                  <a:pt x="741" y="3296"/>
                  <a:pt x="853" y="3654"/>
                </a:cubicBezTo>
                <a:cubicBezTo>
                  <a:pt x="1042" y="4263"/>
                  <a:pt x="1227" y="4962"/>
                  <a:pt x="1421" y="5481"/>
                </a:cubicBezTo>
                <a:cubicBezTo>
                  <a:pt x="1478" y="5633"/>
                  <a:pt x="1534" y="5806"/>
                  <a:pt x="1592" y="5938"/>
                </a:cubicBezTo>
                <a:cubicBezTo>
                  <a:pt x="1667" y="6110"/>
                  <a:pt x="1745" y="6183"/>
                  <a:pt x="1819" y="6395"/>
                </a:cubicBezTo>
                <a:cubicBezTo>
                  <a:pt x="2716" y="8970"/>
                  <a:pt x="2091" y="7627"/>
                  <a:pt x="2615" y="8678"/>
                </a:cubicBezTo>
                <a:cubicBezTo>
                  <a:pt x="3082" y="11181"/>
                  <a:pt x="2343" y="7357"/>
                  <a:pt x="3354" y="11419"/>
                </a:cubicBezTo>
                <a:cubicBezTo>
                  <a:pt x="3522" y="12094"/>
                  <a:pt x="3684" y="12808"/>
                  <a:pt x="3865" y="13246"/>
                </a:cubicBezTo>
                <a:cubicBezTo>
                  <a:pt x="3958" y="13469"/>
                  <a:pt x="4056" y="13514"/>
                  <a:pt x="4149" y="13703"/>
                </a:cubicBezTo>
                <a:cubicBezTo>
                  <a:pt x="4208" y="13819"/>
                  <a:pt x="4262" y="14043"/>
                  <a:pt x="4320" y="14159"/>
                </a:cubicBezTo>
                <a:cubicBezTo>
                  <a:pt x="4414" y="14348"/>
                  <a:pt x="4511" y="14419"/>
                  <a:pt x="4604" y="14616"/>
                </a:cubicBezTo>
                <a:cubicBezTo>
                  <a:pt x="4871" y="15180"/>
                  <a:pt x="5132" y="15905"/>
                  <a:pt x="5400" y="16443"/>
                </a:cubicBezTo>
                <a:cubicBezTo>
                  <a:pt x="5476" y="16595"/>
                  <a:pt x="5551" y="16777"/>
                  <a:pt x="5627" y="16900"/>
                </a:cubicBezTo>
                <a:cubicBezTo>
                  <a:pt x="5740" y="17082"/>
                  <a:pt x="5855" y="17204"/>
                  <a:pt x="5968" y="17357"/>
                </a:cubicBezTo>
                <a:cubicBezTo>
                  <a:pt x="6578" y="18989"/>
                  <a:pt x="6033" y="17710"/>
                  <a:pt x="6707" y="18727"/>
                </a:cubicBezTo>
                <a:cubicBezTo>
                  <a:pt x="7006" y="19176"/>
                  <a:pt x="7218" y="19715"/>
                  <a:pt x="7503" y="20097"/>
                </a:cubicBezTo>
                <a:cubicBezTo>
                  <a:pt x="7635" y="20274"/>
                  <a:pt x="7769" y="20377"/>
                  <a:pt x="7901" y="20554"/>
                </a:cubicBezTo>
                <a:cubicBezTo>
                  <a:pt x="8682" y="21600"/>
                  <a:pt x="7541" y="20363"/>
                  <a:pt x="8640" y="21467"/>
                </a:cubicBezTo>
                <a:lnTo>
                  <a:pt x="13813" y="21011"/>
                </a:lnTo>
                <a:cubicBezTo>
                  <a:pt x="13928" y="20992"/>
                  <a:pt x="14040" y="20685"/>
                  <a:pt x="14154" y="20554"/>
                </a:cubicBezTo>
                <a:cubicBezTo>
                  <a:pt x="14305" y="20380"/>
                  <a:pt x="14456" y="20214"/>
                  <a:pt x="14608" y="20097"/>
                </a:cubicBezTo>
                <a:cubicBezTo>
                  <a:pt x="16569" y="18597"/>
                  <a:pt x="14372" y="20511"/>
                  <a:pt x="15859" y="19184"/>
                </a:cubicBezTo>
                <a:cubicBezTo>
                  <a:pt x="16375" y="18148"/>
                  <a:pt x="15737" y="19361"/>
                  <a:pt x="16484" y="18270"/>
                </a:cubicBezTo>
                <a:cubicBezTo>
                  <a:pt x="16561" y="18158"/>
                  <a:pt x="16635" y="17926"/>
                  <a:pt x="16712" y="17813"/>
                </a:cubicBezTo>
                <a:cubicBezTo>
                  <a:pt x="16843" y="17621"/>
                  <a:pt x="16977" y="17534"/>
                  <a:pt x="17109" y="17357"/>
                </a:cubicBezTo>
                <a:cubicBezTo>
                  <a:pt x="17205" y="17229"/>
                  <a:pt x="17298" y="17028"/>
                  <a:pt x="17394" y="16900"/>
                </a:cubicBezTo>
                <a:cubicBezTo>
                  <a:pt x="17526" y="16723"/>
                  <a:pt x="17660" y="16654"/>
                  <a:pt x="17792" y="16443"/>
                </a:cubicBezTo>
                <a:cubicBezTo>
                  <a:pt x="17945" y="16197"/>
                  <a:pt x="18246" y="15530"/>
                  <a:pt x="18246" y="15530"/>
                </a:cubicBezTo>
                <a:cubicBezTo>
                  <a:pt x="18581" y="14185"/>
                  <a:pt x="18393" y="14832"/>
                  <a:pt x="18815" y="13703"/>
                </a:cubicBezTo>
                <a:cubicBezTo>
                  <a:pt x="18872" y="13550"/>
                  <a:pt x="18935" y="13513"/>
                  <a:pt x="18985" y="13246"/>
                </a:cubicBezTo>
                <a:cubicBezTo>
                  <a:pt x="19042" y="12941"/>
                  <a:pt x="19095" y="12578"/>
                  <a:pt x="19156" y="12332"/>
                </a:cubicBezTo>
                <a:cubicBezTo>
                  <a:pt x="19209" y="12117"/>
                  <a:pt x="19271" y="12065"/>
                  <a:pt x="19326" y="11876"/>
                </a:cubicBezTo>
                <a:cubicBezTo>
                  <a:pt x="19404" y="11607"/>
                  <a:pt x="19476" y="11230"/>
                  <a:pt x="19554" y="10962"/>
                </a:cubicBezTo>
                <a:cubicBezTo>
                  <a:pt x="19609" y="10772"/>
                  <a:pt x="19669" y="10695"/>
                  <a:pt x="19724" y="10505"/>
                </a:cubicBezTo>
                <a:cubicBezTo>
                  <a:pt x="19802" y="10237"/>
                  <a:pt x="19879" y="9942"/>
                  <a:pt x="19952" y="9592"/>
                </a:cubicBezTo>
                <a:cubicBezTo>
                  <a:pt x="20069" y="9027"/>
                  <a:pt x="20163" y="8112"/>
                  <a:pt x="20293" y="7765"/>
                </a:cubicBezTo>
                <a:cubicBezTo>
                  <a:pt x="20538" y="7109"/>
                  <a:pt x="20597" y="6910"/>
                  <a:pt x="20918" y="6395"/>
                </a:cubicBezTo>
                <a:cubicBezTo>
                  <a:pt x="21523" y="5421"/>
                  <a:pt x="21293" y="5481"/>
                  <a:pt x="21600" y="5481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105"/>
          <p:cNvSpPr/>
          <p:nvPr/>
        </p:nvSpPr>
        <p:spPr>
          <a:xfrm>
            <a:off x="8450318" y="2942892"/>
            <a:ext cx="8723587" cy="1051035"/>
          </a:xfrm>
          <a:custGeom>
            <a:rect b="b" l="l" r="r" t="t"/>
            <a:pathLst>
              <a:path extrusionOk="0" h="20905" w="21410">
                <a:moveTo>
                  <a:pt x="0" y="20905"/>
                </a:moveTo>
                <a:cubicBezTo>
                  <a:pt x="1177" y="17816"/>
                  <a:pt x="-190" y="21600"/>
                  <a:pt x="903" y="17978"/>
                </a:cubicBezTo>
                <a:cubicBezTo>
                  <a:pt x="1094" y="17345"/>
                  <a:pt x="1299" y="16981"/>
                  <a:pt x="1487" y="16306"/>
                </a:cubicBezTo>
                <a:cubicBezTo>
                  <a:pt x="1689" y="15583"/>
                  <a:pt x="1869" y="14500"/>
                  <a:pt x="2072" y="13797"/>
                </a:cubicBezTo>
                <a:cubicBezTo>
                  <a:pt x="3415" y="9146"/>
                  <a:pt x="2381" y="12909"/>
                  <a:pt x="3081" y="11289"/>
                </a:cubicBezTo>
                <a:cubicBezTo>
                  <a:pt x="3296" y="10791"/>
                  <a:pt x="3509" y="10235"/>
                  <a:pt x="3719" y="9616"/>
                </a:cubicBezTo>
                <a:cubicBezTo>
                  <a:pt x="3934" y="8980"/>
                  <a:pt x="4135" y="8033"/>
                  <a:pt x="4356" y="7526"/>
                </a:cubicBezTo>
                <a:cubicBezTo>
                  <a:pt x="4563" y="7051"/>
                  <a:pt x="4786" y="7136"/>
                  <a:pt x="4994" y="6690"/>
                </a:cubicBezTo>
                <a:cubicBezTo>
                  <a:pt x="5372" y="5878"/>
                  <a:pt x="5725" y="4368"/>
                  <a:pt x="6109" y="3763"/>
                </a:cubicBezTo>
                <a:cubicBezTo>
                  <a:pt x="6287" y="3484"/>
                  <a:pt x="6464" y="3235"/>
                  <a:pt x="6641" y="2927"/>
                </a:cubicBezTo>
                <a:cubicBezTo>
                  <a:pt x="6783" y="2677"/>
                  <a:pt x="6921" y="2253"/>
                  <a:pt x="7066" y="2091"/>
                </a:cubicBezTo>
                <a:cubicBezTo>
                  <a:pt x="7294" y="1834"/>
                  <a:pt x="7527" y="1853"/>
                  <a:pt x="7756" y="1672"/>
                </a:cubicBezTo>
                <a:cubicBezTo>
                  <a:pt x="8530" y="1064"/>
                  <a:pt x="7679" y="1301"/>
                  <a:pt x="8713" y="836"/>
                </a:cubicBezTo>
                <a:cubicBezTo>
                  <a:pt x="9581" y="446"/>
                  <a:pt x="11058" y="177"/>
                  <a:pt x="11847" y="0"/>
                </a:cubicBezTo>
                <a:lnTo>
                  <a:pt x="16947" y="418"/>
                </a:lnTo>
                <a:cubicBezTo>
                  <a:pt x="17125" y="444"/>
                  <a:pt x="17303" y="628"/>
                  <a:pt x="17479" y="836"/>
                </a:cubicBezTo>
                <a:cubicBezTo>
                  <a:pt x="17632" y="1017"/>
                  <a:pt x="18256" y="2040"/>
                  <a:pt x="18435" y="2509"/>
                </a:cubicBezTo>
                <a:cubicBezTo>
                  <a:pt x="18488" y="2648"/>
                  <a:pt x="18540" y="2831"/>
                  <a:pt x="18594" y="2927"/>
                </a:cubicBezTo>
                <a:cubicBezTo>
                  <a:pt x="18699" y="3111"/>
                  <a:pt x="18807" y="3189"/>
                  <a:pt x="18913" y="3345"/>
                </a:cubicBezTo>
                <a:cubicBezTo>
                  <a:pt x="19091" y="3607"/>
                  <a:pt x="19267" y="3902"/>
                  <a:pt x="19444" y="4181"/>
                </a:cubicBezTo>
                <a:cubicBezTo>
                  <a:pt x="19533" y="4320"/>
                  <a:pt x="19621" y="4482"/>
                  <a:pt x="19710" y="4599"/>
                </a:cubicBezTo>
                <a:lnTo>
                  <a:pt x="20029" y="5017"/>
                </a:lnTo>
                <a:cubicBezTo>
                  <a:pt x="20118" y="5144"/>
                  <a:pt x="20206" y="5281"/>
                  <a:pt x="20294" y="5435"/>
                </a:cubicBezTo>
                <a:cubicBezTo>
                  <a:pt x="20366" y="5560"/>
                  <a:pt x="20434" y="5796"/>
                  <a:pt x="20507" y="5853"/>
                </a:cubicBezTo>
                <a:cubicBezTo>
                  <a:pt x="21049" y="6280"/>
                  <a:pt x="21093" y="6271"/>
                  <a:pt x="21410" y="6271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105"/>
          <p:cNvSpPr/>
          <p:nvPr/>
        </p:nvSpPr>
        <p:spPr>
          <a:xfrm>
            <a:off x="8492357" y="5633544"/>
            <a:ext cx="8744610" cy="1534513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88" y="529"/>
                  <a:pt x="166" y="1129"/>
                  <a:pt x="264" y="1588"/>
                </a:cubicBezTo>
                <a:cubicBezTo>
                  <a:pt x="379" y="2127"/>
                  <a:pt x="504" y="2248"/>
                  <a:pt x="634" y="2541"/>
                </a:cubicBezTo>
                <a:cubicBezTo>
                  <a:pt x="723" y="2741"/>
                  <a:pt x="813" y="2921"/>
                  <a:pt x="898" y="3176"/>
                </a:cubicBezTo>
                <a:cubicBezTo>
                  <a:pt x="990" y="3453"/>
                  <a:pt x="1063" y="3960"/>
                  <a:pt x="1162" y="4129"/>
                </a:cubicBezTo>
                <a:cubicBezTo>
                  <a:pt x="1315" y="4393"/>
                  <a:pt x="1479" y="4341"/>
                  <a:pt x="1637" y="4447"/>
                </a:cubicBezTo>
                <a:cubicBezTo>
                  <a:pt x="2490" y="6371"/>
                  <a:pt x="1630" y="4540"/>
                  <a:pt x="2482" y="6035"/>
                </a:cubicBezTo>
                <a:cubicBezTo>
                  <a:pt x="2765" y="6532"/>
                  <a:pt x="3043" y="7136"/>
                  <a:pt x="3327" y="7624"/>
                </a:cubicBezTo>
                <a:cubicBezTo>
                  <a:pt x="3413" y="7772"/>
                  <a:pt x="3504" y="7818"/>
                  <a:pt x="3591" y="7941"/>
                </a:cubicBezTo>
                <a:cubicBezTo>
                  <a:pt x="3803" y="8241"/>
                  <a:pt x="4015" y="8550"/>
                  <a:pt x="4225" y="8894"/>
                </a:cubicBezTo>
                <a:cubicBezTo>
                  <a:pt x="4402" y="9185"/>
                  <a:pt x="4574" y="9591"/>
                  <a:pt x="4753" y="9847"/>
                </a:cubicBezTo>
                <a:cubicBezTo>
                  <a:pt x="4945" y="10121"/>
                  <a:pt x="5142" y="10226"/>
                  <a:pt x="5334" y="10482"/>
                </a:cubicBezTo>
                <a:lnTo>
                  <a:pt x="8556" y="14929"/>
                </a:lnTo>
                <a:cubicBezTo>
                  <a:pt x="8714" y="15147"/>
                  <a:pt x="8870" y="15427"/>
                  <a:pt x="9031" y="15565"/>
                </a:cubicBezTo>
                <a:lnTo>
                  <a:pt x="9770" y="16200"/>
                </a:lnTo>
                <a:cubicBezTo>
                  <a:pt x="10410" y="17484"/>
                  <a:pt x="9764" y="16297"/>
                  <a:pt x="10404" y="17153"/>
                </a:cubicBezTo>
                <a:cubicBezTo>
                  <a:pt x="10616" y="17437"/>
                  <a:pt x="10826" y="17806"/>
                  <a:pt x="11038" y="18106"/>
                </a:cubicBezTo>
                <a:cubicBezTo>
                  <a:pt x="11125" y="18230"/>
                  <a:pt x="11214" y="18318"/>
                  <a:pt x="11302" y="18424"/>
                </a:cubicBezTo>
                <a:cubicBezTo>
                  <a:pt x="11390" y="18635"/>
                  <a:pt x="11475" y="18895"/>
                  <a:pt x="11566" y="19059"/>
                </a:cubicBezTo>
                <a:cubicBezTo>
                  <a:pt x="11706" y="19312"/>
                  <a:pt x="12082" y="19593"/>
                  <a:pt x="12200" y="19694"/>
                </a:cubicBezTo>
                <a:cubicBezTo>
                  <a:pt x="12795" y="21126"/>
                  <a:pt x="12058" y="19524"/>
                  <a:pt x="12992" y="20647"/>
                </a:cubicBezTo>
                <a:cubicBezTo>
                  <a:pt x="13085" y="20759"/>
                  <a:pt x="13162" y="21183"/>
                  <a:pt x="13256" y="21282"/>
                </a:cubicBezTo>
                <a:cubicBezTo>
                  <a:pt x="13464" y="21504"/>
                  <a:pt x="13678" y="21494"/>
                  <a:pt x="13889" y="21600"/>
                </a:cubicBezTo>
                <a:cubicBezTo>
                  <a:pt x="14699" y="21494"/>
                  <a:pt x="15510" y="21534"/>
                  <a:pt x="16319" y="21282"/>
                </a:cubicBezTo>
                <a:cubicBezTo>
                  <a:pt x="16533" y="21216"/>
                  <a:pt x="16739" y="20775"/>
                  <a:pt x="16953" y="20647"/>
                </a:cubicBezTo>
                <a:cubicBezTo>
                  <a:pt x="17129" y="20541"/>
                  <a:pt x="17305" y="20461"/>
                  <a:pt x="17481" y="20329"/>
                </a:cubicBezTo>
                <a:cubicBezTo>
                  <a:pt x="17728" y="20144"/>
                  <a:pt x="18220" y="19694"/>
                  <a:pt x="18220" y="19694"/>
                </a:cubicBezTo>
                <a:cubicBezTo>
                  <a:pt x="18394" y="19345"/>
                  <a:pt x="18453" y="19248"/>
                  <a:pt x="18643" y="18741"/>
                </a:cubicBezTo>
                <a:cubicBezTo>
                  <a:pt x="18714" y="18549"/>
                  <a:pt x="18781" y="18292"/>
                  <a:pt x="18854" y="18106"/>
                </a:cubicBezTo>
                <a:cubicBezTo>
                  <a:pt x="19123" y="17412"/>
                  <a:pt x="19072" y="18154"/>
                  <a:pt x="19435" y="16518"/>
                </a:cubicBezTo>
                <a:cubicBezTo>
                  <a:pt x="19445" y="16472"/>
                  <a:pt x="20081" y="13527"/>
                  <a:pt x="20174" y="13341"/>
                </a:cubicBezTo>
                <a:lnTo>
                  <a:pt x="20333" y="13024"/>
                </a:lnTo>
                <a:cubicBezTo>
                  <a:pt x="20385" y="12706"/>
                  <a:pt x="20430" y="12332"/>
                  <a:pt x="20491" y="12071"/>
                </a:cubicBezTo>
                <a:cubicBezTo>
                  <a:pt x="20747" y="10969"/>
                  <a:pt x="20631" y="11809"/>
                  <a:pt x="20861" y="11118"/>
                </a:cubicBezTo>
                <a:cubicBezTo>
                  <a:pt x="20917" y="10947"/>
                  <a:pt x="20961" y="10637"/>
                  <a:pt x="21019" y="10482"/>
                </a:cubicBezTo>
                <a:cubicBezTo>
                  <a:pt x="21121" y="10210"/>
                  <a:pt x="21230" y="10059"/>
                  <a:pt x="21336" y="9847"/>
                </a:cubicBezTo>
                <a:lnTo>
                  <a:pt x="21494" y="9529"/>
                </a:lnTo>
                <a:cubicBezTo>
                  <a:pt x="21553" y="8476"/>
                  <a:pt x="21492" y="8576"/>
                  <a:pt x="21600" y="8576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105"/>
          <p:cNvSpPr/>
          <p:nvPr/>
        </p:nvSpPr>
        <p:spPr>
          <a:xfrm>
            <a:off x="6453351" y="5171090"/>
            <a:ext cx="8156029" cy="420415"/>
          </a:xfrm>
          <a:custGeom>
            <a:rect b="b" l="l" r="r" t="t"/>
            <a:pathLst>
              <a:path extrusionOk="0" h="21600" w="21315">
                <a:moveTo>
                  <a:pt x="0" y="20520"/>
                </a:moveTo>
                <a:cubicBezTo>
                  <a:pt x="73" y="20880"/>
                  <a:pt x="144" y="21600"/>
                  <a:pt x="220" y="21600"/>
                </a:cubicBezTo>
                <a:cubicBezTo>
                  <a:pt x="364" y="21600"/>
                  <a:pt x="705" y="20577"/>
                  <a:pt x="879" y="19440"/>
                </a:cubicBezTo>
                <a:cubicBezTo>
                  <a:pt x="973" y="18827"/>
                  <a:pt x="1057" y="17660"/>
                  <a:pt x="1154" y="17280"/>
                </a:cubicBezTo>
                <a:cubicBezTo>
                  <a:pt x="1334" y="16570"/>
                  <a:pt x="1520" y="16560"/>
                  <a:pt x="1703" y="16200"/>
                </a:cubicBezTo>
                <a:lnTo>
                  <a:pt x="1978" y="15120"/>
                </a:lnTo>
                <a:cubicBezTo>
                  <a:pt x="2087" y="14728"/>
                  <a:pt x="2198" y="14469"/>
                  <a:pt x="2307" y="14040"/>
                </a:cubicBezTo>
                <a:cubicBezTo>
                  <a:pt x="2381" y="13749"/>
                  <a:pt x="2452" y="13186"/>
                  <a:pt x="2527" y="12960"/>
                </a:cubicBezTo>
                <a:cubicBezTo>
                  <a:pt x="3013" y="11491"/>
                  <a:pt x="3602" y="11280"/>
                  <a:pt x="4065" y="10800"/>
                </a:cubicBezTo>
                <a:cubicBezTo>
                  <a:pt x="4193" y="10440"/>
                  <a:pt x="4322" y="10175"/>
                  <a:pt x="4450" y="9720"/>
                </a:cubicBezTo>
                <a:cubicBezTo>
                  <a:pt x="5183" y="7101"/>
                  <a:pt x="3775" y="10536"/>
                  <a:pt x="5219" y="6480"/>
                </a:cubicBezTo>
                <a:cubicBezTo>
                  <a:pt x="5347" y="6120"/>
                  <a:pt x="5476" y="5855"/>
                  <a:pt x="5604" y="5400"/>
                </a:cubicBezTo>
                <a:cubicBezTo>
                  <a:pt x="5678" y="5135"/>
                  <a:pt x="5748" y="4497"/>
                  <a:pt x="5823" y="4320"/>
                </a:cubicBezTo>
                <a:cubicBezTo>
                  <a:pt x="6207" y="3415"/>
                  <a:pt x="6596" y="3409"/>
                  <a:pt x="6977" y="2160"/>
                </a:cubicBezTo>
                <a:cubicBezTo>
                  <a:pt x="7452" y="603"/>
                  <a:pt x="7196" y="1352"/>
                  <a:pt x="7746" y="0"/>
                </a:cubicBezTo>
                <a:lnTo>
                  <a:pt x="14503" y="1080"/>
                </a:lnTo>
                <a:cubicBezTo>
                  <a:pt x="15547" y="1308"/>
                  <a:pt x="16591" y="1361"/>
                  <a:pt x="17635" y="2160"/>
                </a:cubicBezTo>
                <a:cubicBezTo>
                  <a:pt x="18002" y="2442"/>
                  <a:pt x="18366" y="3765"/>
                  <a:pt x="18733" y="4320"/>
                </a:cubicBezTo>
                <a:cubicBezTo>
                  <a:pt x="18971" y="4680"/>
                  <a:pt x="19210" y="4933"/>
                  <a:pt x="19448" y="5400"/>
                </a:cubicBezTo>
                <a:cubicBezTo>
                  <a:pt x="21600" y="9632"/>
                  <a:pt x="17064" y="1946"/>
                  <a:pt x="20491" y="7560"/>
                </a:cubicBezTo>
                <a:lnTo>
                  <a:pt x="20821" y="8640"/>
                </a:lnTo>
                <a:cubicBezTo>
                  <a:pt x="20913" y="8968"/>
                  <a:pt x="21003" y="9517"/>
                  <a:pt x="21096" y="9720"/>
                </a:cubicBezTo>
                <a:cubicBezTo>
                  <a:pt x="21168" y="9879"/>
                  <a:pt x="21242" y="9720"/>
                  <a:pt x="21315" y="9720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105"/>
          <p:cNvSpPr txBox="1"/>
          <p:nvPr/>
        </p:nvSpPr>
        <p:spPr>
          <a:xfrm>
            <a:off x="4834757" y="3174124"/>
            <a:ext cx="1423339" cy="7447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87" name="Google Shape;2387;p105"/>
          <p:cNvSpPr txBox="1"/>
          <p:nvPr/>
        </p:nvSpPr>
        <p:spPr>
          <a:xfrm>
            <a:off x="14767031" y="3752191"/>
            <a:ext cx="1626489" cy="7447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(x’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,y’</a:t>
            </a:r>
            <a:r>
              <a:rPr b="0" baseline="-2500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88" name="Google Shape;2388;p105"/>
          <p:cNvSpPr txBox="1"/>
          <p:nvPr/>
        </p:nvSpPr>
        <p:spPr>
          <a:xfrm>
            <a:off x="19988568" y="13136036"/>
            <a:ext cx="4168064" cy="448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 Light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Torralba, Isola, Freeman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106"/>
          <p:cNvSpPr txBox="1"/>
          <p:nvPr>
            <p:ph type="title"/>
          </p:nvPr>
        </p:nvSpPr>
        <p:spPr>
          <a:xfrm>
            <a:off x="1219200" y="41276"/>
            <a:ext cx="219456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b="0" lang="en-US">
                <a:latin typeface="Helvetica Neue"/>
                <a:ea typeface="Helvetica Neue"/>
                <a:cs typeface="Helvetica Neue"/>
                <a:sym typeface="Helvetica Neue"/>
              </a:rPr>
              <a:t>Why does this work?</a:t>
            </a:r>
            <a:endParaRPr/>
          </a:p>
        </p:txBody>
      </p:sp>
      <p:cxnSp>
        <p:nvCxnSpPr>
          <p:cNvPr id="2394" name="Google Shape;2394;p106"/>
          <p:cNvCxnSpPr/>
          <p:nvPr/>
        </p:nvCxnSpPr>
        <p:spPr>
          <a:xfrm flipH="1" rot="10800000">
            <a:off x="6188060" y="2813057"/>
            <a:ext cx="5699124" cy="1600201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5" name="Google Shape;2395;p106"/>
          <p:cNvCxnSpPr/>
          <p:nvPr/>
        </p:nvCxnSpPr>
        <p:spPr>
          <a:xfrm>
            <a:off x="5718160" y="5165734"/>
            <a:ext cx="4114801" cy="4419601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6" name="Google Shape;2396;p106"/>
          <p:cNvCxnSpPr/>
          <p:nvPr/>
        </p:nvCxnSpPr>
        <p:spPr>
          <a:xfrm>
            <a:off x="5788011" y="4660908"/>
            <a:ext cx="6861175" cy="917576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7" name="Google Shape;2397;p106"/>
          <p:cNvCxnSpPr/>
          <p:nvPr/>
        </p:nvCxnSpPr>
        <p:spPr>
          <a:xfrm>
            <a:off x="6200761" y="4848233"/>
            <a:ext cx="5911851" cy="2120902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8" name="Google Shape;2398;p106"/>
          <p:cNvCxnSpPr/>
          <p:nvPr/>
        </p:nvCxnSpPr>
        <p:spPr>
          <a:xfrm flipH="1" rot="10800000">
            <a:off x="6327760" y="4114808"/>
            <a:ext cx="6486525" cy="419101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9" name="Google Shape;2399;p106"/>
          <p:cNvCxnSpPr/>
          <p:nvPr/>
        </p:nvCxnSpPr>
        <p:spPr>
          <a:xfrm>
            <a:off x="5772136" y="4826009"/>
            <a:ext cx="5280026" cy="3540128"/>
          </a:xfrm>
          <a:prstGeom prst="straightConnector1">
            <a:avLst/>
          </a:prstGeom>
          <a:noFill/>
          <a:ln cap="flat" cmpd="sng" w="1143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00" name="Google Shape;2400;p106"/>
          <p:cNvSpPr/>
          <p:nvPr/>
        </p:nvSpPr>
        <p:spPr>
          <a:xfrm>
            <a:off x="5327633" y="4391033"/>
            <a:ext cx="457201" cy="457201"/>
          </a:xfrm>
          <a:prstGeom prst="ellipse">
            <a:avLst/>
          </a:prstGeom>
          <a:solidFill>
            <a:srgbClr val="9900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1" name="Google Shape;2401;p106"/>
          <p:cNvSpPr txBox="1"/>
          <p:nvPr/>
        </p:nvSpPr>
        <p:spPr>
          <a:xfrm>
            <a:off x="6222983" y="8156584"/>
            <a:ext cx="1847573" cy="728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1</a:t>
            </a:r>
            <a:endParaRPr/>
          </a:p>
        </p:txBody>
      </p:sp>
      <p:sp>
        <p:nvSpPr>
          <p:cNvPr id="2402" name="Google Shape;2402;p106"/>
          <p:cNvSpPr txBox="1"/>
          <p:nvPr/>
        </p:nvSpPr>
        <p:spPr>
          <a:xfrm>
            <a:off x="6616683" y="2936883"/>
            <a:ext cx="1838758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2</a:t>
            </a:r>
            <a:endParaRPr/>
          </a:p>
        </p:txBody>
      </p:sp>
      <p:grpSp>
        <p:nvGrpSpPr>
          <p:cNvPr id="2403" name="Google Shape;2403;p106"/>
          <p:cNvGrpSpPr/>
          <p:nvPr/>
        </p:nvGrpSpPr>
        <p:grpSpPr>
          <a:xfrm>
            <a:off x="7740633" y="3613157"/>
            <a:ext cx="368301" cy="2162179"/>
            <a:chOff x="0" y="-1"/>
            <a:chExt cx="368300" cy="2162177"/>
          </a:xfrm>
        </p:grpSpPr>
        <p:cxnSp>
          <p:nvCxnSpPr>
            <p:cNvPr id="2404" name="Google Shape;2404;p106"/>
            <p:cNvCxnSpPr/>
            <p:nvPr/>
          </p:nvCxnSpPr>
          <p:spPr>
            <a:xfrm flipH="1">
              <a:off x="111125" y="-1"/>
              <a:ext cx="142876" cy="2162177"/>
            </a:xfrm>
            <a:prstGeom prst="straightConnector1">
              <a:avLst/>
            </a:prstGeom>
            <a:noFill/>
            <a:ln cap="flat" cmpd="sng" w="1143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5" name="Google Shape;2405;p106"/>
            <p:cNvSpPr/>
            <p:nvPr/>
          </p:nvSpPr>
          <p:spPr>
            <a:xfrm>
              <a:off x="63500" y="142875"/>
              <a:ext cx="304800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6" name="Google Shape;2406;p106"/>
            <p:cNvSpPr/>
            <p:nvPr/>
          </p:nvSpPr>
          <p:spPr>
            <a:xfrm>
              <a:off x="19050" y="1165225"/>
              <a:ext cx="304800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7" name="Google Shape;2407;p106"/>
            <p:cNvSpPr/>
            <p:nvPr/>
          </p:nvSpPr>
          <p:spPr>
            <a:xfrm>
              <a:off x="0" y="1666875"/>
              <a:ext cx="304800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8" name="Google Shape;2408;p106"/>
            <p:cNvSpPr/>
            <p:nvPr/>
          </p:nvSpPr>
          <p:spPr>
            <a:xfrm>
              <a:off x="50800" y="660400"/>
              <a:ext cx="304800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09" name="Google Shape;2409;p106"/>
          <p:cNvGrpSpPr/>
          <p:nvPr/>
        </p:nvGrpSpPr>
        <p:grpSpPr>
          <a:xfrm>
            <a:off x="8156560" y="4787910"/>
            <a:ext cx="1758952" cy="4035427"/>
            <a:chOff x="-1" y="0"/>
            <a:chExt cx="1758951" cy="4035425"/>
          </a:xfrm>
        </p:grpSpPr>
        <p:cxnSp>
          <p:nvCxnSpPr>
            <p:cNvPr id="2410" name="Google Shape;2410;p106"/>
            <p:cNvCxnSpPr/>
            <p:nvPr/>
          </p:nvCxnSpPr>
          <p:spPr>
            <a:xfrm flipH="1">
              <a:off x="-1" y="0"/>
              <a:ext cx="1758951" cy="4035425"/>
            </a:xfrm>
            <a:prstGeom prst="straightConnector1">
              <a:avLst/>
            </a:prstGeom>
            <a:noFill/>
            <a:ln cap="flat" cmpd="sng" w="1143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11" name="Google Shape;2411;p106"/>
            <p:cNvSpPr/>
            <p:nvPr/>
          </p:nvSpPr>
          <p:spPr>
            <a:xfrm>
              <a:off x="1438275" y="266700"/>
              <a:ext cx="304800" cy="3048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2" name="Google Shape;2412;p106"/>
            <p:cNvSpPr/>
            <p:nvPr/>
          </p:nvSpPr>
          <p:spPr>
            <a:xfrm>
              <a:off x="1130300" y="1060450"/>
              <a:ext cx="304800" cy="3048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3" name="Google Shape;2413;p106"/>
            <p:cNvSpPr/>
            <p:nvPr/>
          </p:nvSpPr>
          <p:spPr>
            <a:xfrm>
              <a:off x="688975" y="2028825"/>
              <a:ext cx="304800" cy="3048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4" name="Google Shape;2414;p106"/>
            <p:cNvSpPr/>
            <p:nvPr/>
          </p:nvSpPr>
          <p:spPr>
            <a:xfrm>
              <a:off x="152400" y="3206750"/>
              <a:ext cx="304800" cy="304801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415" name="Google Shape;2415;p106"/>
          <p:cNvGrpSpPr/>
          <p:nvPr/>
        </p:nvGrpSpPr>
        <p:grpSpPr>
          <a:xfrm>
            <a:off x="9293211" y="5041910"/>
            <a:ext cx="612777" cy="1101727"/>
            <a:chOff x="0" y="0"/>
            <a:chExt cx="612775" cy="1101726"/>
          </a:xfrm>
        </p:grpSpPr>
        <p:sp>
          <p:nvSpPr>
            <p:cNvPr id="2416" name="Google Shape;2416;p106"/>
            <p:cNvSpPr/>
            <p:nvPr/>
          </p:nvSpPr>
          <p:spPr>
            <a:xfrm>
              <a:off x="0" y="796925"/>
              <a:ext cx="304801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7" name="Google Shape;2417;p106"/>
            <p:cNvSpPr/>
            <p:nvPr/>
          </p:nvSpPr>
          <p:spPr>
            <a:xfrm>
              <a:off x="307974" y="0"/>
              <a:ext cx="304801" cy="304801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2418" name="Google Shape;2418;p106"/>
          <p:cNvCxnSpPr/>
          <p:nvPr/>
        </p:nvCxnSpPr>
        <p:spPr>
          <a:xfrm flipH="1">
            <a:off x="9902811" y="2730510"/>
            <a:ext cx="904875" cy="2076451"/>
          </a:xfrm>
          <a:prstGeom prst="straightConnector1">
            <a:avLst/>
          </a:prstGeom>
          <a:noFill/>
          <a:ln cap="flat" cmpd="sng" w="114300">
            <a:solidFill>
              <a:srgbClr val="800080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419" name="Google Shape;2419;p106"/>
          <p:cNvGrpSpPr/>
          <p:nvPr/>
        </p:nvGrpSpPr>
        <p:grpSpPr>
          <a:xfrm>
            <a:off x="9985361" y="3041657"/>
            <a:ext cx="793751" cy="1384301"/>
            <a:chOff x="0" y="0"/>
            <a:chExt cx="793750" cy="1384300"/>
          </a:xfrm>
        </p:grpSpPr>
        <p:sp>
          <p:nvSpPr>
            <p:cNvPr id="2420" name="Google Shape;2420;p106"/>
            <p:cNvSpPr/>
            <p:nvPr/>
          </p:nvSpPr>
          <p:spPr>
            <a:xfrm>
              <a:off x="488950" y="0"/>
              <a:ext cx="304800" cy="3048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21" name="Google Shape;2421;p106"/>
            <p:cNvSpPr/>
            <p:nvPr/>
          </p:nvSpPr>
          <p:spPr>
            <a:xfrm>
              <a:off x="0" y="1079500"/>
              <a:ext cx="304800" cy="304800"/>
            </a:xfrm>
            <a:prstGeom prst="ellipse">
              <a:avLst/>
            </a:prstGeom>
            <a:solidFill>
              <a:srgbClr val="00FF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Helvetica Neue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22" name="Google Shape;2422;p106"/>
          <p:cNvSpPr txBox="1"/>
          <p:nvPr/>
        </p:nvSpPr>
        <p:spPr>
          <a:xfrm>
            <a:off x="1727186" y="4105285"/>
            <a:ext cx="3442514" cy="7924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Optical Center</a:t>
            </a:r>
            <a:endParaRPr/>
          </a:p>
        </p:txBody>
      </p:sp>
      <p:sp>
        <p:nvSpPr>
          <p:cNvPr id="2423" name="Google Shape;2423;p106"/>
          <p:cNvSpPr txBox="1"/>
          <p:nvPr/>
        </p:nvSpPr>
        <p:spPr>
          <a:xfrm>
            <a:off x="1981200" y="10058400"/>
            <a:ext cx="10614254" cy="7284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we map points in image 2 into image 1?</a:t>
            </a:r>
            <a:endParaRPr/>
          </a:p>
        </p:txBody>
      </p:sp>
      <p:pic>
        <p:nvPicPr>
          <p:cNvPr descr="image54.png" id="2424" name="Google Shape;242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6147" y="11665404"/>
            <a:ext cx="985935" cy="692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5.png" id="2425" name="Google Shape;2425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5397" y="11665404"/>
            <a:ext cx="1012581" cy="706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6.png" id="2426" name="Google Shape;2426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3995" y="12547148"/>
            <a:ext cx="3131005" cy="732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7.png" id="2427" name="Google Shape;2427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8535" y="12547149"/>
            <a:ext cx="919317" cy="599555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106"/>
          <p:cNvSpPr txBox="1"/>
          <p:nvPr/>
        </p:nvSpPr>
        <p:spPr>
          <a:xfrm>
            <a:off x="5577131" y="10951018"/>
            <a:ext cx="1822124" cy="728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1</a:t>
            </a:r>
            <a:endParaRPr/>
          </a:p>
        </p:txBody>
      </p:sp>
      <p:sp>
        <p:nvSpPr>
          <p:cNvPr id="2429" name="Google Shape;2429;p106"/>
          <p:cNvSpPr txBox="1"/>
          <p:nvPr/>
        </p:nvSpPr>
        <p:spPr>
          <a:xfrm>
            <a:off x="9148336" y="10951018"/>
            <a:ext cx="1822123" cy="728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2</a:t>
            </a:r>
            <a:endParaRPr/>
          </a:p>
        </p:txBody>
      </p:sp>
      <p:pic>
        <p:nvPicPr>
          <p:cNvPr descr="image58.png" id="2430" name="Google Shape;2430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919307" y="3613784"/>
            <a:ext cx="5959493" cy="2482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9.png" id="2431" name="Google Shape;2431;p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22707" y="7106887"/>
            <a:ext cx="6099727" cy="2189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60.png" id="2432" name="Google Shape;2432;p10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798536" y="10494180"/>
            <a:ext cx="7080264" cy="2307421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106"/>
          <p:cNvSpPr txBox="1"/>
          <p:nvPr/>
        </p:nvSpPr>
        <p:spPr>
          <a:xfrm>
            <a:off x="16179446" y="12824935"/>
            <a:ext cx="3651099" cy="716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3x3 homography</a:t>
            </a:r>
            <a:endParaRPr/>
          </a:p>
        </p:txBody>
      </p:sp>
      <p:cxnSp>
        <p:nvCxnSpPr>
          <p:cNvPr id="2434" name="Google Shape;2434;p106"/>
          <p:cNvCxnSpPr/>
          <p:nvPr/>
        </p:nvCxnSpPr>
        <p:spPr>
          <a:xfrm rot="10800000">
            <a:off x="17988644" y="12192002"/>
            <a:ext cx="95251" cy="74295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5" name="Google Shape;2435;p106"/>
          <p:cNvSpPr txBox="1"/>
          <p:nvPr/>
        </p:nvSpPr>
        <p:spPr>
          <a:xfrm>
            <a:off x="14909801" y="2686057"/>
            <a:ext cx="7297787" cy="10464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pixels in image 2 to rays in camera 2’s coordinate system.</a:t>
            </a:r>
            <a:endParaRPr/>
          </a:p>
        </p:txBody>
      </p:sp>
      <p:sp>
        <p:nvSpPr>
          <p:cNvPr id="2436" name="Google Shape;2436;p106"/>
          <p:cNvSpPr txBox="1"/>
          <p:nvPr/>
        </p:nvSpPr>
        <p:spPr>
          <a:xfrm>
            <a:off x="14274784" y="6212845"/>
            <a:ext cx="8798647" cy="10464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rays in camera 2’s coordinates to rays in camera 1’s coordinates.</a:t>
            </a:r>
            <a:endParaRPr/>
          </a:p>
        </p:txBody>
      </p:sp>
      <p:sp>
        <p:nvSpPr>
          <p:cNvPr id="2437" name="Google Shape;2437;p106"/>
          <p:cNvSpPr txBox="1"/>
          <p:nvPr/>
        </p:nvSpPr>
        <p:spPr>
          <a:xfrm>
            <a:off x="13996046" y="9440757"/>
            <a:ext cx="8557290" cy="10464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rays in camera 1’s coordinates to pixels in image 1’s coordinates.</a:t>
            </a:r>
            <a:endParaRPr/>
          </a:p>
        </p:txBody>
      </p:sp>
      <p:sp>
        <p:nvSpPr>
          <p:cNvPr id="2438" name="Google Shape;2438;p106"/>
          <p:cNvSpPr txBox="1"/>
          <p:nvPr/>
        </p:nvSpPr>
        <p:spPr>
          <a:xfrm>
            <a:off x="2306827" y="11582400"/>
            <a:ext cx="282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intrinsics</a:t>
            </a:r>
            <a:endParaRPr/>
          </a:p>
        </p:txBody>
      </p:sp>
      <p:sp>
        <p:nvSpPr>
          <p:cNvPr id="2439" name="Google Shape;2439;p106"/>
          <p:cNvSpPr txBox="1"/>
          <p:nvPr/>
        </p:nvSpPr>
        <p:spPr>
          <a:xfrm>
            <a:off x="2303690" y="12344402"/>
            <a:ext cx="2990796" cy="1275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extrinsics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(rotation only)</a:t>
            </a:r>
            <a:endParaRPr/>
          </a:p>
        </p:txBody>
      </p:sp>
      <p:sp>
        <p:nvSpPr>
          <p:cNvPr id="2440" name="Google Shape;2440;p106"/>
          <p:cNvSpPr/>
          <p:nvPr/>
        </p:nvSpPr>
        <p:spPr>
          <a:xfrm rot="5400000">
            <a:off x="17398764" y="10734040"/>
            <a:ext cx="521733" cy="2828053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5965" y="0"/>
                  <a:pt x="10800" y="149"/>
                  <a:pt x="10800" y="332"/>
                </a:cubicBezTo>
                <a:lnTo>
                  <a:pt x="10800" y="10468"/>
                </a:lnTo>
                <a:cubicBezTo>
                  <a:pt x="10800" y="10651"/>
                  <a:pt x="15635" y="10800"/>
                  <a:pt x="21600" y="10800"/>
                </a:cubicBezTo>
                <a:cubicBezTo>
                  <a:pt x="15635" y="10800"/>
                  <a:pt x="10800" y="10949"/>
                  <a:pt x="10800" y="11132"/>
                </a:cubicBezTo>
                <a:lnTo>
                  <a:pt x="10800" y="21268"/>
                </a:lnTo>
                <a:cubicBezTo>
                  <a:pt x="10800" y="21451"/>
                  <a:pt x="5965" y="21600"/>
                  <a:pt x="0" y="21600"/>
                </a:cubicBezTo>
              </a:path>
            </a:pathLst>
          </a:custGeom>
          <a:noFill/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1" name="Google Shape;2441;p106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49.png" id="2446" name="Google Shape;244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0" y="7566407"/>
            <a:ext cx="914400" cy="663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7" name="Google Shape;2447;p107"/>
          <p:cNvGrpSpPr/>
          <p:nvPr/>
        </p:nvGrpSpPr>
        <p:grpSpPr>
          <a:xfrm>
            <a:off x="15382473" y="8315580"/>
            <a:ext cx="969790" cy="1121763"/>
            <a:chOff x="0" y="-1"/>
            <a:chExt cx="969788" cy="1121761"/>
          </a:xfrm>
        </p:grpSpPr>
        <p:sp>
          <p:nvSpPr>
            <p:cNvPr id="2448" name="Google Shape;2448;p107"/>
            <p:cNvSpPr/>
            <p:nvPr/>
          </p:nvSpPr>
          <p:spPr>
            <a:xfrm rot="9753105">
              <a:off x="118285" y="73742"/>
              <a:ext cx="627726" cy="885304"/>
            </a:xfrm>
            <a:custGeom>
              <a:rect b="b" l="l" r="r" t="t"/>
              <a:pathLst>
                <a:path extrusionOk="0" h="21600" w="21600">
                  <a:moveTo>
                    <a:pt x="1719" y="21600"/>
                  </a:moveTo>
                  <a:lnTo>
                    <a:pt x="0" y="1558"/>
                  </a:lnTo>
                  <a:lnTo>
                    <a:pt x="967" y="921"/>
                  </a:lnTo>
                  <a:lnTo>
                    <a:pt x="1612" y="991"/>
                  </a:lnTo>
                  <a:lnTo>
                    <a:pt x="2257" y="921"/>
                  </a:lnTo>
                  <a:lnTo>
                    <a:pt x="2364" y="708"/>
                  </a:lnTo>
                  <a:lnTo>
                    <a:pt x="2901" y="779"/>
                  </a:lnTo>
                  <a:lnTo>
                    <a:pt x="3331" y="496"/>
                  </a:lnTo>
                  <a:lnTo>
                    <a:pt x="3976" y="637"/>
                  </a:lnTo>
                  <a:lnTo>
                    <a:pt x="4406" y="425"/>
                  </a:lnTo>
                  <a:lnTo>
                    <a:pt x="4943" y="354"/>
                  </a:lnTo>
                  <a:lnTo>
                    <a:pt x="5588" y="212"/>
                  </a:lnTo>
                  <a:lnTo>
                    <a:pt x="6125" y="283"/>
                  </a:lnTo>
                  <a:lnTo>
                    <a:pt x="6663" y="212"/>
                  </a:lnTo>
                  <a:lnTo>
                    <a:pt x="7093" y="0"/>
                  </a:lnTo>
                  <a:lnTo>
                    <a:pt x="7952" y="0"/>
                  </a:lnTo>
                  <a:lnTo>
                    <a:pt x="8597" y="71"/>
                  </a:lnTo>
                  <a:lnTo>
                    <a:pt x="8919" y="71"/>
                  </a:lnTo>
                  <a:lnTo>
                    <a:pt x="9242" y="212"/>
                  </a:lnTo>
                  <a:lnTo>
                    <a:pt x="9887" y="283"/>
                  </a:lnTo>
                  <a:lnTo>
                    <a:pt x="10531" y="496"/>
                  </a:lnTo>
                  <a:lnTo>
                    <a:pt x="11069" y="496"/>
                  </a:lnTo>
                  <a:lnTo>
                    <a:pt x="11928" y="708"/>
                  </a:lnTo>
                  <a:lnTo>
                    <a:pt x="12358" y="850"/>
                  </a:lnTo>
                  <a:lnTo>
                    <a:pt x="13003" y="779"/>
                  </a:lnTo>
                  <a:lnTo>
                    <a:pt x="13433" y="1133"/>
                  </a:lnTo>
                  <a:lnTo>
                    <a:pt x="14078" y="1204"/>
                  </a:lnTo>
                  <a:lnTo>
                    <a:pt x="14507" y="1346"/>
                  </a:lnTo>
                  <a:lnTo>
                    <a:pt x="15045" y="1487"/>
                  </a:lnTo>
                  <a:lnTo>
                    <a:pt x="15260" y="1700"/>
                  </a:lnTo>
                  <a:lnTo>
                    <a:pt x="15690" y="1912"/>
                  </a:lnTo>
                  <a:lnTo>
                    <a:pt x="16227" y="2195"/>
                  </a:lnTo>
                  <a:lnTo>
                    <a:pt x="16442" y="2479"/>
                  </a:lnTo>
                  <a:lnTo>
                    <a:pt x="16764" y="2550"/>
                  </a:lnTo>
                  <a:lnTo>
                    <a:pt x="17194" y="2904"/>
                  </a:lnTo>
                  <a:lnTo>
                    <a:pt x="17516" y="3116"/>
                  </a:lnTo>
                  <a:lnTo>
                    <a:pt x="18054" y="3258"/>
                  </a:lnTo>
                  <a:lnTo>
                    <a:pt x="18484" y="3541"/>
                  </a:lnTo>
                  <a:lnTo>
                    <a:pt x="18913" y="3753"/>
                  </a:lnTo>
                  <a:lnTo>
                    <a:pt x="19881" y="4391"/>
                  </a:lnTo>
                  <a:lnTo>
                    <a:pt x="19988" y="4745"/>
                  </a:lnTo>
                  <a:lnTo>
                    <a:pt x="20310" y="5170"/>
                  </a:lnTo>
                  <a:lnTo>
                    <a:pt x="21063" y="5666"/>
                  </a:lnTo>
                  <a:lnTo>
                    <a:pt x="21278" y="5949"/>
                  </a:lnTo>
                  <a:lnTo>
                    <a:pt x="21493" y="6374"/>
                  </a:lnTo>
                  <a:lnTo>
                    <a:pt x="21600" y="7011"/>
                  </a:lnTo>
                  <a:lnTo>
                    <a:pt x="1719" y="2160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49" name="Google Shape;2449;p107"/>
            <p:cNvGrpSpPr/>
            <p:nvPr/>
          </p:nvGrpSpPr>
          <p:grpSpPr>
            <a:xfrm>
              <a:off x="192213" y="485063"/>
              <a:ext cx="632645" cy="629264"/>
              <a:chOff x="-1" y="-1"/>
              <a:chExt cx="632644" cy="629263"/>
            </a:xfrm>
          </p:grpSpPr>
          <p:sp>
            <p:nvSpPr>
              <p:cNvPr id="2450" name="Google Shape;2450;p107"/>
              <p:cNvSpPr/>
              <p:nvPr/>
            </p:nvSpPr>
            <p:spPr>
              <a:xfrm rot="8373105">
                <a:off x="85009" y="98380"/>
                <a:ext cx="462624" cy="432502"/>
              </a:xfrm>
              <a:custGeom>
                <a:rect b="b" l="l" r="r" t="t"/>
                <a:pathLst>
                  <a:path extrusionOk="0" h="21599" w="21600">
                    <a:moveTo>
                      <a:pt x="0" y="0"/>
                    </a:moveTo>
                    <a:cubicBezTo>
                      <a:pt x="48" y="0"/>
                      <a:pt x="95" y="-1"/>
                      <a:pt x="144" y="0"/>
                    </a:cubicBezTo>
                    <a:cubicBezTo>
                      <a:pt x="11993" y="0"/>
                      <a:pt x="21600" y="9670"/>
                      <a:pt x="21600" y="21599"/>
                    </a:cubicBezTo>
                    <a:lnTo>
                      <a:pt x="144" y="215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107"/>
              <p:cNvSpPr/>
              <p:nvPr/>
            </p:nvSpPr>
            <p:spPr>
              <a:xfrm rot="8373105">
                <a:off x="85009" y="98380"/>
                <a:ext cx="462624" cy="432502"/>
              </a:xfrm>
              <a:custGeom>
                <a:rect b="b" l="l" r="r" t="t"/>
                <a:pathLst>
                  <a:path extrusionOk="0" h="21599" w="21600">
                    <a:moveTo>
                      <a:pt x="0" y="0"/>
                    </a:moveTo>
                    <a:cubicBezTo>
                      <a:pt x="48" y="0"/>
                      <a:pt x="95" y="-1"/>
                      <a:pt x="144" y="0"/>
                    </a:cubicBezTo>
                    <a:cubicBezTo>
                      <a:pt x="11993" y="0"/>
                      <a:pt x="21600" y="9670"/>
                      <a:pt x="21600" y="21599"/>
                    </a:cubicBezTo>
                  </a:path>
                </a:pathLst>
              </a:custGeom>
              <a:noFill/>
              <a:ln cap="rnd" cmpd="sng" w="508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52" name="Google Shape;2452;p107"/>
            <p:cNvCxnSpPr/>
            <p:nvPr/>
          </p:nvCxnSpPr>
          <p:spPr>
            <a:xfrm rot="10800000">
              <a:off x="548691" y="15764"/>
              <a:ext cx="421097" cy="1105996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53" name="Google Shape;2453;p107"/>
            <p:cNvSpPr/>
            <p:nvPr/>
          </p:nvSpPr>
          <p:spPr>
            <a:xfrm rot="5793105">
              <a:off x="401024" y="655265"/>
              <a:ext cx="206089" cy="389025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54" name="Google Shape;2454;p107"/>
            <p:cNvCxnSpPr/>
            <p:nvPr/>
          </p:nvCxnSpPr>
          <p:spPr>
            <a:xfrm flipH="1">
              <a:off x="7363" y="15763"/>
              <a:ext cx="541329" cy="108293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55" name="Google Shape;2455;p107"/>
          <p:cNvCxnSpPr/>
          <p:nvPr/>
        </p:nvCxnSpPr>
        <p:spPr>
          <a:xfrm rot="10800000">
            <a:off x="19507200" y="9144000"/>
            <a:ext cx="0" cy="1066800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6" name="Google Shape;2456;p107"/>
          <p:cNvCxnSpPr/>
          <p:nvPr/>
        </p:nvCxnSpPr>
        <p:spPr>
          <a:xfrm>
            <a:off x="17983200" y="10210800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7" name="Google Shape;2457;p107"/>
          <p:cNvSpPr txBox="1"/>
          <p:nvPr>
            <p:ph type="title"/>
          </p:nvPr>
        </p:nvSpPr>
        <p:spPr>
          <a:xfrm>
            <a:off x="3962400" y="-212744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Plane-to-plane homography</a:t>
            </a:r>
            <a:endParaRPr/>
          </a:p>
        </p:txBody>
      </p:sp>
      <p:sp>
        <p:nvSpPr>
          <p:cNvPr id="2458" name="Google Shape;2458;p107"/>
          <p:cNvSpPr txBox="1"/>
          <p:nvPr>
            <p:ph idx="1" type="body"/>
          </p:nvPr>
        </p:nvSpPr>
        <p:spPr>
          <a:xfrm>
            <a:off x="5029200" y="1828800"/>
            <a:ext cx="155448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sz="6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46.png" id="2459" name="Google Shape;2459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828800"/>
            <a:ext cx="6165850" cy="624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47.png" id="2460" name="Google Shape;2460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11200" y="1828800"/>
            <a:ext cx="6165850" cy="624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1" name="Google Shape;2461;p107"/>
          <p:cNvGrpSpPr/>
          <p:nvPr/>
        </p:nvGrpSpPr>
        <p:grpSpPr>
          <a:xfrm>
            <a:off x="6153162" y="8574246"/>
            <a:ext cx="1204062" cy="1001735"/>
            <a:chOff x="-1" y="-1"/>
            <a:chExt cx="1204061" cy="1001733"/>
          </a:xfrm>
        </p:grpSpPr>
        <p:sp>
          <p:nvSpPr>
            <p:cNvPr id="2462" name="Google Shape;2462;p107"/>
            <p:cNvSpPr/>
            <p:nvPr/>
          </p:nvSpPr>
          <p:spPr>
            <a:xfrm rot="4164331">
              <a:off x="268924" y="81065"/>
              <a:ext cx="568672" cy="968376"/>
            </a:xfrm>
            <a:custGeom>
              <a:rect b="b" l="l" r="r" t="t"/>
              <a:pathLst>
                <a:path extrusionOk="0" h="21600" w="21600">
                  <a:moveTo>
                    <a:pt x="1719" y="21600"/>
                  </a:moveTo>
                  <a:lnTo>
                    <a:pt x="0" y="1558"/>
                  </a:lnTo>
                  <a:lnTo>
                    <a:pt x="967" y="921"/>
                  </a:lnTo>
                  <a:lnTo>
                    <a:pt x="1612" y="991"/>
                  </a:lnTo>
                  <a:lnTo>
                    <a:pt x="2257" y="921"/>
                  </a:lnTo>
                  <a:lnTo>
                    <a:pt x="2364" y="708"/>
                  </a:lnTo>
                  <a:lnTo>
                    <a:pt x="2901" y="779"/>
                  </a:lnTo>
                  <a:lnTo>
                    <a:pt x="3331" y="496"/>
                  </a:lnTo>
                  <a:lnTo>
                    <a:pt x="3976" y="637"/>
                  </a:lnTo>
                  <a:lnTo>
                    <a:pt x="4406" y="425"/>
                  </a:lnTo>
                  <a:lnTo>
                    <a:pt x="4943" y="354"/>
                  </a:lnTo>
                  <a:lnTo>
                    <a:pt x="5588" y="212"/>
                  </a:lnTo>
                  <a:lnTo>
                    <a:pt x="6125" y="283"/>
                  </a:lnTo>
                  <a:lnTo>
                    <a:pt x="6663" y="212"/>
                  </a:lnTo>
                  <a:lnTo>
                    <a:pt x="7093" y="0"/>
                  </a:lnTo>
                  <a:lnTo>
                    <a:pt x="7952" y="0"/>
                  </a:lnTo>
                  <a:lnTo>
                    <a:pt x="8597" y="71"/>
                  </a:lnTo>
                  <a:lnTo>
                    <a:pt x="8919" y="71"/>
                  </a:lnTo>
                  <a:lnTo>
                    <a:pt x="9242" y="212"/>
                  </a:lnTo>
                  <a:lnTo>
                    <a:pt x="9887" y="283"/>
                  </a:lnTo>
                  <a:lnTo>
                    <a:pt x="10531" y="496"/>
                  </a:lnTo>
                  <a:lnTo>
                    <a:pt x="11069" y="496"/>
                  </a:lnTo>
                  <a:lnTo>
                    <a:pt x="11928" y="708"/>
                  </a:lnTo>
                  <a:lnTo>
                    <a:pt x="12358" y="850"/>
                  </a:lnTo>
                  <a:lnTo>
                    <a:pt x="13003" y="779"/>
                  </a:lnTo>
                  <a:lnTo>
                    <a:pt x="13433" y="1133"/>
                  </a:lnTo>
                  <a:lnTo>
                    <a:pt x="14078" y="1204"/>
                  </a:lnTo>
                  <a:lnTo>
                    <a:pt x="14507" y="1346"/>
                  </a:lnTo>
                  <a:lnTo>
                    <a:pt x="15045" y="1487"/>
                  </a:lnTo>
                  <a:lnTo>
                    <a:pt x="15260" y="1700"/>
                  </a:lnTo>
                  <a:lnTo>
                    <a:pt x="15690" y="1912"/>
                  </a:lnTo>
                  <a:lnTo>
                    <a:pt x="16227" y="2195"/>
                  </a:lnTo>
                  <a:lnTo>
                    <a:pt x="16442" y="2479"/>
                  </a:lnTo>
                  <a:lnTo>
                    <a:pt x="16764" y="2550"/>
                  </a:lnTo>
                  <a:lnTo>
                    <a:pt x="17194" y="2904"/>
                  </a:lnTo>
                  <a:lnTo>
                    <a:pt x="17516" y="3116"/>
                  </a:lnTo>
                  <a:lnTo>
                    <a:pt x="18054" y="3258"/>
                  </a:lnTo>
                  <a:lnTo>
                    <a:pt x="18484" y="3541"/>
                  </a:lnTo>
                  <a:lnTo>
                    <a:pt x="18913" y="3753"/>
                  </a:lnTo>
                  <a:lnTo>
                    <a:pt x="19881" y="4391"/>
                  </a:lnTo>
                  <a:lnTo>
                    <a:pt x="19988" y="4745"/>
                  </a:lnTo>
                  <a:lnTo>
                    <a:pt x="20310" y="5170"/>
                  </a:lnTo>
                  <a:lnTo>
                    <a:pt x="21063" y="5666"/>
                  </a:lnTo>
                  <a:lnTo>
                    <a:pt x="21278" y="5949"/>
                  </a:lnTo>
                  <a:lnTo>
                    <a:pt x="21493" y="6374"/>
                  </a:lnTo>
                  <a:lnTo>
                    <a:pt x="21600" y="7011"/>
                  </a:lnTo>
                  <a:lnTo>
                    <a:pt x="1719" y="2160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3" name="Google Shape;2463;p107"/>
            <p:cNvGrpSpPr/>
            <p:nvPr/>
          </p:nvGrpSpPr>
          <p:grpSpPr>
            <a:xfrm>
              <a:off x="541485" y="147819"/>
              <a:ext cx="631619" cy="629747"/>
              <a:chOff x="0" y="-1"/>
              <a:chExt cx="631618" cy="629745"/>
            </a:xfrm>
          </p:grpSpPr>
          <p:sp>
            <p:nvSpPr>
              <p:cNvPr id="2464" name="Google Shape;2464;p107"/>
              <p:cNvSpPr/>
              <p:nvPr/>
            </p:nvSpPr>
            <p:spPr>
              <a:xfrm rot="2784331">
                <a:off x="106258" y="78329"/>
                <a:ext cx="419101" cy="473086"/>
              </a:xfrm>
              <a:custGeom>
                <a:rect b="b" l="l" r="r" t="t"/>
                <a:pathLst>
                  <a:path extrusionOk="0" h="21599" w="21600">
                    <a:moveTo>
                      <a:pt x="0" y="0"/>
                    </a:moveTo>
                    <a:cubicBezTo>
                      <a:pt x="48" y="0"/>
                      <a:pt x="95" y="-1"/>
                      <a:pt x="144" y="0"/>
                    </a:cubicBezTo>
                    <a:cubicBezTo>
                      <a:pt x="11993" y="0"/>
                      <a:pt x="21600" y="9670"/>
                      <a:pt x="21600" y="21599"/>
                    </a:cubicBezTo>
                    <a:lnTo>
                      <a:pt x="144" y="215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107"/>
              <p:cNvSpPr/>
              <p:nvPr/>
            </p:nvSpPr>
            <p:spPr>
              <a:xfrm rot="2784331">
                <a:off x="106258" y="78329"/>
                <a:ext cx="419101" cy="473086"/>
              </a:xfrm>
              <a:custGeom>
                <a:rect b="b" l="l" r="r" t="t"/>
                <a:pathLst>
                  <a:path extrusionOk="0" h="21599" w="21600">
                    <a:moveTo>
                      <a:pt x="0" y="0"/>
                    </a:moveTo>
                    <a:cubicBezTo>
                      <a:pt x="48" y="0"/>
                      <a:pt x="95" y="-1"/>
                      <a:pt x="144" y="0"/>
                    </a:cubicBezTo>
                    <a:cubicBezTo>
                      <a:pt x="11993" y="0"/>
                      <a:pt x="21600" y="9670"/>
                      <a:pt x="21600" y="21599"/>
                    </a:cubicBezTo>
                  </a:path>
                </a:pathLst>
              </a:custGeom>
              <a:noFill/>
              <a:ln cap="rnd" cmpd="sng" w="508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Calibri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66" name="Google Shape;2466;p107"/>
            <p:cNvCxnSpPr/>
            <p:nvPr/>
          </p:nvCxnSpPr>
          <p:spPr>
            <a:xfrm flipH="1">
              <a:off x="16753" y="-1"/>
              <a:ext cx="1187307" cy="513985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67" name="Google Shape;2467;p107"/>
            <p:cNvSpPr/>
            <p:nvPr/>
          </p:nvSpPr>
          <p:spPr>
            <a:xfrm rot="204331">
              <a:off x="798273" y="284960"/>
              <a:ext cx="225425" cy="352426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8" name="Google Shape;2468;p107"/>
            <p:cNvCxnSpPr/>
            <p:nvPr/>
          </p:nvCxnSpPr>
          <p:spPr>
            <a:xfrm>
              <a:off x="16752" y="513983"/>
              <a:ext cx="1159664" cy="378262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69" name="Google Shape;2469;p107"/>
          <p:cNvCxnSpPr/>
          <p:nvPr/>
        </p:nvCxnSpPr>
        <p:spPr>
          <a:xfrm>
            <a:off x="8686800" y="8229600"/>
            <a:ext cx="0" cy="152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0" name="Google Shape;2470;p107"/>
          <p:cNvCxnSpPr/>
          <p:nvPr/>
        </p:nvCxnSpPr>
        <p:spPr>
          <a:xfrm>
            <a:off x="8686799" y="8229599"/>
            <a:ext cx="914401" cy="76200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1" name="Google Shape;2471;p107"/>
          <p:cNvCxnSpPr/>
          <p:nvPr/>
        </p:nvCxnSpPr>
        <p:spPr>
          <a:xfrm>
            <a:off x="8686799" y="9753599"/>
            <a:ext cx="914401" cy="76200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2" name="Google Shape;2472;p107"/>
          <p:cNvCxnSpPr/>
          <p:nvPr/>
        </p:nvCxnSpPr>
        <p:spPr>
          <a:xfrm>
            <a:off x="9601200" y="8991600"/>
            <a:ext cx="0" cy="152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73" name="Google Shape;2473;p107"/>
          <p:cNvGrpSpPr/>
          <p:nvPr/>
        </p:nvGrpSpPr>
        <p:grpSpPr>
          <a:xfrm>
            <a:off x="14630398" y="9753599"/>
            <a:ext cx="2287274" cy="915672"/>
            <a:chOff x="-1" y="-1"/>
            <a:chExt cx="2287271" cy="915671"/>
          </a:xfrm>
        </p:grpSpPr>
        <p:cxnSp>
          <p:nvCxnSpPr>
            <p:cNvPr id="2474" name="Google Shape;2474;p107"/>
            <p:cNvCxnSpPr/>
            <p:nvPr/>
          </p:nvCxnSpPr>
          <p:spPr>
            <a:xfrm>
              <a:off x="1270" y="915669"/>
              <a:ext cx="1524001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5" name="Google Shape;2475;p107"/>
            <p:cNvCxnSpPr/>
            <p:nvPr/>
          </p:nvCxnSpPr>
          <p:spPr>
            <a:xfrm flipH="1" rot="10800000">
              <a:off x="-1" y="-1"/>
              <a:ext cx="762002" cy="914402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6" name="Google Shape;2476;p107"/>
            <p:cNvCxnSpPr/>
            <p:nvPr/>
          </p:nvCxnSpPr>
          <p:spPr>
            <a:xfrm flipH="1" rot="10800000">
              <a:off x="1524000" y="-1"/>
              <a:ext cx="762001" cy="914402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7" name="Google Shape;2477;p107"/>
            <p:cNvCxnSpPr/>
            <p:nvPr/>
          </p:nvCxnSpPr>
          <p:spPr>
            <a:xfrm>
              <a:off x="763269" y="1270"/>
              <a:ext cx="1524001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78" name="Google Shape;2478;p107"/>
          <p:cNvSpPr txBox="1"/>
          <p:nvPr/>
        </p:nvSpPr>
        <p:spPr>
          <a:xfrm>
            <a:off x="5638800" y="10668000"/>
            <a:ext cx="4657448" cy="7377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plane in front</a:t>
            </a:r>
            <a:endParaRPr/>
          </a:p>
        </p:txBody>
      </p:sp>
      <p:sp>
        <p:nvSpPr>
          <p:cNvPr id="2479" name="Google Shape;2479;p107"/>
          <p:cNvSpPr txBox="1"/>
          <p:nvPr/>
        </p:nvSpPr>
        <p:spPr>
          <a:xfrm>
            <a:off x="14325600" y="10668000"/>
            <a:ext cx="4431725" cy="7377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plane below</a:t>
            </a:r>
            <a:endParaRPr/>
          </a:p>
        </p:txBody>
      </p:sp>
      <p:cxnSp>
        <p:nvCxnSpPr>
          <p:cNvPr id="2480" name="Google Shape;2480;p107"/>
          <p:cNvCxnSpPr/>
          <p:nvPr/>
        </p:nvCxnSpPr>
        <p:spPr>
          <a:xfrm>
            <a:off x="11582400" y="4876800"/>
            <a:ext cx="13716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481" name="Google Shape;2481;p107"/>
          <p:cNvGrpSpPr/>
          <p:nvPr/>
        </p:nvGrpSpPr>
        <p:grpSpPr>
          <a:xfrm>
            <a:off x="10833099" y="8077199"/>
            <a:ext cx="3035303" cy="4878113"/>
            <a:chOff x="0" y="-1"/>
            <a:chExt cx="3035301" cy="4878111"/>
          </a:xfrm>
        </p:grpSpPr>
        <p:sp>
          <p:nvSpPr>
            <p:cNvPr id="2482" name="Google Shape;2482;p107"/>
            <p:cNvSpPr txBox="1"/>
            <p:nvPr/>
          </p:nvSpPr>
          <p:spPr>
            <a:xfrm>
              <a:off x="0" y="3298825"/>
              <a:ext cx="2816146" cy="15792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black area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where no pixel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maps to</a:t>
              </a:r>
              <a:endParaRPr/>
            </a:p>
          </p:txBody>
        </p:sp>
        <p:cxnSp>
          <p:nvCxnSpPr>
            <p:cNvPr id="2483" name="Google Shape;2483;p107"/>
            <p:cNvCxnSpPr/>
            <p:nvPr/>
          </p:nvCxnSpPr>
          <p:spPr>
            <a:xfrm flipH="1" rot="10800000">
              <a:off x="2120900" y="-1"/>
              <a:ext cx="914401" cy="335280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2484" name="Google Shape;2484;p107"/>
          <p:cNvCxnSpPr/>
          <p:nvPr/>
        </p:nvCxnSpPr>
        <p:spPr>
          <a:xfrm rot="10800000">
            <a:off x="11734800" y="9144000"/>
            <a:ext cx="0" cy="1066800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5" name="Google Shape;2485;p107"/>
          <p:cNvCxnSpPr/>
          <p:nvPr/>
        </p:nvCxnSpPr>
        <p:spPr>
          <a:xfrm>
            <a:off x="10210800" y="10210800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6" name="Google Shape;2486;p107"/>
          <p:cNvCxnSpPr/>
          <p:nvPr/>
        </p:nvCxnSpPr>
        <p:spPr>
          <a:xfrm flipH="1" rot="10800000">
            <a:off x="5007427" y="4572000"/>
            <a:ext cx="1617489" cy="3437232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87" name="Google Shape;2487;p107"/>
          <p:cNvCxnSpPr/>
          <p:nvPr/>
        </p:nvCxnSpPr>
        <p:spPr>
          <a:xfrm rot="10800000">
            <a:off x="6589486" y="4571998"/>
            <a:ext cx="2554516" cy="335280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descr="image50.png" id="2488" name="Google Shape;2488;p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34800" y="4069079"/>
            <a:ext cx="914400" cy="6553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9" name="Google Shape;2489;p107"/>
          <p:cNvCxnSpPr/>
          <p:nvPr/>
        </p:nvCxnSpPr>
        <p:spPr>
          <a:xfrm flipH="1" rot="10800000">
            <a:off x="14629130" y="1677670"/>
            <a:ext cx="1" cy="640080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90" name="Google Shape;2490;p107"/>
          <p:cNvCxnSpPr/>
          <p:nvPr/>
        </p:nvCxnSpPr>
        <p:spPr>
          <a:xfrm flipH="1" rot="10800000">
            <a:off x="18177873" y="1677670"/>
            <a:ext cx="1" cy="6400801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91" name="Google Shape;2491;p107"/>
          <p:cNvSpPr/>
          <p:nvPr/>
        </p:nvSpPr>
        <p:spPr>
          <a:xfrm>
            <a:off x="6514884" y="4555452"/>
            <a:ext cx="256033" cy="256033"/>
          </a:xfrm>
          <a:prstGeom prst="ellipse">
            <a:avLst/>
          </a:prstGeom>
          <a:solidFill>
            <a:srgbClr val="FF00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2" name="Google Shape;2492;p107"/>
          <p:cNvGrpSpPr/>
          <p:nvPr/>
        </p:nvGrpSpPr>
        <p:grpSpPr>
          <a:xfrm>
            <a:off x="11430000" y="7467600"/>
            <a:ext cx="8534401" cy="5791201"/>
            <a:chOff x="0" y="0"/>
            <a:chExt cx="8534400" cy="5791200"/>
          </a:xfrm>
        </p:grpSpPr>
        <p:pic>
          <p:nvPicPr>
            <p:cNvPr descr="image48.png" id="2493" name="Google Shape;2493;p107"/>
            <p:cNvPicPr preferRelativeResize="0"/>
            <p:nvPr/>
          </p:nvPicPr>
          <p:blipFill rotWithShape="1">
            <a:blip r:embed="rId7">
              <a:alphaModFix/>
            </a:blip>
            <a:srcRect b="0" l="5194" r="0" t="2563"/>
            <a:stretch/>
          </p:blipFill>
          <p:spPr>
            <a:xfrm>
              <a:off x="2971800" y="0"/>
              <a:ext cx="5562600" cy="5791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94" name="Google Shape;2494;p107"/>
            <p:cNvCxnSpPr/>
            <p:nvPr/>
          </p:nvCxnSpPr>
          <p:spPr>
            <a:xfrm>
              <a:off x="0" y="0"/>
              <a:ext cx="1524000" cy="15240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95" name="Google Shape;2495;p107"/>
            <p:cNvCxnSpPr/>
            <p:nvPr/>
          </p:nvCxnSpPr>
          <p:spPr>
            <a:xfrm>
              <a:off x="1981200" y="4267199"/>
              <a:ext cx="5791201" cy="121920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496" name="Google Shape;2496;p107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108"/>
          <p:cNvSpPr txBox="1"/>
          <p:nvPr>
            <p:ph type="title"/>
          </p:nvPr>
        </p:nvSpPr>
        <p:spPr>
          <a:xfrm>
            <a:off x="3495676" y="152400"/>
            <a:ext cx="174466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Homographies</a:t>
            </a:r>
            <a:endParaRPr/>
          </a:p>
        </p:txBody>
      </p:sp>
      <p:sp>
        <p:nvSpPr>
          <p:cNvPr id="2502" name="Google Shape;2502;p108"/>
          <p:cNvSpPr txBox="1"/>
          <p:nvPr>
            <p:ph idx="1" type="body"/>
          </p:nvPr>
        </p:nvSpPr>
        <p:spPr>
          <a:xfrm>
            <a:off x="3657600" y="3225800"/>
            <a:ext cx="17132300" cy="9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lang="en-US" sz="5600">
                <a:latin typeface="Helvetica Neue"/>
                <a:ea typeface="Helvetica Neue"/>
                <a:cs typeface="Helvetica Neue"/>
                <a:sym typeface="Helvetica Neue"/>
              </a:rPr>
              <a:t>Homographies …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Affine transformations, and</a:t>
            </a:r>
            <a:endParaRPr sz="5600"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Projective warps</a:t>
            </a:r>
            <a:endParaRPr sz="5600"/>
          </a:p>
          <a:p>
            <a:pPr indent="-3302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r>
              <a:t/>
            </a:r>
            <a:endParaRPr sz="5600"/>
          </a:p>
          <a:p>
            <a:pPr indent="-685800" lvl="0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lang="en-US" sz="5600">
                <a:latin typeface="Helvetica Neue"/>
                <a:ea typeface="Helvetica Neue"/>
                <a:cs typeface="Helvetica Neue"/>
                <a:sym typeface="Helvetica Neue"/>
              </a:rPr>
              <a:t>Properties of projective transformations: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Origin does not necessarily map to origin</a:t>
            </a:r>
            <a:endParaRPr sz="5600"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Lines map to lines</a:t>
            </a:r>
            <a:endParaRPr sz="5600"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Parallel lines do not necessarily remain parallel</a:t>
            </a:r>
            <a:endParaRPr sz="5600"/>
          </a:p>
          <a:p>
            <a:pPr indent="-571500" lvl="1" marL="10287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Char char="–"/>
            </a:pPr>
            <a:r>
              <a:rPr lang="en-US" sz="4800">
                <a:latin typeface="Helvetica Neue"/>
                <a:ea typeface="Helvetica Neue"/>
                <a:cs typeface="Helvetica Neue"/>
                <a:sym typeface="Helvetica Neue"/>
              </a:rPr>
              <a:t>Closed under composition</a:t>
            </a:r>
            <a:endParaRPr/>
          </a:p>
        </p:txBody>
      </p:sp>
      <p:pic>
        <p:nvPicPr>
          <p:cNvPr descr="image51.png" id="2503" name="Google Shape;250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1100" y="3289663"/>
            <a:ext cx="8420100" cy="2349137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108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109"/>
          <p:cNvSpPr txBox="1"/>
          <p:nvPr>
            <p:ph type="title"/>
          </p:nvPr>
        </p:nvSpPr>
        <p:spPr>
          <a:xfrm>
            <a:off x="3962400" y="168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2D image transformations</a:t>
            </a:r>
            <a:endParaRPr/>
          </a:p>
        </p:txBody>
      </p:sp>
      <p:pic>
        <p:nvPicPr>
          <p:cNvPr descr="image1.png" id="2510" name="Google Shape;2510;p109"/>
          <p:cNvPicPr preferRelativeResize="0"/>
          <p:nvPr/>
        </p:nvPicPr>
        <p:blipFill rotWithShape="1">
          <a:blip r:embed="rId3">
            <a:alphaModFix/>
          </a:blip>
          <a:srcRect b="21047" l="23714" r="14571" t="51854"/>
          <a:stretch/>
        </p:blipFill>
        <p:spPr>
          <a:xfrm>
            <a:off x="5678090" y="2615901"/>
            <a:ext cx="13027956" cy="429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2.png" id="2511" name="Google Shape;2511;p109"/>
          <p:cNvPicPr preferRelativeResize="0"/>
          <p:nvPr/>
        </p:nvPicPr>
        <p:blipFill rotWithShape="1">
          <a:blip r:embed="rId4">
            <a:alphaModFix/>
          </a:blip>
          <a:srcRect b="14951" l="6571" r="4285" t="30191"/>
          <a:stretch/>
        </p:blipFill>
        <p:spPr>
          <a:xfrm>
            <a:off x="4888706" y="7006771"/>
            <a:ext cx="14606726" cy="6741567"/>
          </a:xfrm>
          <a:prstGeom prst="rect">
            <a:avLst/>
          </a:prstGeom>
          <a:noFill/>
          <a:ln>
            <a:noFill/>
          </a:ln>
        </p:spPr>
      </p:pic>
      <p:sp>
        <p:nvSpPr>
          <p:cNvPr id="2512" name="Google Shape;2512;p109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110"/>
          <p:cNvSpPr txBox="1"/>
          <p:nvPr>
            <p:ph type="title"/>
          </p:nvPr>
        </p:nvSpPr>
        <p:spPr>
          <a:xfrm>
            <a:off x="3962400" y="5715000"/>
            <a:ext cx="1645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How do we perform this warp?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111"/>
          <p:cNvSpPr txBox="1"/>
          <p:nvPr>
            <p:ph type="title"/>
          </p:nvPr>
        </p:nvSpPr>
        <p:spPr>
          <a:xfrm>
            <a:off x="3479800" y="1219200"/>
            <a:ext cx="17627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60"/>
              <a:buFont typeface="Arial"/>
              <a:buNone/>
            </a:pPr>
            <a:r>
              <a:rPr lang="en-US" sz="8360"/>
              <a:t>RANSAC for estimating homography</a:t>
            </a:r>
            <a:endParaRPr/>
          </a:p>
        </p:txBody>
      </p:sp>
      <p:sp>
        <p:nvSpPr>
          <p:cNvPr id="2523" name="Google Shape;2523;p111"/>
          <p:cNvSpPr txBox="1"/>
          <p:nvPr>
            <p:ph idx="1" type="body"/>
          </p:nvPr>
        </p:nvSpPr>
        <p:spPr>
          <a:xfrm>
            <a:off x="4419600" y="3505200"/>
            <a:ext cx="16306800" cy="10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RANSAC loop: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Select four feature pairs (at random)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Compute homography H (exact)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Compute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inliers</a:t>
            </a:r>
            <a:r>
              <a:rPr lang="en-US" sz="6400">
                <a:latin typeface="Arial"/>
                <a:ea typeface="Arial"/>
                <a:cs typeface="Arial"/>
                <a:sym typeface="Arial"/>
              </a:rPr>
              <a:t> where ||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1" lang="en-US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64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US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r>
              <a:rPr baseline="-25000" i="1" lang="en-US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6400">
                <a:latin typeface="Arial"/>
                <a:ea typeface="Arial"/>
                <a:cs typeface="Arial"/>
                <a:sym typeface="Arial"/>
              </a:rPr>
              <a:t>||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 &lt; ε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Keep largest set of inliers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Re-compute least-squares H estimate using all of the inliers</a:t>
            </a:r>
            <a:endParaRPr/>
          </a:p>
        </p:txBody>
      </p:sp>
      <p:sp>
        <p:nvSpPr>
          <p:cNvPr id="2524" name="Google Shape;2524;p111"/>
          <p:cNvSpPr/>
          <p:nvPr/>
        </p:nvSpPr>
        <p:spPr>
          <a:xfrm>
            <a:off x="2765427" y="4940300"/>
            <a:ext cx="1073149" cy="2679701"/>
          </a:xfrm>
          <a:custGeom>
            <a:rect b="b" l="l" r="r" t="t"/>
            <a:pathLst>
              <a:path extrusionOk="0" h="21600" w="21123">
                <a:moveTo>
                  <a:pt x="15022" y="21600"/>
                </a:moveTo>
                <a:cubicBezTo>
                  <a:pt x="7272" y="16479"/>
                  <a:pt x="-477" y="11358"/>
                  <a:pt x="23" y="7944"/>
                </a:cubicBezTo>
                <a:cubicBezTo>
                  <a:pt x="523" y="4530"/>
                  <a:pt x="15022" y="2254"/>
                  <a:pt x="18021" y="1116"/>
                </a:cubicBezTo>
                <a:lnTo>
                  <a:pt x="21123" y="0"/>
                </a:lnTo>
              </a:path>
            </a:pathLst>
          </a:custGeom>
          <a:noFill/>
          <a:ln cap="flat" cmpd="sng" w="50800">
            <a:solidFill>
              <a:srgbClr val="00CC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112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30" name="Google Shape;2530;p112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531" name="Google Shape;2531;p11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Rather than homography H (8 numbers) </a:t>
            </a:r>
            <a:br>
              <a:rPr lang="en-US" sz="6400">
                <a:latin typeface="Arial"/>
                <a:ea typeface="Arial"/>
                <a:cs typeface="Arial"/>
                <a:sym typeface="Arial"/>
              </a:rPr>
            </a:br>
            <a:r>
              <a:rPr lang="en-US" sz="6400">
                <a:latin typeface="Arial"/>
                <a:ea typeface="Arial"/>
                <a:cs typeface="Arial"/>
                <a:sym typeface="Arial"/>
              </a:rPr>
              <a:t>fit y=ax+b (2 numbers a, b) to 2D pairs</a:t>
            </a:r>
            <a:endParaRPr/>
          </a:p>
        </p:txBody>
      </p:sp>
      <p:sp>
        <p:nvSpPr>
          <p:cNvPr id="2532" name="Google Shape;2532;p112"/>
          <p:cNvSpPr txBox="1"/>
          <p:nvPr/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endParaRPr/>
          </a:p>
        </p:txBody>
      </p:sp>
      <p:cxnSp>
        <p:nvCxnSpPr>
          <p:cNvPr id="2533" name="Google Shape;2533;p112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534" name="Google Shape;2534;p112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535" name="Google Shape;2535;p112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6" name="Google Shape;2536;p112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7" name="Google Shape;2537;p112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8" name="Google Shape;2538;p112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9" name="Google Shape;2539;p112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0" name="Google Shape;2540;p112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1" name="Google Shape;2541;p112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2" name="Google Shape;2542;p112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3" name="Google Shape;2543;p112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4" name="Google Shape;2544;p112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5" name="Google Shape;2545;p112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p113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51" name="Google Shape;2551;p113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552" name="Google Shape;2552;p113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Pick 2 points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Fit line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Count inliers</a:t>
            </a:r>
            <a:endParaRPr/>
          </a:p>
        </p:txBody>
      </p:sp>
      <p:sp>
        <p:nvSpPr>
          <p:cNvPr id="2553" name="Google Shape;2553;p113"/>
          <p:cNvSpPr txBox="1"/>
          <p:nvPr/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77</a:t>
            </a:r>
            <a:endParaRPr/>
          </a:p>
        </p:txBody>
      </p:sp>
      <p:cxnSp>
        <p:nvCxnSpPr>
          <p:cNvPr id="2554" name="Google Shape;2554;p113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555" name="Google Shape;2555;p113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556" name="Google Shape;2556;p113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7" name="Google Shape;2557;p113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8" name="Google Shape;2558;p113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9" name="Google Shape;2559;p113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0" name="Google Shape;2560;p113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1" name="Google Shape;2561;p113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2" name="Google Shape;2562;p113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3" name="Google Shape;2563;p113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4" name="Google Shape;2564;p113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5" name="Google Shape;2565;p113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6" name="Google Shape;2566;p113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67" name="Google Shape;2567;p113"/>
          <p:cNvCxnSpPr/>
          <p:nvPr/>
        </p:nvCxnSpPr>
        <p:spPr>
          <a:xfrm>
            <a:off x="6981825" y="8343900"/>
            <a:ext cx="7464426" cy="2419350"/>
          </a:xfrm>
          <a:prstGeom prst="straightConnector1">
            <a:avLst/>
          </a:prstGeom>
          <a:noFill/>
          <a:ln cap="flat" cmpd="sng" w="101600">
            <a:solidFill>
              <a:srgbClr val="3B0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8" name="Google Shape;2568;p113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558E28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9" name="Google Shape;2569;p113"/>
          <p:cNvSpPr txBox="1"/>
          <p:nvPr/>
        </p:nvSpPr>
        <p:spPr>
          <a:xfrm>
            <a:off x="7823200" y="7518400"/>
            <a:ext cx="1796059" cy="672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14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2B47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inlier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114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75" name="Google Shape;2575;p114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576" name="Google Shape;2576;p114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Pick 2 points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Fit line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Count inliers</a:t>
            </a:r>
            <a:endParaRPr/>
          </a:p>
        </p:txBody>
      </p:sp>
      <p:sp>
        <p:nvSpPr>
          <p:cNvPr id="2577" name="Google Shape;2577;p114"/>
          <p:cNvSpPr txBox="1"/>
          <p:nvPr/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</a:t>
            </a:r>
            <a:endParaRPr/>
          </a:p>
        </p:txBody>
      </p:sp>
      <p:cxnSp>
        <p:nvCxnSpPr>
          <p:cNvPr id="2578" name="Google Shape;2578;p114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579" name="Google Shape;2579;p114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580" name="Google Shape;2580;p114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1" name="Google Shape;2581;p114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2" name="Google Shape;2582;p114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3" name="Google Shape;2583;p114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4" name="Google Shape;2584;p114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5" name="Google Shape;2585;p114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6" name="Google Shape;2586;p114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7" name="Google Shape;2587;p114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8" name="Google Shape;2588;p114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9" name="Google Shape;2589;p114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0" name="Google Shape;2590;p114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91" name="Google Shape;2591;p114"/>
          <p:cNvCxnSpPr/>
          <p:nvPr/>
        </p:nvCxnSpPr>
        <p:spPr>
          <a:xfrm>
            <a:off x="5238749" y="8813799"/>
            <a:ext cx="10026652" cy="41278"/>
          </a:xfrm>
          <a:prstGeom prst="straightConnector1">
            <a:avLst/>
          </a:prstGeom>
          <a:noFill/>
          <a:ln cap="flat" cmpd="sng" w="101600">
            <a:solidFill>
              <a:srgbClr val="3B00A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2" name="Google Shape;2592;p114"/>
          <p:cNvGrpSpPr/>
          <p:nvPr/>
        </p:nvGrpSpPr>
        <p:grpSpPr>
          <a:xfrm>
            <a:off x="8178800" y="8610600"/>
            <a:ext cx="1905000" cy="406400"/>
            <a:chOff x="0" y="0"/>
            <a:chExt cx="1905000" cy="406400"/>
          </a:xfrm>
        </p:grpSpPr>
        <p:sp>
          <p:nvSpPr>
            <p:cNvPr id="2593" name="Google Shape;2593;p114"/>
            <p:cNvSpPr/>
            <p:nvPr/>
          </p:nvSpPr>
          <p:spPr>
            <a:xfrm>
              <a:off x="0" y="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4" name="Google Shape;2594;p114"/>
            <p:cNvSpPr/>
            <p:nvPr/>
          </p:nvSpPr>
          <p:spPr>
            <a:xfrm>
              <a:off x="1498600" y="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95" name="Google Shape;2595;p114"/>
          <p:cNvSpPr txBox="1"/>
          <p:nvPr/>
        </p:nvSpPr>
        <p:spPr>
          <a:xfrm>
            <a:off x="7823200" y="7518400"/>
            <a:ext cx="1796059" cy="672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14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2B47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inlier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115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01" name="Google Shape;2601;p115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602" name="Google Shape;2602;p115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Pick 2 points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Fit line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Count inliers</a:t>
            </a:r>
            <a:endParaRPr/>
          </a:p>
        </p:txBody>
      </p:sp>
      <p:sp>
        <p:nvSpPr>
          <p:cNvPr id="2603" name="Google Shape;2603;p115"/>
          <p:cNvSpPr txBox="1"/>
          <p:nvPr/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79</a:t>
            </a:r>
            <a:endParaRPr/>
          </a:p>
        </p:txBody>
      </p:sp>
      <p:cxnSp>
        <p:nvCxnSpPr>
          <p:cNvPr id="2604" name="Google Shape;2604;p115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605" name="Google Shape;2605;p115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606" name="Google Shape;2606;p115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7" name="Google Shape;2607;p115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8" name="Google Shape;2608;p115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9" name="Google Shape;2609;p115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0" name="Google Shape;2610;p115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1" name="Google Shape;2611;p115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2" name="Google Shape;2612;p115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3" name="Google Shape;2613;p115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4" name="Google Shape;2614;p115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5" name="Google Shape;2615;p115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6" name="Google Shape;2616;p115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7" name="Google Shape;2617;p115"/>
          <p:cNvCxnSpPr/>
          <p:nvPr/>
        </p:nvCxnSpPr>
        <p:spPr>
          <a:xfrm flipH="1" rot="10800000">
            <a:off x="4133850" y="6886575"/>
            <a:ext cx="8877301" cy="4346575"/>
          </a:xfrm>
          <a:prstGeom prst="straightConnector1">
            <a:avLst/>
          </a:prstGeom>
          <a:noFill/>
          <a:ln cap="flat" cmpd="sng" w="101600">
            <a:solidFill>
              <a:srgbClr val="3B0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8" name="Google Shape;2618;p115"/>
          <p:cNvSpPr txBox="1"/>
          <p:nvPr/>
        </p:nvSpPr>
        <p:spPr>
          <a:xfrm>
            <a:off x="7823200" y="7518400"/>
            <a:ext cx="1796059" cy="672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14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2B47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inlier</a:t>
            </a:r>
            <a:endParaRPr/>
          </a:p>
        </p:txBody>
      </p:sp>
      <p:grpSp>
        <p:nvGrpSpPr>
          <p:cNvPr id="2619" name="Google Shape;2619;p115"/>
          <p:cNvGrpSpPr/>
          <p:nvPr/>
        </p:nvGrpSpPr>
        <p:grpSpPr>
          <a:xfrm>
            <a:off x="6172200" y="7518400"/>
            <a:ext cx="4927600" cy="2590800"/>
            <a:chOff x="0" y="0"/>
            <a:chExt cx="4927600" cy="2590800"/>
          </a:xfrm>
        </p:grpSpPr>
        <p:sp>
          <p:nvSpPr>
            <p:cNvPr id="2620" name="Google Shape;2620;p115"/>
            <p:cNvSpPr/>
            <p:nvPr/>
          </p:nvSpPr>
          <p:spPr>
            <a:xfrm>
              <a:off x="0" y="21844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1" name="Google Shape;2621;p115"/>
            <p:cNvSpPr/>
            <p:nvPr/>
          </p:nvSpPr>
          <p:spPr>
            <a:xfrm>
              <a:off x="4318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2" name="Google Shape;2622;p115"/>
            <p:cNvSpPr/>
            <p:nvPr/>
          </p:nvSpPr>
          <p:spPr>
            <a:xfrm>
              <a:off x="12192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3" name="Google Shape;2623;p115"/>
            <p:cNvSpPr/>
            <p:nvPr/>
          </p:nvSpPr>
          <p:spPr>
            <a:xfrm>
              <a:off x="20066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4" name="Google Shape;2624;p115"/>
            <p:cNvSpPr/>
            <p:nvPr/>
          </p:nvSpPr>
          <p:spPr>
            <a:xfrm>
              <a:off x="35052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5" name="Google Shape;2625;p115"/>
            <p:cNvSpPr/>
            <p:nvPr/>
          </p:nvSpPr>
          <p:spPr>
            <a:xfrm>
              <a:off x="4521200" y="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6" name="Google Shape;2626;p115"/>
            <p:cNvSpPr/>
            <p:nvPr/>
          </p:nvSpPr>
          <p:spPr>
            <a:xfrm>
              <a:off x="3708400" y="4318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116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32" name="Google Shape;2632;p116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633" name="Google Shape;2633;p116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Pick 2 points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Fit line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Count inliers</a:t>
            </a:r>
            <a:endParaRPr/>
          </a:p>
        </p:txBody>
      </p:sp>
      <p:sp>
        <p:nvSpPr>
          <p:cNvPr id="2634" name="Google Shape;2634;p116"/>
          <p:cNvSpPr txBox="1"/>
          <p:nvPr/>
        </p:nvSpPr>
        <p:spPr>
          <a:xfrm>
            <a:off x="17783810" y="12496800"/>
            <a:ext cx="551181" cy="574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/>
          </a:p>
        </p:txBody>
      </p:sp>
      <p:cxnSp>
        <p:nvCxnSpPr>
          <p:cNvPr id="2635" name="Google Shape;2635;p116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636" name="Google Shape;2636;p116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637" name="Google Shape;2637;p116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8" name="Google Shape;2638;p116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9" name="Google Shape;2639;p116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0" name="Google Shape;2640;p116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1" name="Google Shape;2641;p116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2" name="Google Shape;2642;p116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3" name="Google Shape;2643;p116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solidFill>
            <a:srgbClr val="4A00E6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4" name="Google Shape;2644;p116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5" name="Google Shape;2645;p116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6" name="Google Shape;2646;p116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7" name="Google Shape;2647;p116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48" name="Google Shape;2648;p116"/>
          <p:cNvCxnSpPr/>
          <p:nvPr/>
        </p:nvCxnSpPr>
        <p:spPr>
          <a:xfrm flipH="1" rot="10800000">
            <a:off x="4133850" y="6661150"/>
            <a:ext cx="8670927" cy="4572000"/>
          </a:xfrm>
          <a:prstGeom prst="straightConnector1">
            <a:avLst/>
          </a:prstGeom>
          <a:noFill/>
          <a:ln cap="flat" cmpd="sng" w="101600">
            <a:solidFill>
              <a:srgbClr val="3B0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9" name="Google Shape;2649;p116"/>
          <p:cNvSpPr txBox="1"/>
          <p:nvPr/>
        </p:nvSpPr>
        <p:spPr>
          <a:xfrm>
            <a:off x="7823200" y="7518400"/>
            <a:ext cx="1796059" cy="672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39687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14"/>
              </a:buClr>
              <a:buSzPts val="4800"/>
              <a:buFont typeface="Times New Roman"/>
              <a:buNone/>
            </a:pPr>
            <a:r>
              <a:rPr b="0" i="0" lang="en-US" sz="4800" u="none" cap="none" strike="noStrike">
                <a:solidFill>
                  <a:srgbClr val="2B47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inlier</a:t>
            </a:r>
            <a:endParaRPr/>
          </a:p>
        </p:txBody>
      </p:sp>
      <p:grpSp>
        <p:nvGrpSpPr>
          <p:cNvPr id="2650" name="Google Shape;2650;p116"/>
          <p:cNvGrpSpPr/>
          <p:nvPr/>
        </p:nvGrpSpPr>
        <p:grpSpPr>
          <a:xfrm>
            <a:off x="6172200" y="7518400"/>
            <a:ext cx="4927600" cy="2590800"/>
            <a:chOff x="0" y="0"/>
            <a:chExt cx="4927600" cy="2590800"/>
          </a:xfrm>
        </p:grpSpPr>
        <p:sp>
          <p:nvSpPr>
            <p:cNvPr id="2651" name="Google Shape;2651;p116"/>
            <p:cNvSpPr/>
            <p:nvPr/>
          </p:nvSpPr>
          <p:spPr>
            <a:xfrm>
              <a:off x="0" y="21844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2" name="Google Shape;2652;p116"/>
            <p:cNvSpPr/>
            <p:nvPr/>
          </p:nvSpPr>
          <p:spPr>
            <a:xfrm>
              <a:off x="4318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3" name="Google Shape;2653;p116"/>
            <p:cNvSpPr/>
            <p:nvPr/>
          </p:nvSpPr>
          <p:spPr>
            <a:xfrm>
              <a:off x="12192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4" name="Google Shape;2654;p116"/>
            <p:cNvSpPr/>
            <p:nvPr/>
          </p:nvSpPr>
          <p:spPr>
            <a:xfrm>
              <a:off x="20066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5" name="Google Shape;2655;p116"/>
            <p:cNvSpPr/>
            <p:nvPr/>
          </p:nvSpPr>
          <p:spPr>
            <a:xfrm>
              <a:off x="27686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6" name="Google Shape;2656;p116"/>
            <p:cNvSpPr/>
            <p:nvPr/>
          </p:nvSpPr>
          <p:spPr>
            <a:xfrm>
              <a:off x="4521200" y="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117"/>
          <p:cNvSpPr txBox="1"/>
          <p:nvPr>
            <p:ph idx="12" type="sldNum"/>
          </p:nvPr>
        </p:nvSpPr>
        <p:spPr>
          <a:xfrm>
            <a:off x="19988837" y="12490450"/>
            <a:ext cx="432764" cy="5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 sz="2800"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62" name="Google Shape;2662;p117"/>
          <p:cNvSpPr txBox="1"/>
          <p:nvPr>
            <p:ph type="title"/>
          </p:nvPr>
        </p:nvSpPr>
        <p:spPr>
          <a:xfrm>
            <a:off x="3048000" y="0"/>
            <a:ext cx="18288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>
                <a:latin typeface="Arial"/>
                <a:ea typeface="Arial"/>
                <a:cs typeface="Arial"/>
                <a:sym typeface="Arial"/>
              </a:rPr>
              <a:t>Simple example: fit a line</a:t>
            </a:r>
            <a:endParaRPr/>
          </a:p>
        </p:txBody>
      </p:sp>
      <p:sp>
        <p:nvSpPr>
          <p:cNvPr id="2663" name="Google Shape;2663;p117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Use biggest set of inliers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Char char="•"/>
            </a:pPr>
            <a:r>
              <a:rPr lang="en-US" sz="6400">
                <a:latin typeface="Arial"/>
                <a:ea typeface="Arial"/>
                <a:cs typeface="Arial"/>
                <a:sym typeface="Arial"/>
              </a:rPr>
              <a:t>Do least-square fit</a:t>
            </a:r>
            <a:endParaRPr/>
          </a:p>
        </p:txBody>
      </p:sp>
      <p:cxnSp>
        <p:nvCxnSpPr>
          <p:cNvPr id="2664" name="Google Shape;2664;p117"/>
          <p:cNvCxnSpPr/>
          <p:nvPr/>
        </p:nvCxnSpPr>
        <p:spPr>
          <a:xfrm flipH="1">
            <a:off x="4063365" y="6832600"/>
            <a:ext cx="1" cy="61372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2665" name="Google Shape;2665;p117"/>
          <p:cNvCxnSpPr/>
          <p:nvPr/>
        </p:nvCxnSpPr>
        <p:spPr>
          <a:xfrm rot="10800000">
            <a:off x="3825875" y="12937490"/>
            <a:ext cx="10172701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666" name="Google Shape;2666;p117"/>
          <p:cNvSpPr/>
          <p:nvPr/>
        </p:nvSpPr>
        <p:spPr>
          <a:xfrm>
            <a:off x="5054600" y="10490200"/>
            <a:ext cx="406400" cy="406400"/>
          </a:xfrm>
          <a:prstGeom prst="ellipse">
            <a:avLst/>
          </a:prstGeom>
          <a:solidFill>
            <a:srgbClr val="3F691E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7" name="Google Shape;2667;p117"/>
          <p:cNvSpPr/>
          <p:nvPr/>
        </p:nvSpPr>
        <p:spPr>
          <a:xfrm>
            <a:off x="6172200" y="97028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8" name="Google Shape;2668;p117"/>
          <p:cNvSpPr/>
          <p:nvPr/>
        </p:nvSpPr>
        <p:spPr>
          <a:xfrm>
            <a:off x="73914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9" name="Google Shape;2669;p117"/>
          <p:cNvSpPr/>
          <p:nvPr/>
        </p:nvSpPr>
        <p:spPr>
          <a:xfrm>
            <a:off x="81788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0" name="Google Shape;2670;p117"/>
          <p:cNvSpPr/>
          <p:nvPr/>
        </p:nvSpPr>
        <p:spPr>
          <a:xfrm>
            <a:off x="96774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1" name="Google Shape;2671;p117"/>
          <p:cNvSpPr/>
          <p:nvPr/>
        </p:nvSpPr>
        <p:spPr>
          <a:xfrm>
            <a:off x="10693400" y="7518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2" name="Google Shape;2672;p117"/>
          <p:cNvSpPr/>
          <p:nvPr/>
        </p:nvSpPr>
        <p:spPr>
          <a:xfrm>
            <a:off x="9880600" y="7950200"/>
            <a:ext cx="406400" cy="406400"/>
          </a:xfrm>
          <a:prstGeom prst="ellipse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3" name="Google Shape;2673;p117"/>
          <p:cNvSpPr/>
          <p:nvPr/>
        </p:nvSpPr>
        <p:spPr>
          <a:xfrm>
            <a:off x="6604000" y="94742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4" name="Google Shape;2674;p117"/>
          <p:cNvSpPr/>
          <p:nvPr/>
        </p:nvSpPr>
        <p:spPr>
          <a:xfrm>
            <a:off x="11531600" y="96774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5" name="Google Shape;2675;p117"/>
          <p:cNvSpPr/>
          <p:nvPr/>
        </p:nvSpPr>
        <p:spPr>
          <a:xfrm>
            <a:off x="12192000" y="8610600"/>
            <a:ext cx="406400" cy="406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6" name="Google Shape;2676;p117"/>
          <p:cNvSpPr/>
          <p:nvPr/>
        </p:nvSpPr>
        <p:spPr>
          <a:xfrm>
            <a:off x="8940800" y="8610600"/>
            <a:ext cx="406400" cy="406400"/>
          </a:xfrm>
          <a:prstGeom prst="ellipse">
            <a:avLst/>
          </a:prstGeom>
          <a:solidFill>
            <a:srgbClr val="3F691E"/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77" name="Google Shape;2677;p117"/>
          <p:cNvCxnSpPr/>
          <p:nvPr/>
        </p:nvCxnSpPr>
        <p:spPr>
          <a:xfrm flipH="1" rot="10800000">
            <a:off x="4133850" y="6886575"/>
            <a:ext cx="8877301" cy="4346575"/>
          </a:xfrm>
          <a:prstGeom prst="straightConnector1">
            <a:avLst/>
          </a:prstGeom>
          <a:noFill/>
          <a:ln cap="flat" cmpd="sng" w="101600">
            <a:solidFill>
              <a:srgbClr val="3F691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78" name="Google Shape;2678;p117"/>
          <p:cNvGrpSpPr/>
          <p:nvPr/>
        </p:nvGrpSpPr>
        <p:grpSpPr>
          <a:xfrm>
            <a:off x="6172200" y="7518400"/>
            <a:ext cx="4927600" cy="2590800"/>
            <a:chOff x="0" y="0"/>
            <a:chExt cx="4927600" cy="2590800"/>
          </a:xfrm>
        </p:grpSpPr>
        <p:sp>
          <p:nvSpPr>
            <p:cNvPr id="2679" name="Google Shape;2679;p117"/>
            <p:cNvSpPr/>
            <p:nvPr/>
          </p:nvSpPr>
          <p:spPr>
            <a:xfrm>
              <a:off x="0" y="21844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0" name="Google Shape;2680;p117"/>
            <p:cNvSpPr/>
            <p:nvPr/>
          </p:nvSpPr>
          <p:spPr>
            <a:xfrm>
              <a:off x="4318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1" name="Google Shape;2681;p117"/>
            <p:cNvSpPr/>
            <p:nvPr/>
          </p:nvSpPr>
          <p:spPr>
            <a:xfrm>
              <a:off x="1219200" y="1981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2" name="Google Shape;2682;p117"/>
            <p:cNvSpPr/>
            <p:nvPr/>
          </p:nvSpPr>
          <p:spPr>
            <a:xfrm>
              <a:off x="20066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3" name="Google Shape;2683;p117"/>
            <p:cNvSpPr/>
            <p:nvPr/>
          </p:nvSpPr>
          <p:spPr>
            <a:xfrm>
              <a:off x="3505200" y="10922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4" name="Google Shape;2684;p117"/>
            <p:cNvSpPr/>
            <p:nvPr/>
          </p:nvSpPr>
          <p:spPr>
            <a:xfrm>
              <a:off x="4521200" y="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5" name="Google Shape;2685;p117"/>
            <p:cNvSpPr/>
            <p:nvPr/>
          </p:nvSpPr>
          <p:spPr>
            <a:xfrm>
              <a:off x="3708400" y="431800"/>
              <a:ext cx="406400" cy="406400"/>
            </a:xfrm>
            <a:prstGeom prst="ellipse">
              <a:avLst/>
            </a:prstGeom>
            <a:solidFill>
              <a:srgbClr val="558E28"/>
            </a:solidFill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Times New Roman"/>
                <a:buNone/>
              </a:pPr>
              <a:r>
                <a:t/>
              </a:r>
              <a:endParaRPr b="0" i="0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2690" name="Google Shape;269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667" y="7411360"/>
            <a:ext cx="4076701" cy="306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02" id="2691" name="Google Shape;2691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3667" y="3962400"/>
            <a:ext cx="4076701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3" id="2692" name="Google Shape;2692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6" y="5104038"/>
            <a:ext cx="8685367" cy="4039962"/>
          </a:xfrm>
          <a:prstGeom prst="rect">
            <a:avLst/>
          </a:prstGeom>
          <a:noFill/>
          <a:ln>
            <a:noFill/>
          </a:ln>
        </p:spPr>
      </p:pic>
      <p:sp>
        <p:nvSpPr>
          <p:cNvPr id="2693" name="Google Shape;2693;p118"/>
          <p:cNvSpPr/>
          <p:nvPr/>
        </p:nvSpPr>
        <p:spPr>
          <a:xfrm>
            <a:off x="9231095" y="6553202"/>
            <a:ext cx="1284517" cy="128451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1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Homographies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119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Image warping</a:t>
            </a:r>
            <a:endParaRPr/>
          </a:p>
        </p:txBody>
      </p:sp>
      <p:sp>
        <p:nvSpPr>
          <p:cNvPr id="2700" name="Google Shape;2700;p119"/>
          <p:cNvSpPr txBox="1"/>
          <p:nvPr>
            <p:ph idx="1" type="body"/>
          </p:nvPr>
        </p:nvSpPr>
        <p:spPr>
          <a:xfrm>
            <a:off x="2516485" y="3251200"/>
            <a:ext cx="1935103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 Light"/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Given a coordinate transformation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i="1" lang="en-US"/>
              <a:t> 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 and a source image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),</a:t>
            </a: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 how do we compute a transformed image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b="1" lang="en-US"/>
              <a:t>,</a:t>
            </a:r>
            <a:r>
              <a:rPr b="1" i="1" lang="en-US"/>
              <a:t>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))?</a:t>
            </a:r>
            <a:endParaRPr/>
          </a:p>
        </p:txBody>
      </p:sp>
      <p:pic>
        <p:nvPicPr>
          <p:cNvPr descr="HHHIMG_1166" id="2701" name="Google Shape;2701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7772400"/>
            <a:ext cx="4387850" cy="3286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tated" id="2702" name="Google Shape;2702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5850" y="7467600"/>
            <a:ext cx="526415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3" name="Google Shape;2703;p119"/>
          <p:cNvSpPr txBox="1"/>
          <p:nvPr/>
        </p:nvSpPr>
        <p:spPr>
          <a:xfrm>
            <a:off x="8229600" y="114300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04" name="Google Shape;2704;p119"/>
          <p:cNvSpPr txBox="1"/>
          <p:nvPr/>
        </p:nvSpPr>
        <p:spPr>
          <a:xfrm>
            <a:off x="15240000" y="11430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705" name="Google Shape;2705;p119"/>
          <p:cNvGrpSpPr/>
          <p:nvPr/>
        </p:nvGrpSpPr>
        <p:grpSpPr>
          <a:xfrm>
            <a:off x="6553199" y="10515600"/>
            <a:ext cx="762001" cy="764542"/>
            <a:chOff x="-1" y="0"/>
            <a:chExt cx="762001" cy="764541"/>
          </a:xfrm>
        </p:grpSpPr>
        <p:cxnSp>
          <p:nvCxnSpPr>
            <p:cNvPr id="2706" name="Google Shape;2706;p119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7" name="Google Shape;2707;p119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708" name="Google Shape;2708;p119"/>
          <p:cNvGrpSpPr/>
          <p:nvPr/>
        </p:nvGrpSpPr>
        <p:grpSpPr>
          <a:xfrm>
            <a:off x="13563599" y="10515600"/>
            <a:ext cx="762001" cy="764542"/>
            <a:chOff x="-1" y="0"/>
            <a:chExt cx="762001" cy="764541"/>
          </a:xfrm>
        </p:grpSpPr>
        <p:cxnSp>
          <p:nvCxnSpPr>
            <p:cNvPr id="2709" name="Google Shape;2709;p119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0" name="Google Shape;2710;p119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11" name="Google Shape;2711;p119"/>
          <p:cNvSpPr txBox="1"/>
          <p:nvPr/>
        </p:nvSpPr>
        <p:spPr>
          <a:xfrm>
            <a:off x="65532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712" name="Google Shape;2712;p119"/>
          <p:cNvSpPr txBox="1"/>
          <p:nvPr/>
        </p:nvSpPr>
        <p:spPr>
          <a:xfrm>
            <a:off x="135636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713" name="Google Shape;2713;p119"/>
          <p:cNvSpPr/>
          <p:nvPr/>
        </p:nvSpPr>
        <p:spPr>
          <a:xfrm>
            <a:off x="7499350" y="10210800"/>
            <a:ext cx="273050" cy="273050"/>
          </a:xfrm>
          <a:prstGeom prst="rect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119"/>
          <p:cNvSpPr/>
          <p:nvPr/>
        </p:nvSpPr>
        <p:spPr>
          <a:xfrm>
            <a:off x="14630400" y="10242550"/>
            <a:ext cx="273050" cy="273050"/>
          </a:xfrm>
          <a:prstGeom prst="rect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119"/>
          <p:cNvSpPr/>
          <p:nvPr/>
        </p:nvSpPr>
        <p:spPr>
          <a:xfrm>
            <a:off x="7893050" y="9448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119"/>
          <p:cNvSpPr txBox="1"/>
          <p:nvPr/>
        </p:nvSpPr>
        <p:spPr>
          <a:xfrm>
            <a:off x="11430000" y="96012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17" name="Google Shape;2717;p119"/>
          <p:cNvSpPr txBox="1"/>
          <p:nvPr/>
        </p:nvSpPr>
        <p:spPr>
          <a:xfrm>
            <a:off x="5834743" y="9862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718" name="Google Shape;2718;p119"/>
          <p:cNvSpPr txBox="1"/>
          <p:nvPr/>
        </p:nvSpPr>
        <p:spPr>
          <a:xfrm>
            <a:off x="12866917" y="9840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  <p:sp>
        <p:nvSpPr>
          <p:cNvPr id="2719" name="Google Shape;2719;p119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120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Forward warping</a:t>
            </a:r>
            <a:endParaRPr/>
          </a:p>
        </p:txBody>
      </p:sp>
      <p:sp>
        <p:nvSpPr>
          <p:cNvPr id="2725" name="Google Shape;2725;p120"/>
          <p:cNvSpPr txBox="1"/>
          <p:nvPr>
            <p:ph idx="1" type="body"/>
          </p:nvPr>
        </p:nvSpPr>
        <p:spPr>
          <a:xfrm>
            <a:off x="37846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Send each pixel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to its corresponding location 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b="1" lang="en-US"/>
              <a:t>,</a:t>
            </a:r>
            <a:r>
              <a:rPr b="1" i="1" lang="en-US"/>
              <a:t>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pic>
        <p:nvPicPr>
          <p:cNvPr descr="HHHIMG_1166" id="2726" name="Google Shape;272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7772400"/>
            <a:ext cx="4387850" cy="3286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tated" id="2727" name="Google Shape;2727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5850" y="7467600"/>
            <a:ext cx="526415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8" name="Google Shape;2728;p120"/>
          <p:cNvSpPr txBox="1"/>
          <p:nvPr/>
        </p:nvSpPr>
        <p:spPr>
          <a:xfrm>
            <a:off x="8229600" y="114300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29" name="Google Shape;2729;p120"/>
          <p:cNvSpPr txBox="1"/>
          <p:nvPr/>
        </p:nvSpPr>
        <p:spPr>
          <a:xfrm>
            <a:off x="15240000" y="11430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730" name="Google Shape;2730;p120"/>
          <p:cNvGrpSpPr/>
          <p:nvPr/>
        </p:nvGrpSpPr>
        <p:grpSpPr>
          <a:xfrm>
            <a:off x="6553199" y="10515600"/>
            <a:ext cx="762001" cy="764542"/>
            <a:chOff x="-1" y="0"/>
            <a:chExt cx="762001" cy="764541"/>
          </a:xfrm>
        </p:grpSpPr>
        <p:cxnSp>
          <p:nvCxnSpPr>
            <p:cNvPr id="2731" name="Google Shape;2731;p120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32" name="Google Shape;2732;p120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733" name="Google Shape;2733;p120"/>
          <p:cNvGrpSpPr/>
          <p:nvPr/>
        </p:nvGrpSpPr>
        <p:grpSpPr>
          <a:xfrm>
            <a:off x="13563599" y="10515600"/>
            <a:ext cx="762001" cy="764542"/>
            <a:chOff x="-1" y="0"/>
            <a:chExt cx="762001" cy="764541"/>
          </a:xfrm>
        </p:grpSpPr>
        <p:cxnSp>
          <p:nvCxnSpPr>
            <p:cNvPr id="2734" name="Google Shape;2734;p120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35" name="Google Shape;2735;p120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36" name="Google Shape;2736;p120"/>
          <p:cNvSpPr txBox="1"/>
          <p:nvPr/>
        </p:nvSpPr>
        <p:spPr>
          <a:xfrm>
            <a:off x="65532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737" name="Google Shape;2737;p120"/>
          <p:cNvSpPr txBox="1"/>
          <p:nvPr/>
        </p:nvSpPr>
        <p:spPr>
          <a:xfrm>
            <a:off x="135636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738" name="Google Shape;2738;p120"/>
          <p:cNvSpPr/>
          <p:nvPr/>
        </p:nvSpPr>
        <p:spPr>
          <a:xfrm>
            <a:off x="7499350" y="10210800"/>
            <a:ext cx="273050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0" rotWithShape="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120"/>
          <p:cNvSpPr/>
          <p:nvPr/>
        </p:nvSpPr>
        <p:spPr>
          <a:xfrm>
            <a:off x="14630400" y="10242550"/>
            <a:ext cx="273050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0" rotWithShape="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120"/>
          <p:cNvSpPr/>
          <p:nvPr/>
        </p:nvSpPr>
        <p:spPr>
          <a:xfrm>
            <a:off x="7893050" y="9448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20"/>
          <p:cNvSpPr txBox="1"/>
          <p:nvPr/>
        </p:nvSpPr>
        <p:spPr>
          <a:xfrm>
            <a:off x="11430000" y="96012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42" name="Google Shape;2742;p120"/>
          <p:cNvSpPr txBox="1"/>
          <p:nvPr/>
        </p:nvSpPr>
        <p:spPr>
          <a:xfrm>
            <a:off x="3784600" y="5715000"/>
            <a:ext cx="17024123" cy="1138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</a:pPr>
            <a:r>
              <a:rPr b="0" i="0" lang="en-US" sz="6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a pixel lands “between” two pixels?</a:t>
            </a:r>
            <a:endParaRPr/>
          </a:p>
        </p:txBody>
      </p:sp>
      <p:sp>
        <p:nvSpPr>
          <p:cNvPr id="2743" name="Google Shape;2743;p120"/>
          <p:cNvSpPr txBox="1"/>
          <p:nvPr/>
        </p:nvSpPr>
        <p:spPr>
          <a:xfrm>
            <a:off x="5834743" y="9862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744" name="Google Shape;2744;p120"/>
          <p:cNvSpPr txBox="1"/>
          <p:nvPr/>
        </p:nvSpPr>
        <p:spPr>
          <a:xfrm>
            <a:off x="12866917" y="9840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  <p:sp>
        <p:nvSpPr>
          <p:cNvPr id="2745" name="Google Shape;2745;p120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121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Forward warping</a:t>
            </a:r>
            <a:endParaRPr/>
          </a:p>
        </p:txBody>
      </p:sp>
      <p:sp>
        <p:nvSpPr>
          <p:cNvPr id="2751" name="Google Shape;2751;p121"/>
          <p:cNvSpPr txBox="1"/>
          <p:nvPr>
            <p:ph idx="1" type="body"/>
          </p:nvPr>
        </p:nvSpPr>
        <p:spPr>
          <a:xfrm>
            <a:off x="37846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Send each pixel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to its corresponding location 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T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b="1" lang="en-US"/>
              <a:t>,</a:t>
            </a:r>
            <a:r>
              <a:rPr b="1" i="1" lang="en-US"/>
              <a:t>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</a:t>
            </a:r>
            <a:r>
              <a:rPr b="1" lang="en-US"/>
              <a:t>,</a:t>
            </a:r>
            <a:r>
              <a:rPr b="1" i="1" lang="en-US"/>
              <a:t>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2752" name="Google Shape;2752;p121"/>
          <p:cNvSpPr txBox="1"/>
          <p:nvPr/>
        </p:nvSpPr>
        <p:spPr>
          <a:xfrm>
            <a:off x="3784600" y="5715000"/>
            <a:ext cx="17024123" cy="1138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Helvetica Neue"/>
              <a:buChar char="•"/>
            </a:pPr>
            <a:r>
              <a:rPr b="0" i="0" lang="en-US" sz="6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a pixel lands “between” two pixels?</a:t>
            </a:r>
            <a:endParaRPr/>
          </a:p>
        </p:txBody>
      </p:sp>
      <p:sp>
        <p:nvSpPr>
          <p:cNvPr id="2753" name="Google Shape;2753;p121"/>
          <p:cNvSpPr txBox="1"/>
          <p:nvPr/>
        </p:nvSpPr>
        <p:spPr>
          <a:xfrm>
            <a:off x="7975600" y="121920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54" name="Google Shape;2754;p121"/>
          <p:cNvSpPr txBox="1"/>
          <p:nvPr/>
        </p:nvSpPr>
        <p:spPr>
          <a:xfrm>
            <a:off x="15240000" y="12192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755" name="Google Shape;2755;p121"/>
          <p:cNvGrpSpPr/>
          <p:nvPr/>
        </p:nvGrpSpPr>
        <p:grpSpPr>
          <a:xfrm>
            <a:off x="6553199" y="11277600"/>
            <a:ext cx="762001" cy="764542"/>
            <a:chOff x="-1" y="0"/>
            <a:chExt cx="762001" cy="764541"/>
          </a:xfrm>
        </p:grpSpPr>
        <p:cxnSp>
          <p:nvCxnSpPr>
            <p:cNvPr id="2756" name="Google Shape;2756;p121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57" name="Google Shape;2757;p121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758" name="Google Shape;2758;p121"/>
          <p:cNvGrpSpPr/>
          <p:nvPr/>
        </p:nvGrpSpPr>
        <p:grpSpPr>
          <a:xfrm>
            <a:off x="13563599" y="11277600"/>
            <a:ext cx="762001" cy="764542"/>
            <a:chOff x="-1" y="0"/>
            <a:chExt cx="762001" cy="764541"/>
          </a:xfrm>
        </p:grpSpPr>
        <p:cxnSp>
          <p:nvCxnSpPr>
            <p:cNvPr id="2759" name="Google Shape;2759;p121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60" name="Google Shape;2760;p121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61" name="Google Shape;2761;p121"/>
          <p:cNvSpPr txBox="1"/>
          <p:nvPr/>
        </p:nvSpPr>
        <p:spPr>
          <a:xfrm>
            <a:off x="6553200" y="11887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762" name="Google Shape;2762;p121"/>
          <p:cNvSpPr txBox="1"/>
          <p:nvPr/>
        </p:nvSpPr>
        <p:spPr>
          <a:xfrm>
            <a:off x="13563600" y="11887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763" name="Google Shape;2763;p121"/>
          <p:cNvSpPr/>
          <p:nvPr/>
        </p:nvSpPr>
        <p:spPr>
          <a:xfrm>
            <a:off x="7477577" y="10972800"/>
            <a:ext cx="273051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121"/>
          <p:cNvSpPr/>
          <p:nvPr/>
        </p:nvSpPr>
        <p:spPr>
          <a:xfrm>
            <a:off x="14608627" y="10961006"/>
            <a:ext cx="273051" cy="273051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121"/>
          <p:cNvSpPr/>
          <p:nvPr/>
        </p:nvSpPr>
        <p:spPr>
          <a:xfrm>
            <a:off x="7893050" y="10210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121"/>
          <p:cNvSpPr txBox="1"/>
          <p:nvPr/>
        </p:nvSpPr>
        <p:spPr>
          <a:xfrm>
            <a:off x="11430000" y="103632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67" name="Google Shape;2767;p121"/>
          <p:cNvSpPr txBox="1"/>
          <p:nvPr/>
        </p:nvSpPr>
        <p:spPr>
          <a:xfrm>
            <a:off x="4419600" y="6883400"/>
            <a:ext cx="15544800" cy="28990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Answer: add “contribution” to several pixels, normalize later (</a:t>
            </a:r>
            <a:r>
              <a:rPr b="0" i="1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splatting</a:t>
            </a: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still result in holes</a:t>
            </a:r>
            <a:endParaRPr/>
          </a:p>
        </p:txBody>
      </p:sp>
      <p:grpSp>
        <p:nvGrpSpPr>
          <p:cNvPr id="2768" name="Google Shape;2768;p121"/>
          <p:cNvGrpSpPr/>
          <p:nvPr/>
        </p:nvGrpSpPr>
        <p:grpSpPr>
          <a:xfrm>
            <a:off x="7010400" y="10515600"/>
            <a:ext cx="1219200" cy="1219200"/>
            <a:chOff x="0" y="0"/>
            <a:chExt cx="1219200" cy="1219200"/>
          </a:xfrm>
        </p:grpSpPr>
        <p:cxnSp>
          <p:nvCxnSpPr>
            <p:cNvPr id="2769" name="Google Shape;2769;p121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0" name="Google Shape;2770;p121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1" name="Google Shape;2771;p121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2" name="Google Shape;2772;p121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73" name="Google Shape;2773;p121"/>
          <p:cNvGrpSpPr/>
          <p:nvPr/>
        </p:nvGrpSpPr>
        <p:grpSpPr>
          <a:xfrm>
            <a:off x="14020800" y="10363200"/>
            <a:ext cx="1219200" cy="1219200"/>
            <a:chOff x="0" y="0"/>
            <a:chExt cx="1219200" cy="1219200"/>
          </a:xfrm>
        </p:grpSpPr>
        <p:cxnSp>
          <p:nvCxnSpPr>
            <p:cNvPr id="2774" name="Google Shape;2774;p121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5" name="Google Shape;2775;p121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6" name="Google Shape;2776;p121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7" name="Google Shape;2777;p121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78" name="Google Shape;2778;p121"/>
          <p:cNvSpPr txBox="1"/>
          <p:nvPr/>
        </p:nvSpPr>
        <p:spPr>
          <a:xfrm>
            <a:off x="5834743" y="10624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779" name="Google Shape;2779;p121"/>
          <p:cNvSpPr txBox="1"/>
          <p:nvPr/>
        </p:nvSpPr>
        <p:spPr>
          <a:xfrm>
            <a:off x="12866917" y="10602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  <p:sp>
        <p:nvSpPr>
          <p:cNvPr id="2780" name="Google Shape;2780;p121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122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Forward Warping</a:t>
            </a:r>
            <a:endParaRPr/>
          </a:p>
        </p:txBody>
      </p:sp>
      <p:sp>
        <p:nvSpPr>
          <p:cNvPr id="2786" name="Google Shape;2786;p12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Send each pixel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b="1" lang="en-US"/>
              <a:t>,</a:t>
            </a:r>
            <a:r>
              <a:rPr b="1" i="1" lang="en-US"/>
              <a:t>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to its corresponding location </a:t>
            </a:r>
            <a:r>
              <a:rPr b="1" i="1" lang="en-US"/>
              <a:t>x’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h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x’,y’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2787" name="Google Shape;2787;p122"/>
          <p:cNvSpPr txBox="1"/>
          <p:nvPr/>
        </p:nvSpPr>
        <p:spPr>
          <a:xfrm>
            <a:off x="8229600" y="114300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788" name="Google Shape;2788;p122"/>
          <p:cNvSpPr txBox="1"/>
          <p:nvPr/>
        </p:nvSpPr>
        <p:spPr>
          <a:xfrm>
            <a:off x="15240000" y="11430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789" name="Google Shape;2789;p122"/>
          <p:cNvGrpSpPr/>
          <p:nvPr/>
        </p:nvGrpSpPr>
        <p:grpSpPr>
          <a:xfrm>
            <a:off x="6553199" y="10515600"/>
            <a:ext cx="762001" cy="764542"/>
            <a:chOff x="-1" y="0"/>
            <a:chExt cx="762001" cy="764541"/>
          </a:xfrm>
        </p:grpSpPr>
        <p:cxnSp>
          <p:nvCxnSpPr>
            <p:cNvPr id="2790" name="Google Shape;2790;p122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91" name="Google Shape;2791;p122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792" name="Google Shape;2792;p122"/>
          <p:cNvGrpSpPr/>
          <p:nvPr/>
        </p:nvGrpSpPr>
        <p:grpSpPr>
          <a:xfrm>
            <a:off x="13563599" y="10515600"/>
            <a:ext cx="762001" cy="764542"/>
            <a:chOff x="-1" y="0"/>
            <a:chExt cx="762001" cy="764541"/>
          </a:xfrm>
        </p:grpSpPr>
        <p:cxnSp>
          <p:nvCxnSpPr>
            <p:cNvPr id="2793" name="Google Shape;2793;p122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94" name="Google Shape;2794;p122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795" name="Google Shape;2795;p122"/>
          <p:cNvSpPr txBox="1"/>
          <p:nvPr/>
        </p:nvSpPr>
        <p:spPr>
          <a:xfrm>
            <a:off x="65532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796" name="Google Shape;2796;p122"/>
          <p:cNvSpPr txBox="1"/>
          <p:nvPr/>
        </p:nvSpPr>
        <p:spPr>
          <a:xfrm>
            <a:off x="135636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797" name="Google Shape;2797;p122"/>
          <p:cNvSpPr/>
          <p:nvPr/>
        </p:nvSpPr>
        <p:spPr>
          <a:xfrm>
            <a:off x="7477577" y="10210800"/>
            <a:ext cx="273051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122"/>
          <p:cNvSpPr/>
          <p:nvPr/>
        </p:nvSpPr>
        <p:spPr>
          <a:xfrm>
            <a:off x="14608627" y="10199006"/>
            <a:ext cx="273051" cy="273051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122"/>
          <p:cNvSpPr/>
          <p:nvPr/>
        </p:nvSpPr>
        <p:spPr>
          <a:xfrm>
            <a:off x="7893050" y="9448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122"/>
          <p:cNvSpPr txBox="1"/>
          <p:nvPr/>
        </p:nvSpPr>
        <p:spPr>
          <a:xfrm>
            <a:off x="11430000" y="96012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01" name="Google Shape;2801;p122"/>
          <p:cNvSpPr txBox="1"/>
          <p:nvPr/>
        </p:nvSpPr>
        <p:spPr>
          <a:xfrm>
            <a:off x="4419600" y="5334000"/>
            <a:ext cx="15544800" cy="8895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pixel lands “between” two pixels?</a:t>
            </a:r>
            <a:endParaRPr/>
          </a:p>
        </p:txBody>
      </p:sp>
      <p:sp>
        <p:nvSpPr>
          <p:cNvPr id="2802" name="Google Shape;2802;p122"/>
          <p:cNvSpPr txBox="1"/>
          <p:nvPr/>
        </p:nvSpPr>
        <p:spPr>
          <a:xfrm>
            <a:off x="4419600" y="6248400"/>
            <a:ext cx="15544800" cy="27874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Answer: add “contribution” to several pixels, normalize later (</a:t>
            </a:r>
            <a:r>
              <a:rPr b="0" i="1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splatting</a:t>
            </a: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still result in holes</a:t>
            </a:r>
            <a:endParaRPr/>
          </a:p>
        </p:txBody>
      </p:sp>
      <p:grpSp>
        <p:nvGrpSpPr>
          <p:cNvPr id="2803" name="Google Shape;2803;p122"/>
          <p:cNvGrpSpPr/>
          <p:nvPr/>
        </p:nvGrpSpPr>
        <p:grpSpPr>
          <a:xfrm>
            <a:off x="7010400" y="9753600"/>
            <a:ext cx="1219200" cy="1219200"/>
            <a:chOff x="0" y="0"/>
            <a:chExt cx="1219200" cy="1219200"/>
          </a:xfrm>
        </p:grpSpPr>
        <p:cxnSp>
          <p:nvCxnSpPr>
            <p:cNvPr id="2804" name="Google Shape;2804;p122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5" name="Google Shape;2805;p122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6" name="Google Shape;2806;p122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7" name="Google Shape;2807;p122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08" name="Google Shape;2808;p122"/>
          <p:cNvGrpSpPr/>
          <p:nvPr/>
        </p:nvGrpSpPr>
        <p:grpSpPr>
          <a:xfrm>
            <a:off x="14020800" y="9601200"/>
            <a:ext cx="1219200" cy="1219200"/>
            <a:chOff x="0" y="0"/>
            <a:chExt cx="1219200" cy="1219200"/>
          </a:xfrm>
        </p:grpSpPr>
        <p:cxnSp>
          <p:nvCxnSpPr>
            <p:cNvPr id="2809" name="Google Shape;2809;p122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0" name="Google Shape;2810;p122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1" name="Google Shape;2811;p122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2" name="Google Shape;2812;p122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13" name="Google Shape;2813;p122"/>
          <p:cNvSpPr txBox="1"/>
          <p:nvPr/>
        </p:nvSpPr>
        <p:spPr>
          <a:xfrm>
            <a:off x="5834743" y="9862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814" name="Google Shape;2814;p122"/>
          <p:cNvSpPr txBox="1"/>
          <p:nvPr/>
        </p:nvSpPr>
        <p:spPr>
          <a:xfrm>
            <a:off x="12866917" y="9840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123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Inverse warping</a:t>
            </a:r>
            <a:endParaRPr/>
          </a:p>
        </p:txBody>
      </p:sp>
      <p:sp>
        <p:nvSpPr>
          <p:cNvPr id="2820" name="Google Shape;2820;p123"/>
          <p:cNvSpPr txBox="1"/>
          <p:nvPr>
            <p:ph idx="1" type="body"/>
          </p:nvPr>
        </p:nvSpPr>
        <p:spPr>
          <a:xfrm>
            <a:off x="4038600" y="3249070"/>
            <a:ext cx="19536194" cy="90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Get each pixel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x’,y’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from its corresponding location 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T</a:t>
            </a:r>
            <a:r>
              <a:rPr baseline="30000" lang="en-US"/>
              <a:t>-1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x,y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pic>
        <p:nvPicPr>
          <p:cNvPr descr="HHHIMG_1166" id="2821" name="Google Shape;282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7772400"/>
            <a:ext cx="4387850" cy="3286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tated" id="2822" name="Google Shape;2822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5850" y="7467600"/>
            <a:ext cx="526415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3" name="Google Shape;2823;p123"/>
          <p:cNvSpPr txBox="1"/>
          <p:nvPr/>
        </p:nvSpPr>
        <p:spPr>
          <a:xfrm>
            <a:off x="8229600" y="114300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24" name="Google Shape;2824;p123"/>
          <p:cNvSpPr txBox="1"/>
          <p:nvPr/>
        </p:nvSpPr>
        <p:spPr>
          <a:xfrm>
            <a:off x="15240000" y="11430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825" name="Google Shape;2825;p123"/>
          <p:cNvGrpSpPr/>
          <p:nvPr/>
        </p:nvGrpSpPr>
        <p:grpSpPr>
          <a:xfrm>
            <a:off x="6553199" y="10515600"/>
            <a:ext cx="762001" cy="764542"/>
            <a:chOff x="-1" y="0"/>
            <a:chExt cx="762001" cy="764541"/>
          </a:xfrm>
        </p:grpSpPr>
        <p:cxnSp>
          <p:nvCxnSpPr>
            <p:cNvPr id="2826" name="Google Shape;2826;p123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27" name="Google Shape;2827;p123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828" name="Google Shape;2828;p123"/>
          <p:cNvGrpSpPr/>
          <p:nvPr/>
        </p:nvGrpSpPr>
        <p:grpSpPr>
          <a:xfrm>
            <a:off x="13563599" y="10515600"/>
            <a:ext cx="762001" cy="764542"/>
            <a:chOff x="-1" y="0"/>
            <a:chExt cx="762001" cy="764541"/>
          </a:xfrm>
        </p:grpSpPr>
        <p:cxnSp>
          <p:nvCxnSpPr>
            <p:cNvPr id="2829" name="Google Shape;2829;p123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30" name="Google Shape;2830;p123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831" name="Google Shape;2831;p123"/>
          <p:cNvSpPr txBox="1"/>
          <p:nvPr/>
        </p:nvSpPr>
        <p:spPr>
          <a:xfrm>
            <a:off x="65532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832" name="Google Shape;2832;p123"/>
          <p:cNvSpPr txBox="1"/>
          <p:nvPr/>
        </p:nvSpPr>
        <p:spPr>
          <a:xfrm>
            <a:off x="135636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833" name="Google Shape;2833;p123"/>
          <p:cNvSpPr/>
          <p:nvPr/>
        </p:nvSpPr>
        <p:spPr>
          <a:xfrm>
            <a:off x="7499350" y="10210800"/>
            <a:ext cx="273050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0" rotWithShape="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23"/>
          <p:cNvSpPr/>
          <p:nvPr/>
        </p:nvSpPr>
        <p:spPr>
          <a:xfrm>
            <a:off x="14630400" y="10242550"/>
            <a:ext cx="273050" cy="27305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0" rotWithShape="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23"/>
          <p:cNvSpPr/>
          <p:nvPr/>
        </p:nvSpPr>
        <p:spPr>
          <a:xfrm>
            <a:off x="7893050" y="9448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23"/>
          <p:cNvSpPr txBox="1"/>
          <p:nvPr/>
        </p:nvSpPr>
        <p:spPr>
          <a:xfrm>
            <a:off x="11430000" y="96012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3000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37" name="Google Shape;2837;p123"/>
          <p:cNvSpPr txBox="1"/>
          <p:nvPr/>
        </p:nvSpPr>
        <p:spPr>
          <a:xfrm>
            <a:off x="4419600" y="5334000"/>
            <a:ext cx="16002000" cy="19238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taking the inverse of the transform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pixel comes from “between” two pixels?</a:t>
            </a:r>
            <a:endParaRPr/>
          </a:p>
        </p:txBody>
      </p:sp>
      <p:sp>
        <p:nvSpPr>
          <p:cNvPr id="2838" name="Google Shape;2838;p123"/>
          <p:cNvSpPr txBox="1"/>
          <p:nvPr/>
        </p:nvSpPr>
        <p:spPr>
          <a:xfrm>
            <a:off x="5834743" y="9862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839" name="Google Shape;2839;p123"/>
          <p:cNvSpPr txBox="1"/>
          <p:nvPr/>
        </p:nvSpPr>
        <p:spPr>
          <a:xfrm>
            <a:off x="12866917" y="9840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  <p:sp>
        <p:nvSpPr>
          <p:cNvPr id="2840" name="Google Shape;2840;p123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124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Inverse warping</a:t>
            </a:r>
            <a:endParaRPr/>
          </a:p>
        </p:txBody>
      </p:sp>
      <p:sp>
        <p:nvSpPr>
          <p:cNvPr id="2846" name="Google Shape;2846;p124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Get each pixel </a:t>
            </a:r>
            <a:r>
              <a:rPr b="1" i="1" lang="en-US"/>
              <a:t>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x’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from its corresponding location </a:t>
            </a:r>
            <a:r>
              <a:rPr b="1" i="1" lang="en-US"/>
              <a:t>x’</a:t>
            </a:r>
            <a:r>
              <a:rPr b="1" lang="en-US"/>
              <a:t>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lang="en-US"/>
              <a:t> </a:t>
            </a:r>
            <a:r>
              <a:rPr b="1" i="1" lang="en-US"/>
              <a:t>h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1" i="1" lang="en-US"/>
              <a:t>f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/>
              <a:t>x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2847" name="Google Shape;2847;p124"/>
          <p:cNvSpPr txBox="1"/>
          <p:nvPr/>
        </p:nvSpPr>
        <p:spPr>
          <a:xfrm>
            <a:off x="4419600" y="5334000"/>
            <a:ext cx="17662507" cy="10138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pixel comes from “between” two pixels?</a:t>
            </a:r>
            <a:endParaRPr/>
          </a:p>
        </p:txBody>
      </p:sp>
      <p:sp>
        <p:nvSpPr>
          <p:cNvPr id="2848" name="Google Shape;2848;p124"/>
          <p:cNvSpPr txBox="1"/>
          <p:nvPr/>
        </p:nvSpPr>
        <p:spPr>
          <a:xfrm>
            <a:off x="4419600" y="6248400"/>
            <a:ext cx="15544800" cy="18901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Char char="•"/>
            </a:pP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Answer: </a:t>
            </a:r>
            <a:r>
              <a:rPr b="0" i="1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resample</a:t>
            </a: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color value from </a:t>
            </a:r>
            <a:r>
              <a:rPr b="0" i="1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interpolated</a:t>
            </a:r>
            <a:r>
              <a:rPr b="0" i="0" lang="en-US" sz="5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source image</a:t>
            </a:r>
            <a:endParaRPr/>
          </a:p>
        </p:txBody>
      </p:sp>
      <p:sp>
        <p:nvSpPr>
          <p:cNvPr id="2849" name="Google Shape;2849;p124"/>
          <p:cNvSpPr txBox="1"/>
          <p:nvPr/>
        </p:nvSpPr>
        <p:spPr>
          <a:xfrm>
            <a:off x="8142512" y="11430000"/>
            <a:ext cx="1371601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50" name="Google Shape;2850;p124"/>
          <p:cNvSpPr txBox="1"/>
          <p:nvPr/>
        </p:nvSpPr>
        <p:spPr>
          <a:xfrm>
            <a:off x="15240000" y="11430000"/>
            <a:ext cx="16764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x’,y’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851" name="Google Shape;2851;p124"/>
          <p:cNvGrpSpPr/>
          <p:nvPr/>
        </p:nvGrpSpPr>
        <p:grpSpPr>
          <a:xfrm>
            <a:off x="6553199" y="10515600"/>
            <a:ext cx="762001" cy="764542"/>
            <a:chOff x="-1" y="0"/>
            <a:chExt cx="762001" cy="764541"/>
          </a:xfrm>
        </p:grpSpPr>
        <p:cxnSp>
          <p:nvCxnSpPr>
            <p:cNvPr id="2852" name="Google Shape;2852;p124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53" name="Google Shape;2853;p124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854" name="Google Shape;2854;p124"/>
          <p:cNvGrpSpPr/>
          <p:nvPr/>
        </p:nvGrpSpPr>
        <p:grpSpPr>
          <a:xfrm>
            <a:off x="13563599" y="10515600"/>
            <a:ext cx="762001" cy="764542"/>
            <a:chOff x="-1" y="0"/>
            <a:chExt cx="762001" cy="764541"/>
          </a:xfrm>
        </p:grpSpPr>
        <p:cxnSp>
          <p:nvCxnSpPr>
            <p:cNvPr id="2855" name="Google Shape;2855;p124"/>
            <p:cNvCxnSpPr/>
            <p:nvPr/>
          </p:nvCxnSpPr>
          <p:spPr>
            <a:xfrm flipH="1" rot="10800000">
              <a:off x="-1" y="0"/>
              <a:ext cx="2" cy="762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56" name="Google Shape;2856;p124"/>
            <p:cNvCxnSpPr/>
            <p:nvPr/>
          </p:nvCxnSpPr>
          <p:spPr>
            <a:xfrm>
              <a:off x="0" y="764540"/>
              <a:ext cx="762000" cy="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857" name="Google Shape;2857;p124"/>
          <p:cNvSpPr txBox="1"/>
          <p:nvPr/>
        </p:nvSpPr>
        <p:spPr>
          <a:xfrm>
            <a:off x="65532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858" name="Google Shape;2858;p124"/>
          <p:cNvSpPr txBox="1"/>
          <p:nvPr/>
        </p:nvSpPr>
        <p:spPr>
          <a:xfrm>
            <a:off x="13563600" y="11125200"/>
            <a:ext cx="1371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/>
          </a:p>
        </p:txBody>
      </p:sp>
      <p:sp>
        <p:nvSpPr>
          <p:cNvPr id="2859" name="Google Shape;2859;p124"/>
          <p:cNvSpPr/>
          <p:nvPr/>
        </p:nvSpPr>
        <p:spPr>
          <a:xfrm>
            <a:off x="7455806" y="10145483"/>
            <a:ext cx="184151" cy="184151"/>
          </a:xfrm>
          <a:prstGeom prst="rect">
            <a:avLst/>
          </a:prstGeom>
          <a:solidFill>
            <a:srgbClr val="FF0000"/>
          </a:solidFill>
          <a:ln cap="flat" cmpd="sng" w="508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24"/>
          <p:cNvSpPr/>
          <p:nvPr/>
        </p:nvSpPr>
        <p:spPr>
          <a:xfrm>
            <a:off x="14538321" y="10121896"/>
            <a:ext cx="184151" cy="184151"/>
          </a:xfrm>
          <a:prstGeom prst="rect">
            <a:avLst/>
          </a:prstGeom>
          <a:solidFill>
            <a:srgbClr val="FF0000"/>
          </a:solidFill>
          <a:ln cap="flat" cmpd="sng" w="508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24"/>
          <p:cNvSpPr/>
          <p:nvPr/>
        </p:nvSpPr>
        <p:spPr>
          <a:xfrm>
            <a:off x="7893050" y="9448800"/>
            <a:ext cx="6705600" cy="7620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3960" y="10800"/>
                  <a:pt x="7920" y="0"/>
                  <a:pt x="11520" y="0"/>
                </a:cubicBezTo>
                <a:cubicBezTo>
                  <a:pt x="15120" y="0"/>
                  <a:pt x="18360" y="10800"/>
                  <a:pt x="21600" y="21600"/>
                </a:cubicBezTo>
              </a:path>
            </a:pathLst>
          </a:custGeom>
          <a:noFill/>
          <a:ln cap="flat" cmpd="sng" w="508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62" name="Google Shape;2862;p124"/>
          <p:cNvGrpSpPr/>
          <p:nvPr/>
        </p:nvGrpSpPr>
        <p:grpSpPr>
          <a:xfrm>
            <a:off x="7010400" y="9753600"/>
            <a:ext cx="1219200" cy="1219200"/>
            <a:chOff x="0" y="0"/>
            <a:chExt cx="1219200" cy="1219200"/>
          </a:xfrm>
        </p:grpSpPr>
        <p:cxnSp>
          <p:nvCxnSpPr>
            <p:cNvPr id="2863" name="Google Shape;2863;p124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4" name="Google Shape;2864;p124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5" name="Google Shape;2865;p124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6" name="Google Shape;2866;p124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67" name="Google Shape;2867;p124"/>
          <p:cNvGrpSpPr/>
          <p:nvPr/>
        </p:nvGrpSpPr>
        <p:grpSpPr>
          <a:xfrm>
            <a:off x="14020800" y="9601200"/>
            <a:ext cx="1219200" cy="1219200"/>
            <a:chOff x="0" y="0"/>
            <a:chExt cx="1219200" cy="1219200"/>
          </a:xfrm>
        </p:grpSpPr>
        <p:cxnSp>
          <p:nvCxnSpPr>
            <p:cNvPr id="2868" name="Google Shape;2868;p124"/>
            <p:cNvCxnSpPr/>
            <p:nvPr/>
          </p:nvCxnSpPr>
          <p:spPr>
            <a:xfrm flipH="1">
              <a:off x="4571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9" name="Google Shape;2869;p124"/>
            <p:cNvCxnSpPr/>
            <p:nvPr/>
          </p:nvCxnSpPr>
          <p:spPr>
            <a:xfrm flipH="1">
              <a:off x="761999" y="0"/>
              <a:ext cx="1" cy="121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0" name="Google Shape;2870;p124"/>
            <p:cNvCxnSpPr/>
            <p:nvPr/>
          </p:nvCxnSpPr>
          <p:spPr>
            <a:xfrm>
              <a:off x="0" y="4597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71" name="Google Shape;2871;p124"/>
            <p:cNvCxnSpPr/>
            <p:nvPr/>
          </p:nvCxnSpPr>
          <p:spPr>
            <a:xfrm>
              <a:off x="0" y="764540"/>
              <a:ext cx="1219200" cy="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72" name="Google Shape;2872;p124"/>
          <p:cNvSpPr txBox="1"/>
          <p:nvPr/>
        </p:nvSpPr>
        <p:spPr>
          <a:xfrm>
            <a:off x="5834743" y="9862457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873" name="Google Shape;2873;p124"/>
          <p:cNvSpPr txBox="1"/>
          <p:nvPr/>
        </p:nvSpPr>
        <p:spPr>
          <a:xfrm>
            <a:off x="12866917" y="9840683"/>
            <a:ext cx="1371601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endParaRPr/>
          </a:p>
        </p:txBody>
      </p:sp>
      <p:sp>
        <p:nvSpPr>
          <p:cNvPr id="2874" name="Google Shape;2874;p124"/>
          <p:cNvSpPr txBox="1"/>
          <p:nvPr/>
        </p:nvSpPr>
        <p:spPr>
          <a:xfrm>
            <a:off x="10842156" y="9514112"/>
            <a:ext cx="1676401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3000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75" name="Google Shape;2875;p124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125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Interpolation</a:t>
            </a:r>
            <a:endParaRPr/>
          </a:p>
        </p:txBody>
      </p:sp>
      <p:sp>
        <p:nvSpPr>
          <p:cNvPr id="2881" name="Google Shape;2881;p125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Possible interpolation filters: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>
                <a:latin typeface="Helvetica Neue Light"/>
                <a:ea typeface="Helvetica Neue Light"/>
                <a:cs typeface="Helvetica Neue Light"/>
                <a:sym typeface="Helvetica Neue Light"/>
              </a:rPr>
              <a:t>nearest neighbor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>
                <a:latin typeface="Helvetica Neue Light"/>
                <a:ea typeface="Helvetica Neue Light"/>
                <a:cs typeface="Helvetica Neue Light"/>
                <a:sym typeface="Helvetica Neue Light"/>
              </a:rPr>
              <a:t>bilinear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>
                <a:latin typeface="Helvetica Neue Light"/>
                <a:ea typeface="Helvetica Neue Light"/>
                <a:cs typeface="Helvetica Neue Light"/>
                <a:sym typeface="Helvetica Neue Light"/>
              </a:rPr>
              <a:t>bicubic (interpolating)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5600"/>
              <a:buChar char="–"/>
            </a:pPr>
            <a:r>
              <a:rPr lang="en-US" sz="5600">
                <a:latin typeface="Helvetica Neue Light"/>
                <a:ea typeface="Helvetica Neue Light"/>
                <a:cs typeface="Helvetica Neue Light"/>
                <a:sym typeface="Helvetica Neue Light"/>
              </a:rPr>
              <a:t>sinc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Needed to prevent “jaggies”</a:t>
            </a:r>
            <a:b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 and aliasing artifacts</a:t>
            </a:r>
            <a:endParaRPr/>
          </a:p>
          <a:p>
            <a:pPr indent="-685800" lvl="0" marL="6858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       </a:t>
            </a:r>
            <a:r>
              <a:rPr lang="en-US" sz="4800"/>
              <a:t>(with prefiltering)</a:t>
            </a:r>
            <a:endParaRPr/>
          </a:p>
        </p:txBody>
      </p:sp>
      <p:pic>
        <p:nvPicPr>
          <p:cNvPr descr="rotatedNN" id="2882" name="Google Shape;2882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33800" y="3614058"/>
            <a:ext cx="6899276" cy="568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3" name="Google Shape;2883;p125"/>
          <p:cNvSpPr txBox="1"/>
          <p:nvPr/>
        </p:nvSpPr>
        <p:spPr>
          <a:xfrm>
            <a:off x="21303016" y="13123192"/>
            <a:ext cx="3026665" cy="5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Source: N. Snavely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126"/>
          <p:cNvSpPr txBox="1"/>
          <p:nvPr>
            <p:ph type="title"/>
          </p:nvPr>
        </p:nvSpPr>
        <p:spPr>
          <a:xfrm>
            <a:off x="224881" y="5486400"/>
            <a:ext cx="23934239" cy="3344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500">
                <a:latin typeface="Helvetica Neue"/>
                <a:ea typeface="Helvetica Neue"/>
                <a:cs typeface="Helvetica Neue"/>
                <a:sym typeface="Helvetica Neue"/>
              </a:rPr>
              <a:t>Next lecture: </a:t>
            </a: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estimating geometry from images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2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p127"/>
          <p:cNvSpPr txBox="1"/>
          <p:nvPr>
            <p:ph idx="12" type="sldNum"/>
          </p:nvPr>
        </p:nvSpPr>
        <p:spPr>
          <a:xfrm>
            <a:off x="22765920" y="12802238"/>
            <a:ext cx="398880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Open Sans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894" name="Google Shape;2894;p127"/>
          <p:cNvSpPr txBox="1"/>
          <p:nvPr/>
        </p:nvSpPr>
        <p:spPr>
          <a:xfrm>
            <a:off x="8944381" y="6249212"/>
            <a:ext cx="6495238" cy="1217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Helvetica Neue"/>
              <a:buNone/>
            </a:pPr>
            <a:r>
              <a:rPr b="0" i="0" lang="en-US" sz="7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warping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128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Image alignment</a:t>
            </a:r>
            <a:endParaRPr/>
          </a:p>
        </p:txBody>
      </p:sp>
      <p:pic>
        <p:nvPicPr>
          <p:cNvPr descr="image2.png" id="2900" name="Google Shape;2900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3200400"/>
            <a:ext cx="17429653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1" name="Google Shape;2901;p128"/>
          <p:cNvSpPr txBox="1"/>
          <p:nvPr/>
        </p:nvSpPr>
        <p:spPr>
          <a:xfrm>
            <a:off x="8077200" y="10934579"/>
            <a:ext cx="8270002" cy="693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don’t these image line up exactly?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129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0"/>
              <a:buFont typeface="Calibri"/>
              <a:buNone/>
            </a:pPr>
            <a:r>
              <a:rPr lang="en-US" sz="7410"/>
              <a:t>What is the geometric relationship between these two images?</a:t>
            </a:r>
            <a:endParaRPr/>
          </a:p>
        </p:txBody>
      </p:sp>
      <p:pic>
        <p:nvPicPr>
          <p:cNvPr descr="C:\snavely\matlab\A2P3\search.png" id="2907" name="Google Shape;2907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0" y="4724400"/>
            <a:ext cx="8534400" cy="7415984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pic>
        <p:nvPicPr>
          <p:cNvPr descr="image4.png" id="2908" name="Google Shape;2908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7568" y="5077967"/>
            <a:ext cx="4279232" cy="6504433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grpSp>
        <p:nvGrpSpPr>
          <p:cNvPr id="2909" name="Google Shape;2909;p129"/>
          <p:cNvGrpSpPr/>
          <p:nvPr/>
        </p:nvGrpSpPr>
        <p:grpSpPr>
          <a:xfrm>
            <a:off x="9601200" y="6755249"/>
            <a:ext cx="1371600" cy="2083952"/>
            <a:chOff x="0" y="0"/>
            <a:chExt cx="1371600" cy="2083950"/>
          </a:xfrm>
        </p:grpSpPr>
        <p:sp>
          <p:nvSpPr>
            <p:cNvPr id="2910" name="Google Shape;2910;p129"/>
            <p:cNvSpPr/>
            <p:nvPr/>
          </p:nvSpPr>
          <p:spPr>
            <a:xfrm>
              <a:off x="0" y="864750"/>
              <a:ext cx="1371600" cy="1219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F81BD"/>
            </a:solidFill>
            <a:ln>
              <a:noFill/>
            </a:ln>
            <a:effectLst>
              <a:outerShdw blurRad="101600" rotWithShape="0" dir="2700000" dist="762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129"/>
            <p:cNvSpPr txBox="1"/>
            <p:nvPr/>
          </p:nvSpPr>
          <p:spPr>
            <a:xfrm>
              <a:off x="152399" y="0"/>
              <a:ext cx="572216" cy="994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Calibri"/>
                <a:buNone/>
              </a:pPr>
              <a:r>
                <a:rPr b="0" i="0" lang="en-US" sz="6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  <p:sp>
        <p:nvSpPr>
          <p:cNvPr id="2912" name="Google Shape;2912;p129"/>
          <p:cNvSpPr txBox="1"/>
          <p:nvPr/>
        </p:nvSpPr>
        <p:spPr>
          <a:xfrm>
            <a:off x="4698989" y="12306179"/>
            <a:ext cx="14909226" cy="693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Answer: Similarity transformation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(translation, rotation, uniform scale)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2917" name="Google Shape;2917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2124" y="5181600"/>
            <a:ext cx="7696676" cy="5778500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pic>
        <p:nvPicPr>
          <p:cNvPr descr="IMG_0102" id="2918" name="Google Shape;2918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5181600"/>
            <a:ext cx="7696676" cy="5778500"/>
          </a:xfrm>
          <a:prstGeom prst="rect">
            <a:avLst/>
          </a:prstGeom>
          <a:noFill/>
          <a:ln>
            <a:noFill/>
          </a:ln>
          <a:effectLst>
            <a:outerShdw blurRad="101600" rotWithShape="0" dir="2700000" dist="76200">
              <a:srgbClr val="000000">
                <a:alpha val="40000"/>
              </a:srgbClr>
            </a:outerShdw>
          </a:effectLst>
        </p:spPr>
      </p:pic>
      <p:sp>
        <p:nvSpPr>
          <p:cNvPr id="2919" name="Google Shape;2919;p130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0"/>
              <a:buFont typeface="Calibri"/>
              <a:buNone/>
            </a:pPr>
            <a:r>
              <a:rPr lang="en-US" sz="7410"/>
              <a:t>What is the geometric relationship between these two images?</a:t>
            </a:r>
            <a:endParaRPr/>
          </a:p>
        </p:txBody>
      </p:sp>
      <p:grpSp>
        <p:nvGrpSpPr>
          <p:cNvPr id="2920" name="Google Shape;2920;p130"/>
          <p:cNvGrpSpPr/>
          <p:nvPr/>
        </p:nvGrpSpPr>
        <p:grpSpPr>
          <a:xfrm>
            <a:off x="11430000" y="6705600"/>
            <a:ext cx="1371600" cy="2083951"/>
            <a:chOff x="0" y="0"/>
            <a:chExt cx="1371600" cy="2083950"/>
          </a:xfrm>
        </p:grpSpPr>
        <p:sp>
          <p:nvSpPr>
            <p:cNvPr id="2921" name="Google Shape;2921;p130"/>
            <p:cNvSpPr/>
            <p:nvPr/>
          </p:nvSpPr>
          <p:spPr>
            <a:xfrm>
              <a:off x="0" y="864750"/>
              <a:ext cx="1371600" cy="1219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4F81BD"/>
            </a:solidFill>
            <a:ln>
              <a:noFill/>
            </a:ln>
            <a:effectLst>
              <a:outerShdw blurRad="101600" rotWithShape="0" dir="2700000" dist="76200">
                <a:srgbClr val="000000">
                  <a:alpha val="4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130"/>
            <p:cNvSpPr txBox="1"/>
            <p:nvPr/>
          </p:nvSpPr>
          <p:spPr>
            <a:xfrm>
              <a:off x="152399" y="0"/>
              <a:ext cx="572216" cy="994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Calibri"/>
                <a:buNone/>
              </a:pPr>
              <a:r>
                <a:rPr b="0" i="0" lang="en-US" sz="6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0105" id="2927" name="Google Shape;2927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667" y="7411360"/>
            <a:ext cx="4076701" cy="3060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0102" id="2928" name="Google Shape;2928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3667" y="3962400"/>
            <a:ext cx="4076701" cy="30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3" id="2929" name="Google Shape;2929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6" y="5104038"/>
            <a:ext cx="8685367" cy="40399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0" name="Google Shape;2930;p131"/>
          <p:cNvSpPr/>
          <p:nvPr/>
        </p:nvSpPr>
        <p:spPr>
          <a:xfrm>
            <a:off x="9231095" y="6553202"/>
            <a:ext cx="1284517" cy="128451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50800">
            <a:solidFill>
              <a:srgbClr val="3A5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131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0"/>
              <a:buFont typeface="Calibri"/>
              <a:buNone/>
            </a:pPr>
            <a:r>
              <a:rPr lang="en-US" sz="7410"/>
              <a:t>What is the geometric relationship between these two images?</a:t>
            </a:r>
            <a:endParaRPr/>
          </a:p>
        </p:txBody>
      </p:sp>
      <p:sp>
        <p:nvSpPr>
          <p:cNvPr id="2932" name="Google Shape;2932;p131"/>
          <p:cNvSpPr txBox="1"/>
          <p:nvPr/>
        </p:nvSpPr>
        <p:spPr>
          <a:xfrm>
            <a:off x="10668000" y="11125200"/>
            <a:ext cx="9433938" cy="79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Very important for creating mosaics!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132"/>
          <p:cNvSpPr txBox="1"/>
          <p:nvPr/>
        </p:nvSpPr>
        <p:spPr>
          <a:xfrm>
            <a:off x="9296400" y="12835870"/>
            <a:ext cx="5791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Image Stitching</a:t>
            </a:r>
            <a:endParaRPr/>
          </a:p>
        </p:txBody>
      </p:sp>
      <p:sp>
        <p:nvSpPr>
          <p:cNvPr id="2938" name="Google Shape;2938;p132"/>
          <p:cNvSpPr txBox="1"/>
          <p:nvPr/>
        </p:nvSpPr>
        <p:spPr>
          <a:xfrm>
            <a:off x="3962400" y="12835870"/>
            <a:ext cx="4267200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Richard Szeliski</a:t>
            </a:r>
            <a:endParaRPr/>
          </a:p>
        </p:txBody>
      </p:sp>
      <p:sp>
        <p:nvSpPr>
          <p:cNvPr id="2939" name="Google Shape;2939;p132"/>
          <p:cNvSpPr txBox="1"/>
          <p:nvPr>
            <p:ph idx="4294967295" type="sldNum"/>
          </p:nvPr>
        </p:nvSpPr>
        <p:spPr>
          <a:xfrm>
            <a:off x="20067815" y="12835870"/>
            <a:ext cx="353785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940" name="Google Shape;2940;p132"/>
          <p:cNvSpPr txBox="1"/>
          <p:nvPr>
            <p:ph type="title"/>
          </p:nvPr>
        </p:nvSpPr>
        <p:spPr>
          <a:xfrm>
            <a:off x="3962400" y="549276"/>
            <a:ext cx="16459200" cy="2286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 sz="8800">
                <a:latin typeface="Calibri"/>
                <a:ea typeface="Calibri"/>
                <a:cs typeface="Calibri"/>
                <a:sym typeface="Calibri"/>
              </a:rPr>
              <a:t>Image Warping</a:t>
            </a:r>
            <a:endParaRPr/>
          </a:p>
        </p:txBody>
      </p:sp>
      <p:sp>
        <p:nvSpPr>
          <p:cNvPr id="2941" name="Google Shape;2941;p132"/>
          <p:cNvSpPr txBox="1"/>
          <p:nvPr>
            <p:ph idx="1" type="body"/>
          </p:nvPr>
        </p:nvSpPr>
        <p:spPr>
          <a:xfrm>
            <a:off x="3962400" y="3200400"/>
            <a:ext cx="16459200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filtering: change </a:t>
            </a:r>
            <a:r>
              <a:rPr i="1" lang="en-US"/>
              <a:t>range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h(f(x))</a:t>
            </a:r>
            <a:endParaRPr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2794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t/>
            </a:r>
            <a:endParaRPr i="1"/>
          </a:p>
          <a:p>
            <a:pPr indent="-685800" lvl="0" marL="685800" rtl="0" algn="l">
              <a:lnSpc>
                <a:spcPct val="17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image warping: change </a:t>
            </a:r>
            <a:r>
              <a:rPr i="1" lang="en-US"/>
              <a:t>domain</a:t>
            </a:r>
            <a:r>
              <a:rPr lang="en-US" sz="6400">
                <a:latin typeface="Calibri"/>
                <a:ea typeface="Calibri"/>
                <a:cs typeface="Calibri"/>
                <a:sym typeface="Calibri"/>
              </a:rPr>
              <a:t> of image</a:t>
            </a:r>
            <a:endParaRPr/>
          </a:p>
          <a:p>
            <a:pPr indent="-685800" lvl="0" marL="6858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6400"/>
              <a:buChar char="•"/>
            </a:pPr>
            <a:r>
              <a:rPr i="1" lang="en-US"/>
              <a:t>g(x) = f(h(x))</a:t>
            </a:r>
            <a:endParaRPr/>
          </a:p>
        </p:txBody>
      </p:sp>
      <p:grpSp>
        <p:nvGrpSpPr>
          <p:cNvPr id="2942" name="Google Shape;2942;p132"/>
          <p:cNvGrpSpPr/>
          <p:nvPr/>
        </p:nvGrpSpPr>
        <p:grpSpPr>
          <a:xfrm>
            <a:off x="10210800" y="5848350"/>
            <a:ext cx="3200400" cy="457200"/>
            <a:chOff x="0" y="0"/>
            <a:chExt cx="3200400" cy="457200"/>
          </a:xfrm>
        </p:grpSpPr>
        <p:sp>
          <p:nvSpPr>
            <p:cNvPr id="2943" name="Google Shape;2943;p132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944" name="Google Shape;2944;p132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45" name="Google Shape;2945;p132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946" name="Google Shape;2946;p132"/>
          <p:cNvGrpSpPr/>
          <p:nvPr/>
        </p:nvGrpSpPr>
        <p:grpSpPr>
          <a:xfrm>
            <a:off x="10210800" y="10629900"/>
            <a:ext cx="3200400" cy="457200"/>
            <a:chOff x="0" y="0"/>
            <a:chExt cx="3200400" cy="457200"/>
          </a:xfrm>
        </p:grpSpPr>
        <p:sp>
          <p:nvSpPr>
            <p:cNvPr id="2947" name="Google Shape;2947;p132"/>
            <p:cNvSpPr/>
            <p:nvPr/>
          </p:nvSpPr>
          <p:spPr>
            <a:xfrm>
              <a:off x="1066800" y="0"/>
              <a:ext cx="1066800" cy="0"/>
            </a:xfrm>
            <a:custGeom>
              <a:rect b="b" l="l" r="r" t="t"/>
              <a:pathLst>
                <a:path extrusionOk="0" h="120000" w="2160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/>
            </a:p>
          </p:txBody>
        </p:sp>
        <p:cxnSp>
          <p:nvCxnSpPr>
            <p:cNvPr id="2948" name="Google Shape;2948;p132"/>
            <p:cNvCxnSpPr/>
            <p:nvPr/>
          </p:nvCxnSpPr>
          <p:spPr>
            <a:xfrm>
              <a:off x="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49" name="Google Shape;2949;p132"/>
            <p:cNvCxnSpPr/>
            <p:nvPr/>
          </p:nvCxnSpPr>
          <p:spPr>
            <a:xfrm>
              <a:off x="2133600" y="457200"/>
              <a:ext cx="1066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HHHIMG_1166" id="2950" name="Google Shape;2950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518160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951" name="Google Shape;2951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5200" y="518160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952" name="Google Shape;2952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10001250"/>
            <a:ext cx="2924176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HHIMG_1166" id="2953" name="Google Shape;2953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6625" y="10210800"/>
            <a:ext cx="3686174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4" name="Google Shape;2954;p132"/>
          <p:cNvSpPr txBox="1"/>
          <p:nvPr/>
        </p:nvSpPr>
        <p:spPr>
          <a:xfrm>
            <a:off x="5943600" y="5238750"/>
            <a:ext cx="609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955" name="Google Shape;2955;p132"/>
          <p:cNvSpPr txBox="1"/>
          <p:nvPr/>
        </p:nvSpPr>
        <p:spPr>
          <a:xfrm>
            <a:off x="5943600" y="10086975"/>
            <a:ext cx="609600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/>
          </a:p>
        </p:txBody>
      </p:sp>
      <p:sp>
        <p:nvSpPr>
          <p:cNvPr id="2956" name="Google Shape;2956;p132"/>
          <p:cNvSpPr txBox="1"/>
          <p:nvPr/>
        </p:nvSpPr>
        <p:spPr>
          <a:xfrm>
            <a:off x="14325600" y="10239375"/>
            <a:ext cx="609600" cy="640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  <p:sp>
        <p:nvSpPr>
          <p:cNvPr id="2957" name="Google Shape;2957;p132"/>
          <p:cNvSpPr txBox="1"/>
          <p:nvPr/>
        </p:nvSpPr>
        <p:spPr>
          <a:xfrm>
            <a:off x="14325600" y="5238750"/>
            <a:ext cx="609600" cy="6407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1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